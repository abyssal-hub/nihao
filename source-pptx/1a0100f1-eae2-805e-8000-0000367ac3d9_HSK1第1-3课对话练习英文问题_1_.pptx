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9" r:id="rId6"/>
  </p:sldMasterIdLst>
  <p:notesMasterIdLst>
    <p:notesMasterId r:id="rId36"/>
  </p:notesMasterIdLst>
  <p:sldIdLst>
    <p:sldId id="382" r:id="rId7"/>
    <p:sldId id="732" r:id="rId8"/>
    <p:sldId id="733" r:id="rId9"/>
    <p:sldId id="759" r:id="rId10"/>
    <p:sldId id="760" r:id="rId11"/>
    <p:sldId id="763" r:id="rId12"/>
    <p:sldId id="761" r:id="rId13"/>
    <p:sldId id="771" r:id="rId14"/>
    <p:sldId id="762" r:id="rId15"/>
    <p:sldId id="764" r:id="rId16"/>
    <p:sldId id="772" r:id="rId17"/>
    <p:sldId id="773" r:id="rId18"/>
    <p:sldId id="765" r:id="rId19"/>
    <p:sldId id="766" r:id="rId20"/>
    <p:sldId id="767" r:id="rId21"/>
    <p:sldId id="768" r:id="rId22"/>
    <p:sldId id="770" r:id="rId23"/>
    <p:sldId id="774" r:id="rId24"/>
    <p:sldId id="775" r:id="rId25"/>
    <p:sldId id="778" r:id="rId26"/>
    <p:sldId id="776" r:id="rId27"/>
    <p:sldId id="777" r:id="rId28"/>
    <p:sldId id="769" r:id="rId29"/>
    <p:sldId id="780" r:id="rId30"/>
    <p:sldId id="781" r:id="rId31"/>
    <p:sldId id="782" r:id="rId32"/>
    <p:sldId id="783" r:id="rId33"/>
    <p:sldId id="784" r:id="rId34"/>
    <p:sldId id="785" r:id="rId35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4" userDrawn="1">
          <p15:clr>
            <a:srgbClr val="A4A3A4"/>
          </p15:clr>
        </p15:guide>
        <p15:guide id="2" pos="3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8149"/>
    <a:srgbClr val="058576"/>
    <a:srgbClr val="68A042"/>
    <a:srgbClr val="669E40"/>
    <a:srgbClr val="6AA343"/>
    <a:srgbClr val="C198E0"/>
    <a:srgbClr val="69D8FF"/>
    <a:srgbClr val="FFE285"/>
    <a:srgbClr val="93939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13" autoAdjust="0"/>
    <p:restoredTop sz="88309" autoAdjust="0"/>
  </p:normalViewPr>
  <p:slideViewPr>
    <p:cSldViewPr snapToGrid="0" snapToObjects="1" showGuides="1">
      <p:cViewPr varScale="1">
        <p:scale>
          <a:sx n="77" d="100"/>
          <a:sy n="77" d="100"/>
        </p:scale>
        <p:origin x="476" y="64"/>
      </p:cViewPr>
      <p:guideLst>
        <p:guide orient="horz" pos="264"/>
        <p:guide pos="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heme" Target="theme/theme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412235B8-8E38-45C9-8FE8-5956D69C72B2}" type="datetimeFigureOut">
              <a:rPr lang="zh-CN" altLang="en-US"/>
              <a:t>2026/6/3</a:t>
            </a:fld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0EA2A06F-BCDA-4CB0-AAD0-A255306DBDC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  <a:t>2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1359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6776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0104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43D0D2-FE93-4EF6-AB0B-125CB036258C}" type="datetime1">
              <a:rPr lang="zh-CN" altLang="en-US"/>
              <a:t>2026/6/3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09D47D-2E66-4BEF-AFCD-4164C0C3999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ABD23E-6279-4020-8615-39625346AC54}" type="datetime1">
              <a:rPr lang="zh-CN" altLang="en-US"/>
              <a:t>2026/6/3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D7500-7138-4A93-AA4B-A2F029F2936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3567C-6462-4A2C-A3C6-526AAB92FB5B}" type="datetime1">
              <a:rPr lang="zh-CN" altLang="en-US"/>
              <a:t>2026/6/3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DA5085-CD4C-47D8-85F4-747B8718982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F64BC-BDA7-40EC-8A47-1308A762D8DB}" type="datetime1">
              <a:rPr lang="zh-CN" altLang="en-US"/>
              <a:t>2026/6/3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0EF05-A89C-4A70-9155-033696F37E3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02A57F-C3F8-48E1-AB11-CE47ED66E6B1}" type="datetime1">
              <a:rPr lang="zh-CN" altLang="en-US"/>
              <a:t>2026/6/3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D139C2-F5F6-435A-B698-0B324F25EF3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593DE-D9CF-4358-9444-2E2201919058}" type="datetime1">
              <a:rPr lang="zh-CN" altLang="en-US"/>
              <a:t>2026/6/3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36094E-09AF-45BE-A49F-4BC2B93D8AF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A90DE-6A1B-4B03-9ACD-2A7106E8383E}" type="datetime1">
              <a:rPr lang="zh-CN" altLang="en-US"/>
              <a:t>2026/6/3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ED563-E8A3-4170-A71D-82A2E31D347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88C02-910C-4CD5-84D5-30C7CAADCFA3}" type="datetime1">
              <a:rPr lang="zh-CN" altLang="en-US"/>
              <a:t>2026/6/3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56C8F0-D90E-4891-B1C0-18ED745AB53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E542EB-2FF0-4205-9689-A41165767E2E}" type="datetime1">
              <a:rPr lang="zh-CN" altLang="en-US"/>
              <a:t>2026/6/3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36F6D-7B69-43E1-BCD2-F998EF80B03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333FD3-39A2-423B-AFD3-E909D50F39AF}" type="datetime1">
              <a:rPr lang="zh-CN" altLang="en-US"/>
              <a:t>2026/6/3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A98F4-BFEF-4E86-B54F-8AA8C46F635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EDDFA-0684-4D4C-85AD-062D08A05DEF}" type="datetime1">
              <a:rPr lang="zh-CN" altLang="en-US"/>
              <a:t>2026/6/3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36AC3-70EB-48F1-98D4-85483F2A348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2026/6/3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938F2A-8EFC-48E3-816C-C9FA9619261B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2026/6/3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878EAA-DBAE-4DE0-9A84-53B0689F84F7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2026/6/3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732F41-6EFA-4DC1-A8EB-E70783E8919E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2026/6/3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CE1545-26B5-484B-9D03-280F1403214D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2026/6/3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833256-B537-47A5-A50F-3FF51F0A6D3F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2026/6/3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1D28D-4E65-4A7D-B8F9-0ED3A6349CEF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2026/6/3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369E97-8761-4B01-B447-2BD01C0B4E12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2026/6/3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74440-A00E-4FC5-838A-FBCE85C3791C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2026/6/3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5D1E19-3023-4546-B6B2-2D7D395706E1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2026/6/3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7E376C-365F-4107-8771-A15B85316A17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2026/6/3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A7A8A1-C605-480F-A5DA-7959F944AF15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2026/6/3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C6DC7F41-410C-4E06-AF7F-F4B697818EC3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43D0D2-FE93-4EF6-AB0B-125CB036258C}" type="datetime1">
              <a:rPr lang="zh-CN" altLang="en-US" smtClean="0"/>
              <a:t>2026/6/3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09D47D-2E66-4BEF-AFCD-4164C0C3999D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ABD23E-6279-4020-8615-39625346AC54}" type="datetime1">
              <a:rPr lang="zh-CN" altLang="en-US" smtClean="0"/>
              <a:t>2026/6/3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2D7500-7138-4A93-AA4B-A2F029F29361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33567C-6462-4A2C-A3C6-526AAB92FB5B}" type="datetime1">
              <a:rPr lang="zh-CN" altLang="en-US" smtClean="0"/>
              <a:t>2026/6/3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DA5085-CD4C-47D8-85F4-747B8718982C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DF64BC-BDA7-40EC-8A47-1308A762D8DB}" type="datetime1">
              <a:rPr lang="zh-CN" altLang="en-US" smtClean="0"/>
              <a:t>2026/6/3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D0EF05-A89C-4A70-9155-033696F37E3E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02A57F-C3F8-48E1-AB11-CE47ED66E6B1}" type="datetime1">
              <a:rPr lang="zh-CN" altLang="en-US" smtClean="0"/>
              <a:t>2026/6/3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D139C2-F5F6-435A-B698-0B324F25EF37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E593DE-D9CF-4358-9444-2E2201919058}" type="datetime1">
              <a:rPr lang="zh-CN" altLang="en-US" smtClean="0"/>
              <a:t>2026/6/3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36094E-09AF-45BE-A49F-4BC2B93D8AF0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0A90DE-6A1B-4B03-9ACD-2A7106E8383E}" type="datetime1">
              <a:rPr lang="zh-CN" altLang="en-US" smtClean="0"/>
              <a:t>2026/6/3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ED563-E8A3-4170-A71D-82A2E31D347A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688C02-910C-4CD5-84D5-30C7CAADCFA3}" type="datetime1">
              <a:rPr lang="zh-CN" altLang="en-US" smtClean="0"/>
              <a:t>2026/6/3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6C8F0-D90E-4891-B1C0-18ED745AB532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E542EB-2FF0-4205-9689-A41165767E2E}" type="datetime1">
              <a:rPr lang="zh-CN" altLang="en-US" smtClean="0"/>
              <a:t>2026/6/3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736F6D-7B69-43E1-BCD2-F998EF80B03F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333FD3-39A2-423B-AFD3-E909D50F39AF}" type="datetime1">
              <a:rPr lang="zh-CN" altLang="en-US" smtClean="0"/>
              <a:t>2026/6/3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9A98F4-BFEF-4E86-B54F-8AA8C46F635E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9EDDFA-0684-4D4C-85AD-062D08A05DEF}" type="datetime1">
              <a:rPr lang="zh-CN" altLang="en-US" smtClean="0"/>
              <a:t>2026/6/3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136AC3-70EB-48F1-98D4-85483F2A3487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jpeg"/><Relationship Id="rId26" Type="http://schemas.openxmlformats.org/officeDocument/2006/relationships/image" Target="../media/image14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5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23" Type="http://schemas.openxmlformats.org/officeDocument/2006/relationships/image" Target="../media/image11.png"/><Relationship Id="rId28" Type="http://schemas.openxmlformats.org/officeDocument/2006/relationships/image" Target="../media/image16.png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Relationship Id="rId22" Type="http://schemas.openxmlformats.org/officeDocument/2006/relationships/image" Target="../media/image10.jpeg"/><Relationship Id="rId27" Type="http://schemas.openxmlformats.org/officeDocument/2006/relationships/image" Target="../media/image15.jpe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.png"/><Relationship Id="rId18" Type="http://schemas.openxmlformats.org/officeDocument/2006/relationships/image" Target="../media/image20.pn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23.png"/><Relationship Id="rId34" Type="http://schemas.openxmlformats.org/officeDocument/2006/relationships/image" Target="../media/image11.png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10.jpe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26.png"/><Relationship Id="rId32" Type="http://schemas.openxmlformats.org/officeDocument/2006/relationships/image" Target="../media/image9.png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15.jpeg"/><Relationship Id="rId36" Type="http://schemas.openxmlformats.org/officeDocument/2006/relationships/image" Target="../media/image13.png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21.png"/><Relationship Id="rId31" Type="http://schemas.openxmlformats.org/officeDocument/2006/relationships/image" Target="../media/image8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Relationship Id="rId22" Type="http://schemas.openxmlformats.org/officeDocument/2006/relationships/image" Target="../media/image24.png"/><Relationship Id="rId27" Type="http://schemas.openxmlformats.org/officeDocument/2006/relationships/image" Target="../media/image6.jpeg"/><Relationship Id="rId30" Type="http://schemas.openxmlformats.org/officeDocument/2006/relationships/image" Target="../media/image7.png"/><Relationship Id="rId35" Type="http://schemas.openxmlformats.org/officeDocument/2006/relationships/image" Target="../media/image12.png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20.pn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6.xml"/><Relationship Id="rId21" Type="http://schemas.openxmlformats.org/officeDocument/2006/relationships/image" Target="../media/image23.png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image" Target="../media/image26.png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9.png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2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Relationship Id="rId22" Type="http://schemas.openxmlformats.org/officeDocument/2006/relationships/image" Target="../media/image24.png"/><Relationship Id="rId27" Type="http://schemas.openxmlformats.org/officeDocument/2006/relationships/image" Target="../media/image8.png"/><Relationship Id="rId30" Type="http://schemas.openxmlformats.org/officeDocument/2006/relationships/image" Target="../media/image1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4764" y="-19050"/>
            <a:ext cx="12249475" cy="7042150"/>
            <a:chOff x="-4763" y="-19050"/>
            <a:chExt cx="9185276" cy="6877050"/>
          </a:xfrm>
        </p:grpSpPr>
        <p:sp>
          <p:nvSpPr>
            <p:cNvPr id="7" name="矩形 6"/>
            <p:cNvSpPr>
              <a:spLocks noChangeArrowheads="1"/>
            </p:cNvSpPr>
            <p:nvPr userDrawn="1"/>
          </p:nvSpPr>
          <p:spPr bwMode="auto">
            <a:xfrm>
              <a:off x="-4763" y="-19050"/>
              <a:ext cx="9144001" cy="6877050"/>
            </a:xfrm>
            <a:prstGeom prst="rect">
              <a:avLst/>
            </a:prstGeom>
            <a:solidFill>
              <a:srgbClr val="F2F2F2">
                <a:alpha val="89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8" name="矩形 7"/>
            <p:cNvSpPr>
              <a:spLocks noChangeArrowheads="1"/>
            </p:cNvSpPr>
            <p:nvPr userDrawn="1"/>
          </p:nvSpPr>
          <p:spPr bwMode="auto">
            <a:xfrm>
              <a:off x="0" y="620713"/>
              <a:ext cx="9180513" cy="5040312"/>
            </a:xfrm>
            <a:prstGeom prst="rect">
              <a:avLst/>
            </a:prstGeom>
            <a:solidFill>
              <a:srgbClr val="D8D8D8">
                <a:alpha val="1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9" name="矩形 3"/>
            <p:cNvSpPr>
              <a:spLocks noChangeArrowheads="1"/>
            </p:cNvSpPr>
            <p:nvPr userDrawn="1"/>
          </p:nvSpPr>
          <p:spPr bwMode="auto">
            <a:xfrm>
              <a:off x="0" y="6167438"/>
              <a:ext cx="2327275" cy="179387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0" name="矩形 8"/>
            <p:cNvSpPr>
              <a:spLocks noChangeArrowheads="1"/>
            </p:cNvSpPr>
            <p:nvPr userDrawn="1"/>
          </p:nvSpPr>
          <p:spPr bwMode="auto">
            <a:xfrm>
              <a:off x="2327275" y="6167438"/>
              <a:ext cx="2260600" cy="179387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1" name="矩形 9"/>
            <p:cNvSpPr>
              <a:spLocks noChangeArrowheads="1"/>
            </p:cNvSpPr>
            <p:nvPr userDrawn="1"/>
          </p:nvSpPr>
          <p:spPr bwMode="auto">
            <a:xfrm>
              <a:off x="4587875" y="6167438"/>
              <a:ext cx="2260600" cy="179387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10"/>
            <p:cNvSpPr>
              <a:spLocks noChangeArrowheads="1"/>
            </p:cNvSpPr>
            <p:nvPr userDrawn="1"/>
          </p:nvSpPr>
          <p:spPr bwMode="auto">
            <a:xfrm>
              <a:off x="6848475" y="6167438"/>
              <a:ext cx="2295525" cy="179387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6"/>
            <p:cNvSpPr>
              <a:spLocks noChangeArrowheads="1"/>
            </p:cNvSpPr>
            <p:nvPr userDrawn="1"/>
          </p:nvSpPr>
          <p:spPr bwMode="auto">
            <a:xfrm>
              <a:off x="0" y="247650"/>
              <a:ext cx="2260600" cy="71438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7"/>
            <p:cNvSpPr>
              <a:spLocks noChangeArrowheads="1"/>
            </p:cNvSpPr>
            <p:nvPr userDrawn="1"/>
          </p:nvSpPr>
          <p:spPr bwMode="auto">
            <a:xfrm>
              <a:off x="2260600" y="247650"/>
              <a:ext cx="2260600" cy="71438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5" name="矩形 12"/>
            <p:cNvSpPr>
              <a:spLocks noChangeArrowheads="1"/>
            </p:cNvSpPr>
            <p:nvPr userDrawn="1"/>
          </p:nvSpPr>
          <p:spPr bwMode="auto">
            <a:xfrm>
              <a:off x="4521200" y="247650"/>
              <a:ext cx="2260600" cy="71438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6" name="矩形 13"/>
            <p:cNvSpPr>
              <a:spLocks noChangeArrowheads="1"/>
            </p:cNvSpPr>
            <p:nvPr userDrawn="1"/>
          </p:nvSpPr>
          <p:spPr bwMode="auto">
            <a:xfrm>
              <a:off x="6781800" y="247650"/>
              <a:ext cx="2362200" cy="71438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212889" y="-29028"/>
            <a:ext cx="12501640" cy="6964589"/>
            <a:chOff x="-232232" y="-159654"/>
            <a:chExt cx="9376230" cy="696458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-232232" y="-159654"/>
              <a:ext cx="9376229" cy="696458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74951" y="-116113"/>
              <a:ext cx="4569047" cy="50763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-138008" y="16916"/>
              <a:ext cx="415238" cy="1586639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239065" y="1876372"/>
            <a:ext cx="730747" cy="6096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16" cstate="print"/>
          <a:srcRect t="12482"/>
          <a:stretch>
            <a:fillRect/>
          </a:stretch>
        </p:blipFill>
        <p:spPr>
          <a:xfrm>
            <a:off x="7561923" y="4037186"/>
            <a:ext cx="1325995" cy="79479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16" cstate="print"/>
          <a:srcRect t="12482"/>
          <a:stretch>
            <a:fillRect/>
          </a:stretch>
        </p:blipFill>
        <p:spPr>
          <a:xfrm>
            <a:off x="7652903" y="4037185"/>
            <a:ext cx="1325995" cy="794797"/>
          </a:xfrm>
          <a:prstGeom prst="ellipse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7575355" y="3966231"/>
            <a:ext cx="1282700" cy="790575"/>
          </a:xfrm>
          <a:prstGeom prst="ellipse">
            <a:avLst/>
          </a:prstGeom>
        </p:spPr>
      </p:pic>
      <p:pic>
        <p:nvPicPr>
          <p:cNvPr id="14" name="图片 1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2140">
            <a:off x="2856267" y="3957571"/>
            <a:ext cx="52451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 descr="画儿"/>
          <p:cNvPicPr>
            <a:picLocks noChangeAspect="1" noChangeArrowheads="1"/>
          </p:cNvPicPr>
          <p:nvPr userDrawn="1"/>
        </p:nvPicPr>
        <p:blipFill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6876" r="6429" b="5901"/>
          <a:stretch>
            <a:fillRect/>
          </a:stretch>
        </p:blipFill>
        <p:spPr bwMode="auto">
          <a:xfrm rot="4001914">
            <a:off x="3831862" y="2027239"/>
            <a:ext cx="498475" cy="97429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14"/>
          <p:cNvPicPr>
            <a:picLocks noChangeAspect="1"/>
          </p:cNvPicPr>
          <p:nvPr userDrawn="1"/>
        </p:nvPicPr>
        <p:blipFill>
          <a:blip r:embed="rId19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425" y="3750667"/>
            <a:ext cx="1030817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图片 5"/>
          <p:cNvPicPr>
            <a:picLocks noChangeAspect="1"/>
          </p:cNvPicPr>
          <p:nvPr userDrawn="1"/>
        </p:nvPicPr>
        <p:blipFill>
          <a:blip r:embed="rId20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444" y="2140951"/>
            <a:ext cx="1005573" cy="1159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377" y="2485972"/>
            <a:ext cx="1841500" cy="2622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5" descr="书"/>
          <p:cNvPicPr>
            <a:picLocks noChangeAspect="1" noChangeArrowheads="1"/>
          </p:cNvPicPr>
          <p:nvPr userDrawn="1"/>
        </p:nvPicPr>
        <p:blipFill>
          <a:blip r:embed="rId2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0000">
            <a:off x="9293606" y="3550978"/>
            <a:ext cx="620113" cy="463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1"/>
          <p:cNvPicPr>
            <a:picLocks noChangeAspect="1"/>
          </p:cNvPicPr>
          <p:nvPr userDrawn="1"/>
        </p:nvPicPr>
        <p:blipFill>
          <a:blip r:embed="rId23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766">
            <a:off x="8647035" y="4307536"/>
            <a:ext cx="24892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4"/>
          <p:cNvPicPr>
            <a:picLocks noChangeAspect="1"/>
          </p:cNvPicPr>
          <p:nvPr userDrawn="1"/>
        </p:nvPicPr>
        <p:blipFill>
          <a:blip r:embed="rId24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425" y="1876373"/>
            <a:ext cx="1689100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5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519" y="1622280"/>
            <a:ext cx="2567835" cy="2423164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16" cstate="print"/>
          <a:srcRect t="-5524"/>
          <a:stretch>
            <a:fillRect/>
          </a:stretch>
        </p:blipFill>
        <p:spPr>
          <a:xfrm>
            <a:off x="2820169" y="3016464"/>
            <a:ext cx="1416801" cy="8681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044550" y="3061700"/>
            <a:ext cx="1361980" cy="839438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5300345" y="3503489"/>
            <a:ext cx="1253332" cy="83018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6442618" y="3919875"/>
            <a:ext cx="1337943" cy="895759"/>
          </a:xfrm>
          <a:prstGeom prst="rect">
            <a:avLst/>
          </a:prstGeom>
        </p:spPr>
      </p:pic>
      <p:pic>
        <p:nvPicPr>
          <p:cNvPr id="27" name="图片 1"/>
          <p:cNvPicPr>
            <a:picLocks noChangeAspect="1" noChangeArrowheads="1"/>
          </p:cNvPicPr>
          <p:nvPr userDrawn="1"/>
        </p:nvPicPr>
        <p:blipFill>
          <a:blip r:embed="rId26" cstate="print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" t="8031" r="7834" b="28464"/>
          <a:stretch>
            <a:fillRect/>
          </a:stretch>
        </p:blipFill>
        <p:spPr bwMode="auto">
          <a:xfrm>
            <a:off x="6534732" y="4602265"/>
            <a:ext cx="796501" cy="572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8" descr="纸箱子"/>
          <p:cNvPicPr>
            <a:picLocks noChangeAspect="1" noChangeArrowheads="1"/>
          </p:cNvPicPr>
          <p:nvPr userDrawn="1"/>
        </p:nvPicPr>
        <p:blipFill>
          <a:blip r:embed="rId27" cstate="print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61" t="3459" r="1027" b="68901"/>
          <a:stretch>
            <a:fillRect/>
          </a:stretch>
        </p:blipFill>
        <p:spPr bwMode="auto">
          <a:xfrm>
            <a:off x="7123822" y="3708705"/>
            <a:ext cx="2537844" cy="130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28" cstate="print"/>
          <a:stretch>
            <a:fillRect/>
          </a:stretch>
        </p:blipFill>
        <p:spPr>
          <a:xfrm>
            <a:off x="9860006" y="3152239"/>
            <a:ext cx="459401" cy="590550"/>
          </a:xfrm>
          <a:prstGeom prst="rect">
            <a:avLst/>
          </a:prstGeom>
        </p:spPr>
      </p:pic>
      <p:sp>
        <p:nvSpPr>
          <p:cNvPr id="30" name="梯形 29"/>
          <p:cNvSpPr/>
          <p:nvPr userDrawn="1"/>
        </p:nvSpPr>
        <p:spPr>
          <a:xfrm rot="12584178">
            <a:off x="2150199" y="2767809"/>
            <a:ext cx="851235" cy="145113"/>
          </a:xfrm>
          <a:prstGeom prst="trapezoid">
            <a:avLst>
              <a:gd name="adj" fmla="val 64630"/>
            </a:avLst>
          </a:prstGeom>
          <a:solidFill>
            <a:srgbClr val="38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22222E-6 L 0.17448 0.225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" y="1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 userDrawn="1"/>
        </p:nvGrpSpPr>
        <p:grpSpPr>
          <a:xfrm rot="9684734">
            <a:off x="33892" y="-1398753"/>
            <a:ext cx="11933665" cy="9376229"/>
            <a:chOff x="710400" y="-2376019"/>
            <a:chExt cx="8950249" cy="9376229"/>
          </a:xfrm>
        </p:grpSpPr>
        <p:grpSp>
          <p:nvGrpSpPr>
            <p:cNvPr id="54" name="组合 53"/>
            <p:cNvGrpSpPr/>
            <p:nvPr userDrawn="1"/>
          </p:nvGrpSpPr>
          <p:grpSpPr>
            <a:xfrm rot="19463416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52" name="组合 51"/>
              <p:cNvGrpSpPr/>
              <p:nvPr userDrawn="1"/>
            </p:nvGrpSpPr>
            <p:grpSpPr>
              <a:xfrm rot="21120333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44" name="组合 43"/>
                <p:cNvGrpSpPr/>
                <p:nvPr userDrawn="1"/>
              </p:nvGrpSpPr>
              <p:grpSpPr>
                <a:xfrm rot="18282251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42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40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38" name="组合 37"/>
                      <p:cNvGrpSpPr/>
                      <p:nvPr userDrawn="1"/>
                    </p:nvGrpSpPr>
                    <p:grpSpPr>
                      <a:xfrm rot="162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32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3" name="组合 2"/>
                          <p:cNvGrpSpPr/>
                          <p:nvPr userDrawn="1"/>
                        </p:nvGrpSpPr>
                        <p:grpSpPr>
                          <a:xfrm rot="13845033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7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8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  <p:pic>
                            <p:nvPicPr>
                              <p:cNvPr id="9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  <p:pic>
                            <p:nvPicPr>
                              <p:cNvPr id="10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grpSp>
                        <p:pic>
                          <p:nvPicPr>
                            <p:cNvPr id="2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 cstate="print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pic>
                        <p:nvPicPr>
                          <p:cNvPr id="4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31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pic>
                      <p:nvPicPr>
                        <p:cNvPr id="37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 cstate="print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39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 cstate="print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41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 cstate="print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43" name="图片 42"/>
                  <p:cNvPicPr>
                    <a:picLocks noChangeAspect="1"/>
                  </p:cNvPicPr>
                  <p:nvPr userDrawn="1"/>
                </p:nvPicPr>
                <p:blipFill>
                  <a:blip r:embed="rId21" cstate="print"/>
                  <a:stretch>
                    <a:fillRect/>
                  </a:stretch>
                </p:blipFill>
                <p:spPr>
                  <a:xfrm rot="21302292">
                    <a:off x="2759164" y="4828529"/>
                    <a:ext cx="285750" cy="33225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5" name="图片 44"/>
                <p:cNvPicPr>
                  <a:picLocks noChangeAspect="1"/>
                </p:cNvPicPr>
                <p:nvPr userDrawn="1"/>
              </p:nvPicPr>
              <p:blipFill>
                <a:blip r:embed="rId22" cstate="print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</p:spPr>
            </p:pic>
            <p:pic>
              <p:nvPicPr>
                <p:cNvPr id="50" name="图片 49"/>
                <p:cNvPicPr>
                  <a:picLocks noChangeAspect="1"/>
                </p:cNvPicPr>
                <p:nvPr userDrawn="1"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21407908">
                  <a:off x="3070145" y="637317"/>
                  <a:ext cx="227667" cy="122926"/>
                </a:xfrm>
                <a:prstGeom prst="rect">
                  <a:avLst/>
                </a:prstGeom>
              </p:spPr>
            </p:pic>
            <p:pic>
              <p:nvPicPr>
                <p:cNvPr id="51" name="图片 50"/>
                <p:cNvPicPr>
                  <a:picLocks noChangeAspect="1"/>
                </p:cNvPicPr>
                <p:nvPr userDrawn="1"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53" name="图片 52"/>
              <p:cNvPicPr>
                <a:picLocks noChangeAspect="1"/>
              </p:cNvPicPr>
              <p:nvPr userDrawn="1"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</p:spPr>
          </p:pic>
        </p:grpSp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57" name="图片 56"/>
          <p:cNvPicPr>
            <a:picLocks noChangeAspect="1" noChangeArrowheads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2140">
            <a:off x="2828226" y="3936356"/>
            <a:ext cx="52451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58" name="Picture 4" descr="画儿"/>
          <p:cNvPicPr>
            <a:picLocks noChangeAspect="1" noChangeArrowheads="1"/>
          </p:cNvPicPr>
          <p:nvPr userDrawn="1"/>
        </p:nvPicPr>
        <p:blipFill>
          <a:blip r:embed="rId2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6876" r="6429" b="5901"/>
          <a:stretch>
            <a:fillRect/>
          </a:stretch>
        </p:blipFill>
        <p:spPr bwMode="auto">
          <a:xfrm rot="4001915">
            <a:off x="3853221" y="2092211"/>
            <a:ext cx="498475" cy="97366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59" name="Picture 8" descr="纸箱子"/>
          <p:cNvPicPr>
            <a:picLocks noChangeAspect="1" noChangeArrowheads="1"/>
          </p:cNvPicPr>
          <p:nvPr userDrawn="1"/>
        </p:nvPicPr>
        <p:blipFill>
          <a:blip r:embed="rId28" cstate="print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61" t="3458" r="1027" b="68900"/>
          <a:stretch>
            <a:fillRect/>
          </a:stretch>
        </p:blipFill>
        <p:spPr bwMode="auto">
          <a:xfrm>
            <a:off x="6492176" y="5180957"/>
            <a:ext cx="253788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0" name="图片 59"/>
          <p:cNvPicPr>
            <a:picLocks noChangeAspect="1" noChangeArrowheads="1"/>
          </p:cNvPicPr>
          <p:nvPr userDrawn="1"/>
        </p:nvPicPr>
        <p:blipFill>
          <a:blip r:embed="rId29" cstate="print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" t="8031" r="7834" b="28464"/>
          <a:stretch>
            <a:fillRect/>
          </a:stretch>
        </p:blipFill>
        <p:spPr bwMode="auto">
          <a:xfrm>
            <a:off x="6492176" y="4747570"/>
            <a:ext cx="79586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1" name="图片 60"/>
          <p:cNvPicPr>
            <a:picLocks noChangeAspect="1" noChangeArrowheads="1"/>
          </p:cNvPicPr>
          <p:nvPr userDrawn="1"/>
        </p:nvPicPr>
        <p:blipFill>
          <a:blip r:embed="rId30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026" y="3817295"/>
            <a:ext cx="1032933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2" name="图片 61"/>
          <p:cNvPicPr>
            <a:picLocks noChangeAspect="1" noChangeArrowheads="1"/>
          </p:cNvPicPr>
          <p:nvPr userDrawn="1"/>
        </p:nvPicPr>
        <p:blipFill>
          <a:blip r:embed="rId31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760" y="2207570"/>
            <a:ext cx="1005417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3" name="图片 62"/>
          <p:cNvPicPr>
            <a:picLocks noChangeAspect="1" noChangeArrowheads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793" y="2326632"/>
            <a:ext cx="184150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4" name="Picture 5" descr="书"/>
          <p:cNvPicPr>
            <a:picLocks noChangeAspect="1" noChangeArrowheads="1"/>
          </p:cNvPicPr>
          <p:nvPr userDrawn="1"/>
        </p:nvPicPr>
        <p:blipFill>
          <a:blip r:embed="rId3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0000">
            <a:off x="8562277" y="3247381"/>
            <a:ext cx="62018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5" name="图片 64"/>
          <p:cNvPicPr>
            <a:picLocks noChangeAspect="1" noChangeArrowheads="1"/>
          </p:cNvPicPr>
          <p:nvPr userDrawn="1"/>
        </p:nvPicPr>
        <p:blipFill>
          <a:blip r:embed="rId34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766">
            <a:off x="8759125" y="4361806"/>
            <a:ext cx="24892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6" name="图片 65"/>
          <p:cNvPicPr>
            <a:picLocks noChangeAspect="1" noChangeArrowheads="1"/>
          </p:cNvPicPr>
          <p:nvPr userDrawn="1"/>
        </p:nvPicPr>
        <p:blipFill>
          <a:blip r:embed="rId35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459" y="1936106"/>
            <a:ext cx="168910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7" name="图片 66"/>
          <p:cNvPicPr>
            <a:picLocks noChangeAspect="1" noChangeArrowheads="1"/>
          </p:cNvPicPr>
          <p:nvPr userDrawn="1"/>
        </p:nvPicPr>
        <p:blipFill>
          <a:blip r:embed="rId36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792" y="1786882"/>
            <a:ext cx="2474384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 userDrawn="1"/>
        </p:nvGrpSpPr>
        <p:grpSpPr>
          <a:xfrm rot="9684734">
            <a:off x="33892" y="-1398753"/>
            <a:ext cx="11933665" cy="9376229"/>
            <a:chOff x="710400" y="-2376019"/>
            <a:chExt cx="8950249" cy="9376229"/>
          </a:xfrm>
        </p:grpSpPr>
        <p:grpSp>
          <p:nvGrpSpPr>
            <p:cNvPr id="54" name="组合 53"/>
            <p:cNvGrpSpPr/>
            <p:nvPr userDrawn="1"/>
          </p:nvGrpSpPr>
          <p:grpSpPr>
            <a:xfrm rot="19463416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52" name="组合 51"/>
              <p:cNvGrpSpPr/>
              <p:nvPr userDrawn="1"/>
            </p:nvGrpSpPr>
            <p:grpSpPr>
              <a:xfrm rot="21120333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44" name="组合 43"/>
                <p:cNvGrpSpPr/>
                <p:nvPr userDrawn="1"/>
              </p:nvGrpSpPr>
              <p:grpSpPr>
                <a:xfrm rot="18282251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42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40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38" name="组合 37"/>
                      <p:cNvGrpSpPr/>
                      <p:nvPr userDrawn="1"/>
                    </p:nvGrpSpPr>
                    <p:grpSpPr>
                      <a:xfrm rot="162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32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3" name="组合 2"/>
                          <p:cNvGrpSpPr/>
                          <p:nvPr userDrawn="1"/>
                        </p:nvGrpSpPr>
                        <p:grpSpPr>
                          <a:xfrm rot="13845033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7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8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  <p:pic>
                            <p:nvPicPr>
                              <p:cNvPr id="9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  <p:pic>
                            <p:nvPicPr>
                              <p:cNvPr id="10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grpSp>
                        <p:pic>
                          <p:nvPicPr>
                            <p:cNvPr id="2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 cstate="print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pic>
                        <p:nvPicPr>
                          <p:cNvPr id="4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31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pic>
                      <p:nvPicPr>
                        <p:cNvPr id="37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 cstate="print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39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 cstate="print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41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 cstate="print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43" name="图片 42"/>
                  <p:cNvPicPr>
                    <a:picLocks noChangeAspect="1"/>
                  </p:cNvPicPr>
                  <p:nvPr userDrawn="1"/>
                </p:nvPicPr>
                <p:blipFill>
                  <a:blip r:embed="rId21" cstate="print"/>
                  <a:stretch>
                    <a:fillRect/>
                  </a:stretch>
                </p:blipFill>
                <p:spPr>
                  <a:xfrm rot="21302292">
                    <a:off x="2759164" y="4828529"/>
                    <a:ext cx="285750" cy="33225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5" name="图片 44"/>
                <p:cNvPicPr>
                  <a:picLocks noChangeAspect="1"/>
                </p:cNvPicPr>
                <p:nvPr userDrawn="1"/>
              </p:nvPicPr>
              <p:blipFill>
                <a:blip r:embed="rId22" cstate="print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</p:spPr>
            </p:pic>
            <p:pic>
              <p:nvPicPr>
                <p:cNvPr id="50" name="图片 49"/>
                <p:cNvPicPr>
                  <a:picLocks noChangeAspect="1"/>
                </p:cNvPicPr>
                <p:nvPr userDrawn="1"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21407908">
                  <a:off x="3070145" y="637317"/>
                  <a:ext cx="227667" cy="122926"/>
                </a:xfrm>
                <a:prstGeom prst="rect">
                  <a:avLst/>
                </a:prstGeom>
              </p:spPr>
            </p:pic>
            <p:pic>
              <p:nvPicPr>
                <p:cNvPr id="51" name="图片 50"/>
                <p:cNvPicPr>
                  <a:picLocks noChangeAspect="1"/>
                </p:cNvPicPr>
                <p:nvPr userDrawn="1"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53" name="图片 52"/>
              <p:cNvPicPr>
                <a:picLocks noChangeAspect="1"/>
              </p:cNvPicPr>
              <p:nvPr userDrawn="1"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</p:spPr>
          </p:pic>
        </p:grpSp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57" name="图片 56"/>
          <p:cNvPicPr>
            <a:picLocks noChangeAspect="1" noChangeArrowheads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2140">
            <a:off x="2828226" y="3936356"/>
            <a:ext cx="52451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2" name="图片 61"/>
          <p:cNvPicPr>
            <a:picLocks noChangeAspect="1" noChangeArrowheads="1"/>
          </p:cNvPicPr>
          <p:nvPr userDrawn="1"/>
        </p:nvPicPr>
        <p:blipFill>
          <a:blip r:embed="rId27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760" y="2207570"/>
            <a:ext cx="1005417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3" name="图片 62"/>
          <p:cNvPicPr>
            <a:picLocks noChangeAspect="1" noChangeArrowheads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793" y="2326632"/>
            <a:ext cx="184150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5" name="图片 64"/>
          <p:cNvPicPr>
            <a:picLocks noChangeAspect="1" noChangeArrowheads="1"/>
          </p:cNvPicPr>
          <p:nvPr userDrawn="1"/>
        </p:nvPicPr>
        <p:blipFill>
          <a:blip r:embed="rId29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766">
            <a:off x="8759125" y="4361806"/>
            <a:ext cx="24892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7" name="图片 66"/>
          <p:cNvPicPr>
            <a:picLocks noChangeAspect="1" noChangeArrowheads="1"/>
          </p:cNvPicPr>
          <p:nvPr userDrawn="1"/>
        </p:nvPicPr>
        <p:blipFill>
          <a:blip r:embed="rId30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792" y="1786882"/>
            <a:ext cx="2474384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buFont typeface="Arial" panose="020B0604020202020204" pitchFamily="34" charset="0"/>
              <a:buNone/>
            </a:pPr>
            <a:fld id="{8F7D39E1-9FE5-46CE-B22C-448D41BE7A37}" type="datetime1">
              <a:rPr lang="zh-CN" altLang="en-US" smtClean="0">
                <a:solidFill>
                  <a:srgbClr val="000000"/>
                </a:solidFill>
              </a:rPr>
              <a:t>2026/6/3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buFont typeface="Arial" panose="020B0604020202020204" pitchFamily="34" charset="0"/>
              <a:buNone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buFont typeface="Arial" panose="020B0604020202020204" pitchFamily="34" charset="0"/>
              <a:buNone/>
            </a:pPr>
            <a:fld id="{457252CE-D233-4B03-9C2A-50FE7E74FFF5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426EDF3-37C0-4BBF-91FF-526CB16E0D33}" type="datetime1">
              <a:rPr lang="zh-CN" altLang="en-US" smtClean="0"/>
              <a:t>2026/6/3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73B5C9D-7D49-4AD2-80D3-35C2956F659B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816248" y="1030288"/>
            <a:ext cx="93090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《HSK标准教程》第</a:t>
            </a:r>
            <a:r>
              <a:rPr lang="en-US" altLang="zh-CN" sz="2400" b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lang="zh-CN" altLang="en-US" sz="2400" b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册  </a:t>
            </a:r>
            <a:r>
              <a:rPr lang="en-US" altLang="zh-CN" sz="2400" b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Lesson 1-4 </a:t>
            </a:r>
            <a:endParaRPr lang="zh-CN" altLang="en-US" sz="2400" b="1" dirty="0">
              <a:solidFill>
                <a:srgbClr val="D09E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3152" y="707623"/>
            <a:ext cx="754806" cy="813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Dialogue – </a:t>
            </a:r>
            <a:r>
              <a:rPr lang="zh-CN" altLang="en-US" dirty="0"/>
              <a:t>对话练习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447790" y="2040255"/>
            <a:ext cx="3182620" cy="477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3600"/>
              <a:t>duì huà liàn xí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" name="组合 8"/>
          <p:cNvGrpSpPr/>
          <p:nvPr/>
        </p:nvGrpSpPr>
        <p:grpSpPr>
          <a:xfrm>
            <a:off x="308629" y="433539"/>
            <a:ext cx="11801475" cy="727075"/>
            <a:chOff x="308629" y="-166"/>
            <a:chExt cx="11801475" cy="727075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584" y="-166"/>
              <a:ext cx="11780520" cy="727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场景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 1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：课堂初次见面（问候</a:t>
              </a:r>
              <a:r>
                <a:rPr lang="en-US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→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问名字</a:t>
              </a:r>
              <a:r>
                <a:rPr lang="en-US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→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问国籍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)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329565" y="1225550"/>
            <a:ext cx="11861800" cy="5288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Hello!</a:t>
            </a:r>
          </a:p>
          <a:p>
            <a:r>
              <a:rPr lang="en-US" altLang="zh-CN" sz="3200" b="1" dirty="0">
                <a:solidFill>
                  <a:srgbClr val="288149"/>
                </a:solidFill>
              </a:rPr>
              <a:t>B</a:t>
            </a:r>
            <a:r>
              <a:rPr lang="en-US" altLang="zh-CN" sz="3200" dirty="0"/>
              <a:t>: Hello!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What's your name?</a:t>
            </a:r>
          </a:p>
          <a:p>
            <a:r>
              <a:rPr lang="en-US" altLang="zh-CN" sz="3200" b="1" dirty="0">
                <a:solidFill>
                  <a:srgbClr val="288149"/>
                </a:solidFill>
              </a:rPr>
              <a:t>B</a:t>
            </a:r>
            <a:r>
              <a:rPr lang="en-US" altLang="zh-CN" sz="3200" dirty="0"/>
              <a:t>: My name is Li Yue. And you?    Na</a:t>
            </a:r>
            <a:r>
              <a:rPr lang="zh-CN" altLang="en-US" sz="3200" dirty="0"/>
              <a:t> </a:t>
            </a:r>
            <a:r>
              <a:rPr lang="en-US" altLang="zh-CN" sz="3200" dirty="0"/>
              <a:t>li</a:t>
            </a:r>
            <a:r>
              <a:rPr lang="zh-CN" altLang="en-US" sz="3200" dirty="0"/>
              <a:t> </a:t>
            </a:r>
            <a:endParaRPr lang="en-US" altLang="zh-CN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My name is Ron. Where are you from?</a:t>
            </a:r>
          </a:p>
          <a:p>
            <a:r>
              <a:rPr lang="en-US" altLang="zh-CN" sz="3200" b="1" dirty="0">
                <a:solidFill>
                  <a:srgbClr val="288149"/>
                </a:solidFill>
              </a:rPr>
              <a:t>B</a:t>
            </a:r>
            <a:r>
              <a:rPr lang="en-US" altLang="zh-CN" sz="3200" dirty="0"/>
              <a:t>: I'm Chinese. Are you American?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Yes, I'm American. Are you a teacher?</a:t>
            </a:r>
          </a:p>
          <a:p>
            <a:r>
              <a:rPr lang="en-US" altLang="zh-CN" sz="3200" b="1" dirty="0">
                <a:solidFill>
                  <a:srgbClr val="288149"/>
                </a:solidFill>
              </a:rPr>
              <a:t>B</a:t>
            </a:r>
            <a:r>
              <a:rPr lang="en-US" altLang="zh-CN" sz="3200" dirty="0"/>
              <a:t>: I'm a teacher. Are you a student?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I'm a student. Does class begin now?</a:t>
            </a:r>
          </a:p>
          <a:p>
            <a:r>
              <a:rPr lang="en-US" altLang="zh-CN" sz="3200" b="1" dirty="0">
                <a:solidFill>
                  <a:srgbClr val="288149"/>
                </a:solidFill>
              </a:rPr>
              <a:t>B</a:t>
            </a:r>
            <a:r>
              <a:rPr lang="en-US" altLang="zh-CN" sz="3200" dirty="0"/>
              <a:t>: Class starts now. Read after me!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709420" y="30480"/>
            <a:ext cx="381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kè tánɡ chū cì jiàn miàn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372735" y="48895"/>
            <a:ext cx="54927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(wèn hòu - wèn mínɡ zì - wèn ɡuó jí)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10" y="558800"/>
            <a:ext cx="11847192" cy="728980"/>
            <a:chOff x="308629" y="143958"/>
            <a:chExt cx="2958099" cy="728868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99" y="143958"/>
              <a:ext cx="2937329" cy="645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场景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 2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：课后休息聊兴趣（下课</a:t>
              </a:r>
              <a:r>
                <a:rPr lang="en-US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→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邀约</a:t>
              </a:r>
              <a:r>
                <a:rPr lang="en-US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→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聊喜欢的运动）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872826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9029700" y="1680845"/>
            <a:ext cx="3094990" cy="3932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b="1" dirty="0">
              <a:solidFill>
                <a:schemeClr val="tx1"/>
              </a:solidFill>
              <a:latin typeface="GB Pinyinok-D" pitchFamily="2" charset="-122"/>
              <a:ea typeface="GB Pinyinok-D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7210" y="1371600"/>
            <a:ext cx="11584305" cy="5227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37210" y="1680210"/>
            <a:ext cx="11569065" cy="5120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Class is over! Let’s take a break/rest now    </a:t>
            </a:r>
            <a:r>
              <a:rPr lang="zh-CN" altLang="en-US" sz="3200" dirty="0"/>
              <a:t>上 下</a:t>
            </a:r>
            <a:endParaRPr lang="en-US" altLang="zh-CN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Okay! Do you like football?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like football. Do you like football?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don't like football. I like basketball.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Are we friends?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Yes, we are friends.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112645" y="190500"/>
            <a:ext cx="4114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kè hòu xiū xī liáo xìnɡ qù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788660" y="19050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(xià kè - yāo yuē - liáo xǐ huān de yùn dònɡ)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10" y="558800"/>
            <a:ext cx="11847192" cy="728980"/>
            <a:chOff x="308629" y="143958"/>
            <a:chExt cx="2958099" cy="728868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99" y="143958"/>
              <a:ext cx="2937329" cy="645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场景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 3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：介绍同学和老师（认人</a:t>
              </a:r>
              <a:r>
                <a:rPr lang="en-US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→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问名字</a:t>
              </a:r>
              <a:r>
                <a:rPr lang="en-US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→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国籍）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872826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9029700" y="1680845"/>
            <a:ext cx="3094990" cy="3932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1800" b="1" dirty="0">
              <a:solidFill>
                <a:schemeClr val="tx1"/>
              </a:solidFill>
              <a:latin typeface="GB Pinyinok-D" pitchFamily="2" charset="-122"/>
              <a:ea typeface="GB Pinyinok-D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1795" y="1371600"/>
            <a:ext cx="11569065" cy="5490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 you know him?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I don’t. Do you?(I don’t know either)/Yes, I do. His   name is Alex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Is he a Chinese?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He is Chinese</a:t>
            </a:r>
            <a:r>
              <a:rPr lang="zh-CN" altLang="en-US" sz="3200" dirty="0"/>
              <a:t>。</a:t>
            </a:r>
            <a:r>
              <a:rPr lang="en-US" altLang="zh-CN" sz="3200" dirty="0"/>
              <a:t>Is he a student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No, he is not a student</a:t>
            </a:r>
            <a:r>
              <a:rPr lang="zh-CN" altLang="en-US" sz="3200" dirty="0"/>
              <a:t>，</a:t>
            </a:r>
            <a:r>
              <a:rPr lang="en-US" altLang="zh-CN" sz="3200" dirty="0"/>
              <a:t>he is my friend</a:t>
            </a:r>
            <a:r>
              <a:rPr lang="zh-CN" altLang="en-US" sz="3200" dirty="0"/>
              <a:t>。</a:t>
            </a:r>
          </a:p>
          <a:p>
            <a:r>
              <a:rPr lang="zh-CN" altLang="en-US" sz="3200" dirty="0"/>
              <a:t> </a:t>
            </a:r>
            <a:r>
              <a:rPr lang="en-US" altLang="zh-CN" sz="3200" dirty="0"/>
              <a:t>     Who is your Chinese teacher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My Chinese teacher is Li Yue</a:t>
            </a:r>
            <a:r>
              <a:rPr lang="zh-CN" altLang="en-US" sz="3200" dirty="0"/>
              <a:t>。</a:t>
            </a:r>
          </a:p>
          <a:p>
            <a:r>
              <a:rPr lang="zh-CN" altLang="en-US" sz="3200" dirty="0"/>
              <a:t> </a:t>
            </a:r>
            <a:r>
              <a:rPr lang="en-US" altLang="zh-CN" sz="3200" dirty="0"/>
              <a:t>     She is a Chinese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know her, she is beautiful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yes</a:t>
            </a:r>
            <a:r>
              <a:rPr lang="zh-CN" altLang="en-US" sz="3200" dirty="0"/>
              <a:t>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02790" y="98425"/>
            <a:ext cx="4419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jiè shào tónɡ xué hé lǎo shī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08370" y="98425"/>
            <a:ext cx="59461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(rèn rén - wèn mínɡ zì -  ɡuó jí)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10" y="558800"/>
            <a:ext cx="11847192" cy="728980"/>
            <a:chOff x="308629" y="143958"/>
            <a:chExt cx="2958099" cy="728868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99" y="143958"/>
              <a:ext cx="2937329" cy="645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场景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 4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：聊喜欢的食物（聊吃的</a:t>
              </a:r>
              <a:r>
                <a:rPr lang="en-US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→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分享喜好）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872826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9029700" y="1680845"/>
            <a:ext cx="3094990" cy="3932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1800" b="1" dirty="0">
              <a:solidFill>
                <a:schemeClr val="tx1"/>
              </a:solidFill>
              <a:latin typeface="GB Pinyinok-D" pitchFamily="2" charset="-122"/>
              <a:ea typeface="GB Pinyinok-D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7210" y="1835785"/>
            <a:ext cx="11584305" cy="4763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What do you like to eat?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like Roasted duck, what about you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like hotpot</a:t>
            </a:r>
            <a:r>
              <a:rPr lang="zh-CN" altLang="en-US" sz="3200" dirty="0"/>
              <a:t>。</a:t>
            </a:r>
            <a:r>
              <a:rPr lang="en-US" altLang="zh-CN" sz="3200" dirty="0"/>
              <a:t>Is Roasted duck delicious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Yes, it is delicious</a:t>
            </a:r>
            <a:r>
              <a:rPr lang="zh-CN" altLang="en-US" sz="3200" dirty="0"/>
              <a:t>！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 you like coffee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don’t like coffee</a:t>
            </a:r>
            <a:r>
              <a:rPr lang="zh-CN" altLang="en-US" sz="3200" dirty="0"/>
              <a:t>，</a:t>
            </a:r>
            <a:r>
              <a:rPr lang="en-US" altLang="zh-CN" sz="3200" dirty="0"/>
              <a:t>I like coke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 you drink beer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thank you!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8290" y="179705"/>
            <a:ext cx="11781790" cy="6677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 you shower in the evening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I shower in the morning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What do you eat in the morning?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eat egg, drink milk, what about you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eat hamburger</a:t>
            </a:r>
            <a:r>
              <a:rPr lang="zh-CN" altLang="en-US" sz="3200" dirty="0"/>
              <a:t>，</a:t>
            </a:r>
            <a:r>
              <a:rPr lang="en-US" altLang="zh-CN" sz="3200" dirty="0"/>
              <a:t>drink coffee./I don’t eat in the morning.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What do you eat in the evening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eat hotpot in the evening</a:t>
            </a:r>
            <a:r>
              <a:rPr lang="zh-CN" altLang="en-US" sz="3200" dirty="0"/>
              <a:t>，</a:t>
            </a:r>
            <a:r>
              <a:rPr lang="en-US" altLang="zh-CN" sz="3200" dirty="0"/>
              <a:t>what about you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eat/have fish in the evening</a:t>
            </a:r>
            <a:r>
              <a:rPr lang="zh-CN" altLang="en-US" sz="3200" dirty="0"/>
              <a:t>。</a:t>
            </a:r>
            <a:r>
              <a:rPr lang="en-US" altLang="zh-CN" sz="3200" dirty="0"/>
              <a:t>Is hotpot delicious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Very yummy!</a:t>
            </a:r>
            <a:endParaRPr lang="zh-CN" altLang="en-US" sz="3200" dirty="0"/>
          </a:p>
          <a:p>
            <a:endParaRPr lang="zh-CN" alt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76425" y="15963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534035" y="375920"/>
            <a:ext cx="11487785" cy="5996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Do you read books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en-US" altLang="zh-CN" sz="3200" dirty="0"/>
              <a:t>: Yes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What books do you read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en-US" altLang="zh-CN" sz="3200" dirty="0"/>
              <a:t>: I read Chinese books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Do you like reading books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en-US" altLang="zh-CN" sz="3200" dirty="0"/>
              <a:t>: I do. I don’t like test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I don’t like either</a:t>
            </a:r>
            <a:r>
              <a:rPr lang="zh-CN" altLang="en-US" sz="3200" dirty="0"/>
              <a:t>。   </a:t>
            </a:r>
            <a:r>
              <a:rPr lang="en-US" altLang="zh-CN" sz="3200" dirty="0"/>
              <a:t>Also = too = either 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en-US" altLang="zh-CN" sz="3200" dirty="0"/>
              <a:t>: Do you have an exam on Friday?   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Yes, what about you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en-US" altLang="zh-CN" sz="3200" dirty="0"/>
              <a:t>: I have an exam on Tuesday.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Good luck with your exam!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en-US" altLang="zh-CN" sz="3200" dirty="0"/>
              <a:t>: Thank </a:t>
            </a:r>
            <a:r>
              <a:rPr lang="en-US" altLang="zh-CN" sz="3200" dirty="0" err="1"/>
              <a:t>you.Good</a:t>
            </a:r>
            <a:r>
              <a:rPr lang="en-US" altLang="zh-CN" sz="3200" dirty="0"/>
              <a:t> luck with your exam!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8600" y="351155"/>
            <a:ext cx="11633835" cy="6327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</a:rPr>
              <a:t>A</a:t>
            </a:r>
            <a:r>
              <a:rPr lang="zh-CN" altLang="en-US" sz="4000" dirty="0"/>
              <a:t>：</a:t>
            </a:r>
            <a:r>
              <a:rPr lang="en-US" altLang="zh-CN" sz="4000" dirty="0"/>
              <a:t>Do you know him</a:t>
            </a:r>
            <a:r>
              <a:rPr lang="zh-CN" altLang="en-US" sz="4000" dirty="0"/>
              <a:t>？</a:t>
            </a:r>
          </a:p>
          <a:p>
            <a:r>
              <a:rPr lang="en-US" altLang="zh-CN" sz="4000" b="1" dirty="0">
                <a:solidFill>
                  <a:schemeClr val="accent6"/>
                </a:solidFill>
              </a:rPr>
              <a:t>B</a:t>
            </a:r>
            <a:r>
              <a:rPr lang="zh-CN" altLang="en-US" sz="4000" dirty="0"/>
              <a:t>：</a:t>
            </a:r>
            <a:r>
              <a:rPr lang="en-US" altLang="zh-CN" sz="4000" dirty="0"/>
              <a:t>Yes, I do. He is my driver   driver= </a:t>
            </a:r>
            <a:r>
              <a:rPr lang="en-US" altLang="zh-CN" sz="4000" dirty="0" err="1"/>
              <a:t>si</a:t>
            </a:r>
            <a:r>
              <a:rPr lang="en-US" altLang="zh-CN" sz="4000" dirty="0"/>
              <a:t> ji   </a:t>
            </a:r>
            <a:r>
              <a:rPr lang="en-US" altLang="zh-CN" sz="4000" dirty="0" err="1"/>
              <a:t>shi</a:t>
            </a:r>
            <a:r>
              <a:rPr lang="en-US" altLang="zh-CN" sz="4000" dirty="0"/>
              <a:t> fu </a:t>
            </a:r>
          </a:p>
          <a:p>
            <a:r>
              <a:rPr lang="en-US" altLang="zh-CN" sz="4000" b="1" dirty="0">
                <a:solidFill>
                  <a:srgbClr val="FF0000"/>
                </a:solidFill>
              </a:rPr>
              <a:t>A</a:t>
            </a:r>
            <a:r>
              <a:rPr lang="zh-CN" altLang="en-US" sz="4000" dirty="0"/>
              <a:t>：</a:t>
            </a:r>
            <a:r>
              <a:rPr lang="en-US" altLang="zh-CN" sz="4000" dirty="0"/>
              <a:t>Do you know about him(not just know his name)</a:t>
            </a:r>
            <a:r>
              <a:rPr lang="zh-CN" altLang="en-US" sz="4000" dirty="0"/>
              <a:t>？ </a:t>
            </a:r>
            <a:r>
              <a:rPr lang="en-US" altLang="zh-CN" sz="4000" dirty="0"/>
              <a:t>Liao </a:t>
            </a:r>
            <a:r>
              <a:rPr lang="en-US" altLang="zh-CN" sz="4000" dirty="0" err="1"/>
              <a:t>jie</a:t>
            </a:r>
            <a:endParaRPr lang="zh-CN" altLang="en-US" sz="4000" dirty="0"/>
          </a:p>
          <a:p>
            <a:r>
              <a:rPr lang="en-US" altLang="zh-CN" sz="4000" b="1" dirty="0">
                <a:solidFill>
                  <a:schemeClr val="accent6"/>
                </a:solidFill>
              </a:rPr>
              <a:t>B</a:t>
            </a:r>
            <a:r>
              <a:rPr lang="zh-CN" altLang="en-US" sz="4000" dirty="0"/>
              <a:t>：</a:t>
            </a:r>
            <a:r>
              <a:rPr lang="en-US" altLang="zh-CN" sz="4000" dirty="0"/>
              <a:t>Yes, I do. He is very friendly.   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2240" y="142875"/>
            <a:ext cx="12049125" cy="6632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What’s this?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This is my watch.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Is your watch very expensive?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Yes, it is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really like your watch! It’s very beautiful. 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Thank you. I really like my watch too.</a:t>
            </a:r>
          </a:p>
          <a:p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 you have a watch?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I don’t/Yes, I do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Ok, I'd like to check the time/I want to see the time. </a:t>
            </a:r>
          </a:p>
          <a:p>
            <a:endParaRPr lang="en-US" altLang="zh-CN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2240" y="241300"/>
            <a:ext cx="11891645" cy="6449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3200" b="1" dirty="0">
              <a:solidFill>
                <a:srgbClr val="FF0000"/>
              </a:solidFill>
            </a:endParaRPr>
          </a:p>
          <a:p>
            <a:endParaRPr lang="en-US" altLang="zh-CN" sz="3200" b="1" dirty="0">
              <a:solidFill>
                <a:srgbClr val="FF0000"/>
              </a:solidFill>
            </a:endParaRP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 you swim in the morning</a:t>
            </a:r>
            <a:r>
              <a:rPr lang="zh-CN" altLang="en-US" sz="3200" dirty="0"/>
              <a:t>？  </a:t>
            </a:r>
            <a:r>
              <a:rPr lang="en-US" altLang="zh-CN" sz="3200" dirty="0"/>
              <a:t>Body = </a:t>
            </a:r>
            <a:r>
              <a:rPr lang="en-US" altLang="zh-CN" sz="3200" dirty="0" err="1"/>
              <a:t>shen</a:t>
            </a:r>
            <a:r>
              <a:rPr lang="en-US" altLang="zh-CN" sz="3200" dirty="0"/>
              <a:t> </a:t>
            </a:r>
            <a:r>
              <a:rPr lang="en-US" altLang="zh-CN" sz="3200" dirty="0" err="1"/>
              <a:t>ti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sz="3200" dirty="0"/>
              <a:t>No, I don’t. </a:t>
            </a:r>
            <a:r>
              <a:rPr lang="en-US" altLang="zh-CN" sz="3200" dirty="0"/>
              <a:t>I go mountain climbing in the </a:t>
            </a:r>
            <a:r>
              <a:rPr lang="en-US" altLang="zh-CN" sz="3200" dirty="0" err="1"/>
              <a:t>morning.I</a:t>
            </a:r>
            <a:r>
              <a:rPr lang="en-US" altLang="zh-CN" sz="3200" dirty="0"/>
              <a:t> swim in the evening. Swimming in the evening is good for your body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Shall we go swimming together in the</a:t>
            </a:r>
            <a:r>
              <a:rPr lang="zh-CN" altLang="en-US" sz="3200" dirty="0"/>
              <a:t> </a:t>
            </a:r>
            <a:r>
              <a:rPr lang="en-US" altLang="zh-CN" sz="3200" dirty="0"/>
              <a:t>evening?  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can't. I have a meeting tonight(in the evening).  Kai hui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What about Wednesday? Xing qi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have an exam on Wednesday evening. What about Sunday?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Sure/Ok. Sunday is fine.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1605" y="398780"/>
            <a:ext cx="11744960" cy="5962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A</a:t>
            </a:r>
            <a:r>
              <a:rPr lang="zh-CN" altLang="en-US" sz="3600" dirty="0"/>
              <a:t>：</a:t>
            </a:r>
            <a:r>
              <a:rPr lang="en-US" altLang="zh-CN" sz="3600" dirty="0"/>
              <a:t>what do you want to eat</a:t>
            </a:r>
            <a:r>
              <a:rPr lang="zh-CN" altLang="en-US" sz="3600" dirty="0"/>
              <a:t>？  </a:t>
            </a:r>
            <a:r>
              <a:rPr lang="en-US" altLang="zh-CN" sz="3600" dirty="0" err="1"/>
              <a:t>xiang</a:t>
            </a:r>
            <a:endParaRPr lang="en-US" altLang="zh-CN" sz="3600" dirty="0"/>
          </a:p>
          <a:p>
            <a:endParaRPr lang="zh-CN" altLang="en-US" sz="3600" dirty="0"/>
          </a:p>
          <a:p>
            <a:r>
              <a:rPr lang="en-US" altLang="zh-CN" sz="3600" b="1" dirty="0">
                <a:solidFill>
                  <a:schemeClr val="accent6"/>
                </a:solidFill>
              </a:rPr>
              <a:t>B</a:t>
            </a:r>
            <a:r>
              <a:rPr lang="zh-CN" altLang="en-US" sz="3600" dirty="0"/>
              <a:t>：</a:t>
            </a:r>
            <a:r>
              <a:rPr lang="en-US" altLang="zh-CN" sz="3600" dirty="0"/>
              <a:t>I feel like hotpot. How about you?   </a:t>
            </a:r>
          </a:p>
          <a:p>
            <a:r>
              <a:rPr lang="en-US" altLang="zh-CN" sz="3600" dirty="0"/>
              <a:t>                                                                            </a:t>
            </a:r>
          </a:p>
          <a:p>
            <a:r>
              <a:rPr lang="en-US" altLang="zh-CN" sz="3600" b="1" dirty="0">
                <a:solidFill>
                  <a:srgbClr val="FF0000"/>
                </a:solidFill>
              </a:rPr>
              <a:t>A</a:t>
            </a:r>
            <a:r>
              <a:rPr lang="zh-CN" altLang="en-US" sz="3600" dirty="0"/>
              <a:t>：</a:t>
            </a:r>
            <a:r>
              <a:rPr lang="en-US" altLang="zh-CN" sz="3600" dirty="0"/>
              <a:t>I ate hotpot yesterday, I don’t want to eat it now.</a:t>
            </a:r>
          </a:p>
          <a:p>
            <a:endParaRPr lang="en-US" altLang="zh-CN" sz="3600" b="1" dirty="0">
              <a:solidFill>
                <a:schemeClr val="accent6"/>
              </a:solidFill>
            </a:endParaRPr>
          </a:p>
          <a:p>
            <a:r>
              <a:rPr lang="en-US" altLang="zh-CN" sz="3600" b="1" dirty="0">
                <a:solidFill>
                  <a:schemeClr val="accent6"/>
                </a:solidFill>
              </a:rPr>
              <a:t>B</a:t>
            </a:r>
            <a:r>
              <a:rPr lang="zh-CN" altLang="en-US" sz="3600" dirty="0"/>
              <a:t>：</a:t>
            </a:r>
            <a:r>
              <a:rPr lang="en-US" altLang="zh-CN" sz="3600" dirty="0"/>
              <a:t>What do you want to eat</a:t>
            </a:r>
            <a:r>
              <a:rPr lang="zh-CN" altLang="en-US" sz="3600" dirty="0"/>
              <a:t>？</a:t>
            </a:r>
          </a:p>
          <a:p>
            <a:endParaRPr lang="zh-CN" altLang="en-US" sz="3600" dirty="0"/>
          </a:p>
          <a:p>
            <a:r>
              <a:rPr lang="en-US" altLang="zh-CN" sz="3600" b="1" dirty="0">
                <a:solidFill>
                  <a:srgbClr val="FF0000"/>
                </a:solidFill>
              </a:rPr>
              <a:t>A</a:t>
            </a:r>
            <a:r>
              <a:rPr lang="zh-CN" altLang="en-US" sz="3600" dirty="0"/>
              <a:t>：</a:t>
            </a:r>
            <a:r>
              <a:rPr lang="en-US" altLang="zh-CN" sz="3600" dirty="0"/>
              <a:t>I want to eat roast duck. 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5900" y="570865"/>
            <a:ext cx="11329035" cy="5777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4000" b="1" dirty="0">
              <a:solidFill>
                <a:srgbClr val="FF0000"/>
              </a:solidFill>
            </a:endParaRPr>
          </a:p>
          <a:p>
            <a:r>
              <a:rPr lang="en-US" altLang="zh-CN" sz="4000" b="1" dirty="0">
                <a:solidFill>
                  <a:srgbClr val="FF0000"/>
                </a:solidFill>
              </a:rPr>
              <a:t>A</a:t>
            </a:r>
            <a:r>
              <a:rPr lang="zh-CN" altLang="en-US" sz="4000" dirty="0"/>
              <a:t>：</a:t>
            </a:r>
            <a:r>
              <a:rPr lang="en-US" altLang="zh-CN" sz="4000" dirty="0"/>
              <a:t>Do you have time? Shall we go swimming together?</a:t>
            </a:r>
          </a:p>
          <a:p>
            <a:endParaRPr lang="zh-CN" altLang="en-US" sz="4000" dirty="0"/>
          </a:p>
          <a:p>
            <a:r>
              <a:rPr lang="en-US" altLang="zh-CN" sz="4000" b="1" dirty="0">
                <a:solidFill>
                  <a:schemeClr val="accent6"/>
                </a:solidFill>
              </a:rPr>
              <a:t>B</a:t>
            </a:r>
            <a:r>
              <a:rPr lang="zh-CN" altLang="en-US" sz="4000" dirty="0"/>
              <a:t>：</a:t>
            </a:r>
            <a:r>
              <a:rPr lang="en-US" altLang="zh-CN" sz="4000" dirty="0"/>
              <a:t>No, I have an exam. You go swimming on your own then.       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4940" y="144145"/>
            <a:ext cx="11841480" cy="6484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3200" dirty="0"/>
          </a:p>
          <a:p>
            <a:endParaRPr lang="en-US" altLang="zh-CN" sz="3200" b="1" dirty="0">
              <a:solidFill>
                <a:srgbClr val="FF0000"/>
              </a:solidFill>
            </a:endParaRP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What coffee do you drink?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drink milk coffee. What about you?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don’t drink coffee.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What do you drink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like Coke. Do you have Coke?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I don’t.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 you have hot water?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Yes, I do.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Great. I’ll drink hot water. Thank you.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3345" y="95250"/>
            <a:ext cx="11940540" cy="6679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Are you Chinese?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I'm American.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Your Chinese is very good.    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Thank you. Your Chinese is great too!     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What are your hobbies?  Xing </a:t>
            </a:r>
            <a:r>
              <a:rPr lang="en-US" altLang="zh-CN" sz="3200" dirty="0" err="1"/>
              <a:t>qu</a:t>
            </a:r>
            <a:r>
              <a:rPr lang="en-US" altLang="zh-CN" sz="3200" dirty="0"/>
              <a:t>      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like swimming. What about you?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can't swim. I like football/soccer.    Qiu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Does your school have a playground?  Xue xiao   </a:t>
            </a:r>
            <a:r>
              <a:rPr lang="en-US" altLang="zh-CN" sz="3200" dirty="0" err="1"/>
              <a:t>cao</a:t>
            </a:r>
            <a:r>
              <a:rPr lang="en-US" altLang="zh-CN" sz="3200" dirty="0"/>
              <a:t> chang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Yes, I do. What about yours?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I don't.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67640"/>
            <a:ext cx="12058015" cy="6510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3200" b="1" dirty="0">
              <a:solidFill>
                <a:srgbClr val="FF0000"/>
              </a:solidFill>
            </a:endParaRPr>
          </a:p>
          <a:p>
            <a:endParaRPr lang="en-US" altLang="zh-CN" sz="3200" b="1" dirty="0">
              <a:solidFill>
                <a:srgbClr val="FF0000"/>
              </a:solidFill>
            </a:endParaRP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What do you eat?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eat hotpot.</a:t>
            </a:r>
            <a:r>
              <a:rPr lang="zh-CN" altLang="en-US" sz="3200" dirty="0"/>
              <a:t>（</a:t>
            </a:r>
            <a:r>
              <a:rPr lang="en-US" altLang="zh-CN" sz="3200" dirty="0"/>
              <a:t>tense won’t be exactly right, suppose to be Present Continuous Tense)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Is it delicious?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Yes, it is. Let's eat it together.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No, thank you. I don't like hotpot.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What about fruit? Do you eat fruit? 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Yes, I do. Do you have bananas?   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Yes, I do have.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like bananas. Thank you!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0500" y="154940"/>
            <a:ext cx="11724640" cy="6523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Does your company get Saturday off?  Xiu xi </a:t>
            </a:r>
          </a:p>
          <a:p>
            <a:r>
              <a:rPr lang="en-US" altLang="zh-CN" sz="32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we don't. We are off on Sunday and Monday. We have a meeting on Saturday.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What do you discuss in the meeting?    Tao </a:t>
            </a:r>
            <a:r>
              <a:rPr lang="en-US" altLang="zh-CN" sz="3200" dirty="0" err="1"/>
              <a:t>lun</a:t>
            </a:r>
            <a:endParaRPr lang="en-US" altLang="zh-CN" sz="3200" dirty="0"/>
          </a:p>
          <a:p>
            <a:r>
              <a:rPr lang="en-US" altLang="zh-CN" sz="32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don't know.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Shall we go mountain climbing together on Sunday morning?</a:t>
            </a:r>
          </a:p>
          <a:p>
            <a:r>
              <a:rPr lang="en-US" altLang="zh-CN" sz="32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I can't. I have class on Sunday morning.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What class?</a:t>
            </a:r>
          </a:p>
          <a:p>
            <a:r>
              <a:rPr lang="en-US" altLang="zh-CN" sz="32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Chinese class.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What about in the evening?</a:t>
            </a:r>
          </a:p>
          <a:p>
            <a:r>
              <a:rPr lang="en-US" altLang="zh-CN" sz="32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Yes, that's fine.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3835" y="143510"/>
            <a:ext cx="11781155" cy="6412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 you have a daughter?</a:t>
            </a:r>
          </a:p>
          <a:p>
            <a:r>
              <a:rPr lang="zh-CN" altLang="en-US" sz="3200" dirty="0"/>
              <a:t>                          </a:t>
            </a:r>
            <a:r>
              <a:rPr lang="en-US" altLang="zh-CN" sz="3200" dirty="0"/>
              <a:t>er zi</a:t>
            </a:r>
            <a:endParaRPr lang="zh-CN" altLang="en-US" sz="3200" dirty="0"/>
          </a:p>
          <a:p>
            <a:r>
              <a:rPr lang="en-US" altLang="zh-CN" sz="32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I have a son. What about you?  </a:t>
            </a:r>
          </a:p>
          <a:p>
            <a:r>
              <a:rPr lang="en-US" altLang="zh-CN" sz="3200" dirty="0"/>
              <a:t>                                              </a:t>
            </a:r>
            <a:r>
              <a:rPr lang="en-US" altLang="zh-CN" sz="3200" dirty="0" err="1"/>
              <a:t>jie</a:t>
            </a:r>
            <a:r>
              <a:rPr lang="en-US" altLang="zh-CN" sz="3200" dirty="0"/>
              <a:t> 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don't have a son. My older sister has a son. I have a daughter. My daughter is very beautiful.</a:t>
            </a:r>
          </a:p>
          <a:p>
            <a:r>
              <a:rPr lang="en-US" altLang="zh-CN" sz="32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My younger brother has a daughter, and she is also very beautiful.     di </a:t>
            </a:r>
            <a:r>
              <a:rPr lang="en-US" altLang="zh-CN" sz="3200" dirty="0" err="1"/>
              <a:t>di</a:t>
            </a:r>
            <a:endParaRPr lang="en-US" altLang="zh-CN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Is this your house?     fang zi</a:t>
            </a:r>
          </a:p>
          <a:p>
            <a:endParaRPr lang="en-US" altLang="zh-CN" sz="3200" dirty="0"/>
          </a:p>
          <a:p>
            <a:r>
              <a:rPr lang="en-US" altLang="zh-CN" sz="32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it is my sister's house.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5900" y="289560"/>
            <a:ext cx="11646535" cy="6473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 sz="4000" dirty="0">
                <a:sym typeface="+mn-ea"/>
              </a:rPr>
              <a:t>：</a:t>
            </a:r>
            <a:r>
              <a:rPr lang="en-US" altLang="zh-CN" sz="4000" dirty="0">
                <a:sym typeface="+mn-ea"/>
              </a:rPr>
              <a:t>Your French grammar is very good.</a:t>
            </a:r>
          </a:p>
          <a:p>
            <a:r>
              <a:rPr lang="zh-CN" altLang="en-US" sz="4000" dirty="0">
                <a:sym typeface="+mn-ea"/>
              </a:rPr>
              <a:t>              </a:t>
            </a:r>
            <a:r>
              <a:rPr lang="en-US" altLang="zh-CN" sz="4000" dirty="0">
                <a:sym typeface="+mn-ea"/>
              </a:rPr>
              <a:t>fa </a:t>
            </a:r>
            <a:r>
              <a:rPr lang="en-US" altLang="zh-CN" sz="4000" dirty="0" err="1">
                <a:sym typeface="+mn-ea"/>
              </a:rPr>
              <a:t>yu</a:t>
            </a:r>
            <a:r>
              <a:rPr lang="en-US" altLang="zh-CN" sz="4000" dirty="0">
                <a:sym typeface="+mn-ea"/>
              </a:rPr>
              <a:t>      </a:t>
            </a:r>
            <a:r>
              <a:rPr lang="en-US" altLang="zh-CN" sz="4000" dirty="0" err="1">
                <a:sym typeface="+mn-ea"/>
              </a:rPr>
              <a:t>yu</a:t>
            </a:r>
            <a:r>
              <a:rPr lang="en-US" altLang="zh-CN" sz="4000" dirty="0">
                <a:sym typeface="+mn-ea"/>
              </a:rPr>
              <a:t> fa </a:t>
            </a:r>
            <a:endParaRPr lang="zh-CN" altLang="en-US" sz="4000" dirty="0">
              <a:sym typeface="+mn-ea"/>
            </a:endParaRPr>
          </a:p>
          <a:p>
            <a:r>
              <a:rPr lang="en-US" altLang="zh-CN" sz="40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B</a:t>
            </a:r>
            <a:r>
              <a:rPr lang="zh-CN" altLang="en-US" sz="4000" dirty="0">
                <a:sym typeface="+mn-ea"/>
              </a:rPr>
              <a:t>：</a:t>
            </a:r>
            <a:r>
              <a:rPr lang="en-US" altLang="zh-CN" sz="4000" dirty="0">
                <a:sym typeface="+mn-ea"/>
              </a:rPr>
              <a:t>Thank you. </a:t>
            </a:r>
          </a:p>
          <a:p>
            <a:endParaRPr lang="en-US" altLang="zh-CN" sz="4000" b="1" dirty="0">
              <a:solidFill>
                <a:srgbClr val="FF0000"/>
              </a:solidFill>
              <a:sym typeface="+mn-ea"/>
            </a:endParaRPr>
          </a:p>
          <a:p>
            <a:r>
              <a:rPr lang="en-US" altLang="zh-CN" sz="4000" b="1" dirty="0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 sz="4000" dirty="0">
                <a:sym typeface="+mn-ea"/>
              </a:rPr>
              <a:t>：</a:t>
            </a:r>
            <a:r>
              <a:rPr lang="en-US" altLang="zh-CN" sz="4000" dirty="0">
                <a:sym typeface="+mn-ea"/>
              </a:rPr>
              <a:t>Can you tutor me?   fu dao/ jiao    </a:t>
            </a:r>
          </a:p>
          <a:p>
            <a:endParaRPr lang="zh-CN" altLang="en-US" sz="4000" dirty="0"/>
          </a:p>
          <a:p>
            <a:r>
              <a:rPr lang="en-US" altLang="zh-CN" sz="40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B</a:t>
            </a:r>
            <a:r>
              <a:rPr lang="zh-CN" altLang="en-US" sz="4000" dirty="0">
                <a:sym typeface="+mn-ea"/>
              </a:rPr>
              <a:t>：</a:t>
            </a:r>
            <a:r>
              <a:rPr lang="en-US" altLang="zh-CN" sz="4000" dirty="0">
                <a:sym typeface="+mn-ea"/>
              </a:rPr>
              <a:t>No, I can't. I don't have time. Sorry.</a:t>
            </a:r>
          </a:p>
          <a:p>
            <a:r>
              <a:rPr lang="en-US" altLang="zh-CN" sz="4000" dirty="0">
                <a:sym typeface="+mn-ea"/>
              </a:rPr>
              <a:t>                                           </a:t>
            </a:r>
            <a:r>
              <a:rPr lang="en-US" altLang="zh-CN" sz="4000" dirty="0" err="1">
                <a:sym typeface="+mn-ea"/>
              </a:rPr>
              <a:t>shi</a:t>
            </a:r>
            <a:r>
              <a:rPr lang="en-US" altLang="zh-CN" sz="4000" dirty="0">
                <a:sym typeface="+mn-ea"/>
              </a:rPr>
              <a:t> </a:t>
            </a:r>
            <a:r>
              <a:rPr lang="en-US" altLang="zh-CN" sz="4000" dirty="0" err="1">
                <a:sym typeface="+mn-ea"/>
              </a:rPr>
              <a:t>jian</a:t>
            </a:r>
            <a:r>
              <a:rPr lang="en-US" altLang="zh-CN" sz="4000" dirty="0">
                <a:sym typeface="+mn-ea"/>
              </a:rPr>
              <a:t> </a:t>
            </a:r>
          </a:p>
          <a:p>
            <a:r>
              <a:rPr lang="en-US" altLang="zh-CN" sz="4000" b="1" dirty="0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 sz="4000" dirty="0">
                <a:sym typeface="+mn-ea"/>
              </a:rPr>
              <a:t>：</a:t>
            </a:r>
            <a:r>
              <a:rPr lang="en-US" altLang="zh-CN" sz="4000" dirty="0">
                <a:sym typeface="+mn-ea"/>
              </a:rPr>
              <a:t>It's okay.</a:t>
            </a:r>
            <a:endParaRPr lang="en-US" altLang="zh-CN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2240" y="229870"/>
            <a:ext cx="11976735" cy="6118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 sz="3600" dirty="0">
                <a:sym typeface="+mn-ea"/>
              </a:rPr>
              <a:t>：</a:t>
            </a:r>
            <a:r>
              <a:rPr lang="en-US" altLang="zh-CN" sz="3600" dirty="0">
                <a:sym typeface="+mn-ea"/>
              </a:rPr>
              <a:t>Your Chinese is very good.  </a:t>
            </a:r>
          </a:p>
          <a:p>
            <a:endParaRPr lang="zh-CN" altLang="en-US" sz="3600" dirty="0">
              <a:sym typeface="+mn-ea"/>
            </a:endParaRPr>
          </a:p>
          <a:p>
            <a:r>
              <a:rPr lang="en-US" altLang="zh-CN" sz="36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B</a:t>
            </a:r>
            <a:r>
              <a:rPr lang="zh-CN" altLang="en-US" sz="3600" dirty="0">
                <a:sym typeface="+mn-ea"/>
              </a:rPr>
              <a:t>：</a:t>
            </a:r>
            <a:r>
              <a:rPr lang="en-US" altLang="zh-CN" sz="3600" dirty="0">
                <a:sym typeface="+mn-ea"/>
              </a:rPr>
              <a:t>Thank you.</a:t>
            </a:r>
          </a:p>
          <a:p>
            <a:endParaRPr lang="zh-CN" altLang="en-US" sz="3600" dirty="0"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 sz="3600" dirty="0">
                <a:sym typeface="+mn-ea"/>
              </a:rPr>
              <a:t>：</a:t>
            </a:r>
            <a:r>
              <a:rPr lang="en-US" altLang="zh-CN" sz="3600" dirty="0">
                <a:sym typeface="+mn-ea"/>
              </a:rPr>
              <a:t>Can you tutor me?</a:t>
            </a:r>
          </a:p>
          <a:p>
            <a:endParaRPr lang="en-US" altLang="zh-CN" sz="3600" dirty="0">
              <a:sym typeface="+mn-ea"/>
            </a:endParaRPr>
          </a:p>
          <a:p>
            <a:r>
              <a:rPr lang="en-US" altLang="zh-CN" sz="36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B</a:t>
            </a:r>
            <a:r>
              <a:rPr lang="zh-CN" altLang="en-US" sz="3600" dirty="0">
                <a:sym typeface="+mn-ea"/>
              </a:rPr>
              <a:t>：</a:t>
            </a:r>
            <a:r>
              <a:rPr lang="en-US" altLang="zh-CN" sz="3600" dirty="0">
                <a:sym typeface="+mn-ea"/>
              </a:rPr>
              <a:t>Sure, no problem.       Thank you for helping me </a:t>
            </a:r>
          </a:p>
          <a:p>
            <a:endParaRPr lang="en-US" altLang="zh-CN" sz="3600" dirty="0"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 sz="3600" dirty="0">
                <a:sym typeface="+mn-ea"/>
              </a:rPr>
              <a:t>：</a:t>
            </a:r>
            <a:r>
              <a:rPr lang="en-US" altLang="zh-CN" sz="3600" dirty="0">
                <a:sym typeface="+mn-ea"/>
              </a:rPr>
              <a:t>Thanks for your help.  Help = bang </a:t>
            </a:r>
            <a:r>
              <a:rPr lang="en-US" altLang="zh-CN" sz="3600" dirty="0" err="1">
                <a:sym typeface="+mn-ea"/>
              </a:rPr>
              <a:t>mang</a:t>
            </a:r>
            <a:r>
              <a:rPr lang="en-US" altLang="zh-CN" sz="3600" dirty="0">
                <a:sym typeface="+mn-ea"/>
              </a:rPr>
              <a:t>/</a:t>
            </a:r>
            <a:r>
              <a:rPr lang="en-US" altLang="zh-CN" sz="3600" dirty="0" err="1">
                <a:sym typeface="+mn-ea"/>
              </a:rPr>
              <a:t>zhu</a:t>
            </a:r>
            <a:endParaRPr lang="en-US" altLang="zh-CN" sz="3600" dirty="0">
              <a:sym typeface="+mn-ea"/>
            </a:endParaRPr>
          </a:p>
          <a:p>
            <a:endParaRPr lang="zh-CN" altLang="en-US" sz="3600" dirty="0">
              <a:sym typeface="+mn-ea"/>
            </a:endParaRPr>
          </a:p>
          <a:p>
            <a:r>
              <a:rPr lang="en-US" altLang="zh-CN" sz="36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B</a:t>
            </a:r>
            <a:r>
              <a:rPr lang="zh-CN" altLang="en-US" sz="3600" dirty="0">
                <a:sym typeface="+mn-ea"/>
              </a:rPr>
              <a:t>：</a:t>
            </a:r>
            <a:r>
              <a:rPr lang="en-US" altLang="zh-CN" sz="3600" dirty="0"/>
              <a:t>You're welcome.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9415" y="277495"/>
            <a:ext cx="10998200" cy="5826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3200" dirty="0">
              <a:sym typeface="+mn-ea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 sz="3200" dirty="0">
                <a:sym typeface="+mn-ea"/>
              </a:rPr>
              <a:t>：</a:t>
            </a:r>
            <a:r>
              <a:rPr lang="en-US" altLang="zh-CN" sz="3200" dirty="0"/>
              <a:t>Do you have any little brothers?   </a:t>
            </a:r>
          </a:p>
          <a:p>
            <a:endParaRPr lang="zh-CN" altLang="en-US" sz="3200" dirty="0"/>
          </a:p>
          <a:p>
            <a:r>
              <a:rPr lang="en-US" altLang="zh-CN" sz="32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B</a:t>
            </a:r>
            <a:r>
              <a:rPr lang="zh-CN" altLang="en-US" sz="3200" dirty="0">
                <a:sym typeface="+mn-ea"/>
              </a:rPr>
              <a:t>：</a:t>
            </a:r>
            <a:r>
              <a:rPr lang="en-US" altLang="zh-CN" sz="3200" dirty="0"/>
              <a:t>No, I have an elder sister.</a:t>
            </a:r>
          </a:p>
          <a:p>
            <a:endParaRPr lang="zh-CN" altLang="en-US" sz="3200" dirty="0"/>
          </a:p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 sz="3200" dirty="0">
                <a:sym typeface="+mn-ea"/>
              </a:rPr>
              <a:t>：</a:t>
            </a:r>
            <a:r>
              <a:rPr lang="en-US" altLang="zh-CN" sz="3200" dirty="0"/>
              <a:t>How are your parents? how are you =</a:t>
            </a:r>
            <a:r>
              <a:rPr lang="en-US" altLang="zh-CN" sz="3200" dirty="0" err="1"/>
              <a:t>ni</a:t>
            </a:r>
            <a:r>
              <a:rPr lang="en-US" altLang="zh-CN" sz="3200" dirty="0"/>
              <a:t> hao ma</a:t>
            </a:r>
          </a:p>
          <a:p>
            <a:endParaRPr lang="zh-CN" altLang="en-US" sz="3200" dirty="0"/>
          </a:p>
          <a:p>
            <a:r>
              <a:rPr lang="en-US" altLang="zh-CN" sz="3200" b="1" dirty="0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B</a:t>
            </a:r>
            <a:r>
              <a:rPr lang="zh-CN" altLang="en-US" sz="3200" dirty="0">
                <a:sym typeface="+mn-ea"/>
              </a:rPr>
              <a:t>：</a:t>
            </a:r>
            <a:r>
              <a:rPr lang="en-US" altLang="zh-CN" sz="3200" dirty="0"/>
              <a:t>They are very well, thank you. How is your grandfather?</a:t>
            </a:r>
          </a:p>
          <a:p>
            <a:endParaRPr lang="en-US" altLang="zh-CN" sz="3200" b="1" dirty="0">
              <a:solidFill>
                <a:srgbClr val="FF0000"/>
              </a:solidFill>
              <a:sym typeface="+mn-ea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 sz="3200" dirty="0">
                <a:sym typeface="+mn-ea"/>
              </a:rPr>
              <a:t>：</a:t>
            </a:r>
            <a:r>
              <a:rPr lang="en-US" altLang="zh-CN" sz="3200" dirty="0"/>
              <a:t>He is also very well, thank you!</a:t>
            </a:r>
          </a:p>
          <a:p>
            <a:endParaRPr lang="zh-CN" alt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38200" y="694055"/>
            <a:ext cx="10438765" cy="53733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dirty="0">
                <a:sym typeface="+mn-ea"/>
              </a:rPr>
              <a:t>1. </a:t>
            </a:r>
            <a:r>
              <a:rPr lang="en-US" altLang="zh-CN" sz="3600" dirty="0"/>
              <a:t>Does Beijing have pandas?  </a:t>
            </a:r>
          </a:p>
          <a:p>
            <a:endParaRPr lang="en-US" altLang="zh-CN" sz="3600" dirty="0"/>
          </a:p>
          <a:p>
            <a:r>
              <a:rPr lang="en-US" altLang="zh-CN" sz="3600" dirty="0">
                <a:sym typeface="+mn-ea"/>
              </a:rPr>
              <a:t>2. </a:t>
            </a:r>
            <a:r>
              <a:rPr lang="en-US" altLang="zh-CN" sz="3600" dirty="0"/>
              <a:t>Does Beijing have an airport?   </a:t>
            </a:r>
          </a:p>
          <a:p>
            <a:endParaRPr lang="en-US" altLang="zh-CN" sz="3600" dirty="0"/>
          </a:p>
          <a:p>
            <a:r>
              <a:rPr lang="en-US" altLang="zh-CN" sz="3600" dirty="0">
                <a:sym typeface="+mn-ea"/>
              </a:rPr>
              <a:t>3. Does she have a fridge?     </a:t>
            </a:r>
            <a:r>
              <a:rPr lang="en-US" altLang="zh-CN" sz="3600" dirty="0" err="1">
                <a:sym typeface="+mn-ea"/>
              </a:rPr>
              <a:t>bing</a:t>
            </a:r>
            <a:r>
              <a:rPr lang="en-US" altLang="zh-CN" sz="3600" dirty="0">
                <a:sym typeface="+mn-ea"/>
              </a:rPr>
              <a:t> </a:t>
            </a:r>
            <a:r>
              <a:rPr lang="en-US" altLang="zh-CN" sz="3600" dirty="0" err="1">
                <a:sym typeface="+mn-ea"/>
              </a:rPr>
              <a:t>xiang</a:t>
            </a:r>
            <a:r>
              <a:rPr lang="en-US" altLang="zh-CN" sz="3600" dirty="0">
                <a:sym typeface="+mn-ea"/>
              </a:rPr>
              <a:t> </a:t>
            </a:r>
          </a:p>
          <a:p>
            <a:endParaRPr lang="zh-CN" altLang="en-US" sz="3600" dirty="0"/>
          </a:p>
          <a:p>
            <a:r>
              <a:rPr lang="en-US" altLang="zh-CN" sz="3600" dirty="0">
                <a:sym typeface="+mn-ea"/>
              </a:rPr>
              <a:t>4. </a:t>
            </a:r>
            <a:r>
              <a:rPr lang="en-US" altLang="zh-CN" sz="3600" dirty="0"/>
              <a:t>Do you have an umbrella?</a:t>
            </a:r>
          </a:p>
          <a:p>
            <a:endParaRPr lang="en-US" altLang="zh-CN" sz="3600" dirty="0"/>
          </a:p>
          <a:p>
            <a:r>
              <a:rPr lang="en-US" altLang="zh-CN" sz="3600" dirty="0">
                <a:sym typeface="+mn-ea"/>
              </a:rPr>
              <a:t>5. </a:t>
            </a:r>
            <a:r>
              <a:rPr lang="en-US" altLang="zh-CN" sz="3600" dirty="0"/>
              <a:t>Do you have headphones?     </a:t>
            </a:r>
          </a:p>
          <a:p>
            <a:endParaRPr lang="zh-CN" alt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7095" y="510540"/>
            <a:ext cx="10401300" cy="5739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dirty="0">
                <a:sym typeface="+mn-ea"/>
              </a:rPr>
              <a:t>1. You are very healthy.      </a:t>
            </a:r>
          </a:p>
          <a:p>
            <a:r>
              <a:rPr lang="zh-CN" altLang="en-US" sz="3600" dirty="0"/>
              <a:t> </a:t>
            </a:r>
          </a:p>
          <a:p>
            <a:r>
              <a:rPr lang="en-US" altLang="zh-CN" sz="3600" dirty="0">
                <a:sym typeface="+mn-ea"/>
              </a:rPr>
              <a:t>2. What dishes do you like eating?</a:t>
            </a:r>
          </a:p>
          <a:p>
            <a:endParaRPr lang="zh-CN" altLang="en-US" sz="3600" dirty="0"/>
          </a:p>
          <a:p>
            <a:r>
              <a:rPr lang="en-US" altLang="zh-CN" sz="3600" dirty="0">
                <a:sym typeface="+mn-ea"/>
              </a:rPr>
              <a:t>3. Your house is very beautiful.</a:t>
            </a:r>
          </a:p>
          <a:p>
            <a:endParaRPr lang="zh-CN" altLang="en-US" sz="3600" dirty="0"/>
          </a:p>
          <a:p>
            <a:r>
              <a:rPr lang="en-US" altLang="zh-CN" sz="3600" dirty="0">
                <a:sym typeface="+mn-ea"/>
              </a:rPr>
              <a:t>4. Your daughter's clothes are very beautiful.</a:t>
            </a:r>
          </a:p>
          <a:p>
            <a:endParaRPr lang="zh-CN" altLang="en-US" sz="3600" dirty="0"/>
          </a:p>
          <a:p>
            <a:r>
              <a:rPr lang="en-US" altLang="zh-CN" sz="3600" dirty="0">
                <a:sym typeface="+mn-ea"/>
              </a:rPr>
              <a:t>5. </a:t>
            </a:r>
            <a:r>
              <a:rPr lang="en-US" altLang="zh-CN" sz="3600" dirty="0"/>
              <a:t>Your residential community/neighborhood is very beautiful.   xiao </a:t>
            </a:r>
            <a:r>
              <a:rPr lang="en-US" altLang="zh-CN" sz="3600" dirty="0" err="1"/>
              <a:t>qu</a:t>
            </a:r>
            <a:r>
              <a:rPr lang="en-US" altLang="zh-CN" sz="3600" dirty="0"/>
              <a:t>  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7675" y="460375"/>
            <a:ext cx="11243945" cy="5972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200" dirty="0"/>
              <a:t>Our country has newspapers.      Newspaper=bao </a:t>
            </a:r>
            <a:r>
              <a:rPr lang="en-US" altLang="zh-CN" sz="3200" dirty="0" err="1"/>
              <a:t>zhi</a:t>
            </a:r>
            <a:endParaRPr lang="en-US" altLang="zh-CN" sz="3200" dirty="0"/>
          </a:p>
          <a:p>
            <a:r>
              <a:rPr lang="en-US" altLang="zh-CN" sz="3200" dirty="0"/>
              <a:t>                                                  </a:t>
            </a:r>
          </a:p>
          <a:p>
            <a:r>
              <a:rPr lang="en-US" altLang="zh-CN" sz="3200" dirty="0">
                <a:sym typeface="+mn-ea"/>
              </a:rPr>
              <a:t>2. Cats like eating fish.</a:t>
            </a:r>
          </a:p>
          <a:p>
            <a:endParaRPr lang="zh-CN" altLang="en-US" sz="3200" dirty="0">
              <a:sym typeface="+mn-ea"/>
            </a:endParaRPr>
          </a:p>
          <a:p>
            <a:r>
              <a:rPr lang="en-US" altLang="zh-CN" sz="3200" dirty="0">
                <a:sym typeface="+mn-ea"/>
              </a:rPr>
              <a:t>3. </a:t>
            </a:r>
            <a:r>
              <a:rPr lang="en-US" altLang="zh-CN" sz="3200" dirty="0"/>
              <a:t>I am in good health.</a:t>
            </a:r>
          </a:p>
          <a:p>
            <a:endParaRPr lang="zh-CN" altLang="en-US" sz="3200" dirty="0"/>
          </a:p>
          <a:p>
            <a:endParaRPr lang="zh-CN" altLang="en-US" sz="3200" dirty="0"/>
          </a:p>
          <a:p>
            <a:endParaRPr lang="zh-CN" altLang="en-US" sz="3200" dirty="0"/>
          </a:p>
          <a:p>
            <a:r>
              <a:rPr lang="en-US" altLang="zh-CN" sz="3200" dirty="0">
                <a:sym typeface="+mn-ea"/>
              </a:rPr>
              <a:t>A. </a:t>
            </a:r>
            <a:r>
              <a:rPr lang="en-US" altLang="zh-CN" sz="3200" dirty="0"/>
              <a:t>Is this your clothes?       This</a:t>
            </a:r>
          </a:p>
          <a:p>
            <a:r>
              <a:rPr lang="en-US" altLang="zh-CN" sz="3200" dirty="0">
                <a:sym typeface="+mn-ea"/>
              </a:rPr>
              <a:t>B. </a:t>
            </a:r>
            <a:r>
              <a:rPr lang="en-US" altLang="zh-CN" sz="3200" dirty="0"/>
              <a:t>No, my clothes are blue.   Blue – lan se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0230" y="400685"/>
            <a:ext cx="11036300" cy="5887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/>
              <a:t>1. Fish doesn’t taste good, I don’t eat fish.</a:t>
            </a:r>
          </a:p>
          <a:p>
            <a:endParaRPr lang="en-US" altLang="zh-CN" sz="3200" dirty="0"/>
          </a:p>
          <a:p>
            <a:pPr marL="0" indent="0">
              <a:buNone/>
            </a:pPr>
            <a:r>
              <a:rPr lang="en-US" altLang="zh-CN" sz="3200" dirty="0"/>
              <a:t>2. Coke doesn’t taste good, I don’t drink Coke. </a:t>
            </a:r>
          </a:p>
          <a:p>
            <a:pPr marL="0" indent="0">
              <a:buNone/>
            </a:pPr>
            <a:endParaRPr lang="en-US" altLang="zh-CN" sz="3200" dirty="0"/>
          </a:p>
          <a:p>
            <a:pPr marL="0" indent="0">
              <a:buNone/>
            </a:pPr>
            <a:r>
              <a:rPr lang="en-US" altLang="zh-CN" sz="3200" dirty="0"/>
              <a:t>3. I don't want to climb mountains, and I don't want to swim either.   </a:t>
            </a:r>
          </a:p>
          <a:p>
            <a:pPr marL="0" indent="0">
              <a:buNone/>
            </a:pPr>
            <a:endParaRPr lang="en-US" altLang="zh-CN" sz="3200" dirty="0"/>
          </a:p>
          <a:p>
            <a:pPr marL="0" indent="0">
              <a:buNone/>
            </a:pPr>
            <a:r>
              <a:rPr lang="en-US" altLang="zh-CN" sz="3200" dirty="0"/>
              <a:t>4. I’m in poor health, so I can't drink alcohol. (or I'm not feeling well)</a:t>
            </a:r>
          </a:p>
          <a:p>
            <a:pPr marL="0" indent="0">
              <a:buNone/>
            </a:pPr>
            <a:endParaRPr lang="en-US" altLang="zh-CN" sz="3200" dirty="0"/>
          </a:p>
          <a:p>
            <a:pPr marL="0" indent="0">
              <a:buNone/>
            </a:pPr>
            <a:r>
              <a:rPr lang="en-US" altLang="zh-CN" sz="3200" dirty="0"/>
              <a:t>5. It won't work. Read the Pinyin after me.  follow = gen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1335" y="207818"/>
            <a:ext cx="11059795" cy="674162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/>
              <a:t>1.  I don't want to have class. I want to rest.</a:t>
            </a:r>
          </a:p>
          <a:p>
            <a:endParaRPr lang="en-US" altLang="zh-CN" sz="3200" dirty="0"/>
          </a:p>
          <a:p>
            <a:r>
              <a:rPr lang="en-US" altLang="zh-CN" sz="3200" dirty="0"/>
              <a:t>2.  You can't read Chinese characters. Read after me.</a:t>
            </a:r>
          </a:p>
          <a:p>
            <a:endParaRPr lang="en-US" altLang="zh-CN" sz="3200" dirty="0"/>
          </a:p>
          <a:p>
            <a:r>
              <a:rPr lang="en-US" altLang="zh-CN" sz="3200" dirty="0"/>
              <a:t>3.  I am not a teacher. I am a student.</a:t>
            </a:r>
          </a:p>
          <a:p>
            <a:endParaRPr lang="en-US" altLang="zh-CN" sz="3200" dirty="0"/>
          </a:p>
          <a:p>
            <a:pPr marL="514350" indent="-514350">
              <a:buAutoNum type="arabicPeriod" startAt="4"/>
            </a:pPr>
            <a:r>
              <a:rPr lang="en-US" altLang="zh-CN" sz="3200" dirty="0"/>
              <a:t>This is not my watch. Is it yours? </a:t>
            </a:r>
          </a:p>
          <a:p>
            <a:endParaRPr lang="en-US" altLang="zh-CN" sz="3200" dirty="0"/>
          </a:p>
          <a:p>
            <a:pPr marL="514350" indent="-514350">
              <a:buAutoNum type="arabicPeriod" startAt="4"/>
            </a:pPr>
            <a:r>
              <a:rPr lang="en-US" altLang="zh-CN" sz="3200" dirty="0"/>
              <a:t>Yesterday wasn’t Sunday</a:t>
            </a:r>
          </a:p>
          <a:p>
            <a:endParaRPr lang="en-US" altLang="zh-CN" sz="3200" dirty="0"/>
          </a:p>
          <a:p>
            <a:r>
              <a:rPr lang="en-US" altLang="zh-CN" sz="3200" dirty="0"/>
              <a:t>5.  Hot pot is not good. I don’t want to eat it.</a:t>
            </a:r>
          </a:p>
          <a:p>
            <a:endParaRPr lang="en-US" altLang="zh-CN" sz="3200" dirty="0"/>
          </a:p>
          <a:p>
            <a:r>
              <a:rPr lang="en-US" altLang="zh-CN" sz="3200" dirty="0"/>
              <a:t>6. Not now. Let's have class now. It’s ok after class.</a:t>
            </a:r>
            <a:r>
              <a:rPr lang="en-US" altLang="zh-CN" dirty="0"/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6570" y="534035"/>
            <a:ext cx="11121390" cy="5631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200" dirty="0"/>
              <a:t>I don't want to play basketball. I want to rest.   </a:t>
            </a:r>
            <a:r>
              <a:rPr lang="en-US" altLang="zh-CN" sz="3200" dirty="0" err="1"/>
              <a:t>ti</a:t>
            </a:r>
            <a:r>
              <a:rPr lang="en-US" altLang="zh-CN" sz="3200" dirty="0"/>
              <a:t>     </a:t>
            </a:r>
            <a:r>
              <a:rPr lang="en-US" altLang="zh-CN" sz="3200" dirty="0" err="1"/>
              <a:t>cai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2. My daughter likes to eat fish, she doesn’t eat vegetables.</a:t>
            </a:r>
          </a:p>
          <a:p>
            <a:r>
              <a:rPr lang="en-US" altLang="zh-CN" sz="3200" dirty="0"/>
              <a:t>                                 di </a:t>
            </a:r>
            <a:r>
              <a:rPr lang="en-US" altLang="zh-CN" sz="3200" dirty="0" err="1"/>
              <a:t>tu</a:t>
            </a:r>
            <a:endParaRPr lang="en-US" altLang="zh-CN" sz="3200" dirty="0"/>
          </a:p>
          <a:p>
            <a:r>
              <a:rPr lang="en-US" altLang="zh-CN" sz="3200" dirty="0"/>
              <a:t>3. I don't look at the map. I know it by myself.  </a:t>
            </a:r>
          </a:p>
          <a:p>
            <a:endParaRPr lang="en-US" altLang="zh-CN" sz="3200" dirty="0"/>
          </a:p>
          <a:p>
            <a:r>
              <a:rPr lang="en-US" altLang="zh-CN" sz="3200" dirty="0"/>
              <a:t>4. My health is poor. I can't drink alcohol.</a:t>
            </a:r>
          </a:p>
          <a:p>
            <a:r>
              <a:rPr lang="en-US" altLang="zh-CN" sz="3200" dirty="0"/>
              <a:t>            </a:t>
            </a:r>
          </a:p>
          <a:p>
            <a:r>
              <a:rPr lang="en-US" altLang="zh-CN" sz="3200" dirty="0"/>
              <a:t>5. Your oral Chinese is very good.   </a:t>
            </a:r>
          </a:p>
          <a:p>
            <a:r>
              <a:rPr lang="en-US" altLang="zh-CN" sz="3200" dirty="0"/>
              <a:t>             </a:t>
            </a:r>
            <a:r>
              <a:rPr lang="en-US" altLang="zh-CN" sz="3200" dirty="0" err="1"/>
              <a:t>kou</a:t>
            </a:r>
            <a:r>
              <a:rPr lang="en-US" altLang="zh-CN" sz="3200" dirty="0"/>
              <a:t> </a:t>
            </a:r>
            <a:r>
              <a:rPr lang="en-US" altLang="zh-CN" sz="3200" dirty="0" err="1"/>
              <a:t>yu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8490" y="621030"/>
            <a:ext cx="10681970" cy="5190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/>
              <a:t>Dialogue:</a:t>
            </a:r>
          </a:p>
          <a:p>
            <a:r>
              <a:rPr lang="en-US" altLang="zh-CN" sz="3200" dirty="0"/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 you want to climb mountains?</a:t>
            </a:r>
          </a:p>
          <a:p>
            <a:endParaRPr lang="en-US" altLang="zh-CN" sz="3200" dirty="0"/>
          </a:p>
          <a:p>
            <a:r>
              <a:rPr lang="en-US" altLang="zh-CN" sz="3200" dirty="0"/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don't want to climb mountains.   San </a:t>
            </a:r>
            <a:r>
              <a:rPr lang="en-US" altLang="zh-CN" sz="3200" dirty="0" err="1"/>
              <a:t>shan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What about swim? </a:t>
            </a:r>
          </a:p>
          <a:p>
            <a:endParaRPr lang="en-US" altLang="zh-CN" sz="3200" dirty="0"/>
          </a:p>
          <a:p>
            <a:r>
              <a:rPr lang="en-US" altLang="zh-CN" sz="3200" dirty="0"/>
              <a:t>B</a:t>
            </a:r>
            <a:r>
              <a:rPr lang="zh-CN" altLang="en-US" sz="3200" dirty="0"/>
              <a:t>：</a:t>
            </a:r>
            <a:r>
              <a:rPr lang="en-US" sz="3200" dirty="0"/>
              <a:t>I can’t swim, Can you?</a:t>
            </a:r>
          </a:p>
          <a:p>
            <a:endParaRPr lang="en-US" altLang="zh-CN" sz="3200" dirty="0"/>
          </a:p>
          <a:p>
            <a:r>
              <a:rPr lang="en-US" altLang="zh-CN" sz="3200" dirty="0"/>
              <a:t>B</a:t>
            </a:r>
            <a:r>
              <a:rPr lang="zh-CN" altLang="en-US" sz="3200" dirty="0"/>
              <a:t>：</a:t>
            </a:r>
            <a:r>
              <a:rPr lang="en-US" sz="3200" dirty="0"/>
              <a:t>I can.</a:t>
            </a:r>
            <a:endParaRPr lang="en-US" altLang="zh-CN" sz="3200" dirty="0"/>
          </a:p>
          <a:p>
            <a:endParaRPr lang="en-US" altLang="zh-CN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3725" y="655955"/>
            <a:ext cx="10718800" cy="5558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dirty="0"/>
              <a:t>Dialogue:</a:t>
            </a:r>
          </a:p>
          <a:p>
            <a:r>
              <a:rPr lang="en-US" altLang="zh-CN" sz="4400" dirty="0"/>
              <a:t>A</a:t>
            </a:r>
            <a:r>
              <a:rPr lang="zh-CN" altLang="en-US" sz="4400" dirty="0"/>
              <a:t>：</a:t>
            </a:r>
            <a:r>
              <a:rPr lang="en-US" altLang="zh-CN" sz="4400" dirty="0"/>
              <a:t>Does the airport have McDonald’s?</a:t>
            </a:r>
          </a:p>
          <a:p>
            <a:r>
              <a:rPr lang="en-US" altLang="zh-CN" sz="4400" dirty="0"/>
              <a:t>B</a:t>
            </a:r>
            <a:r>
              <a:rPr lang="zh-CN" altLang="en-US" sz="4400" dirty="0"/>
              <a:t>：</a:t>
            </a:r>
            <a:r>
              <a:rPr lang="en-US" altLang="zh-CN" sz="4400" dirty="0"/>
              <a:t>Yes</a:t>
            </a:r>
          </a:p>
          <a:p>
            <a:r>
              <a:rPr lang="en-US" altLang="zh-CN" sz="4400" dirty="0"/>
              <a:t>A</a:t>
            </a:r>
            <a:r>
              <a:rPr lang="zh-CN" altLang="en-US" sz="4400" dirty="0"/>
              <a:t>：</a:t>
            </a:r>
            <a:r>
              <a:rPr lang="en-US" altLang="zh-CN" sz="4400" dirty="0"/>
              <a:t>I want to eat a hamburger.</a:t>
            </a:r>
          </a:p>
          <a:p>
            <a:r>
              <a:rPr lang="en-US" altLang="zh-CN" sz="4400" dirty="0"/>
              <a:t>B</a:t>
            </a:r>
            <a:r>
              <a:rPr lang="zh-CN" altLang="en-US" sz="4400" dirty="0"/>
              <a:t>：</a:t>
            </a:r>
            <a:r>
              <a:rPr lang="en-US" altLang="zh-CN" sz="4400" dirty="0"/>
              <a:t>McDonald’s hamburgers don’t taste good. </a:t>
            </a:r>
            <a:r>
              <a:rPr lang="en-US" altLang="zh-CN" sz="4400" dirty="0" err="1"/>
              <a:t>mai</a:t>
            </a:r>
            <a:r>
              <a:rPr lang="en-US" altLang="zh-CN" sz="4400" dirty="0"/>
              <a:t> dang </a:t>
            </a:r>
            <a:r>
              <a:rPr lang="en-US" altLang="zh-CN" sz="4400" dirty="0" err="1"/>
              <a:t>lao</a:t>
            </a:r>
            <a:r>
              <a:rPr lang="en-US" altLang="zh-CN" sz="4400" dirty="0"/>
              <a:t> </a:t>
            </a:r>
          </a:p>
          <a:p>
            <a:r>
              <a:rPr lang="en-US" altLang="zh-CN" sz="4400" dirty="0"/>
              <a:t>A</a:t>
            </a:r>
            <a:r>
              <a:rPr lang="zh-CN" altLang="en-US" sz="4400" dirty="0"/>
              <a:t>：</a:t>
            </a:r>
            <a:r>
              <a:rPr lang="en-US" altLang="zh-CN" sz="4400" dirty="0"/>
              <a:t>What's good to eat at the airport?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7530" y="742315"/>
            <a:ext cx="10865485" cy="5179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/>
              <a:t>Dialogue</a:t>
            </a:r>
            <a:r>
              <a:rPr lang="zh-CN" altLang="en-US" sz="3200" dirty="0"/>
              <a:t>：</a:t>
            </a:r>
          </a:p>
          <a:p>
            <a:endParaRPr lang="zh-CN" altLang="en-US" sz="3200" dirty="0"/>
          </a:p>
          <a:p>
            <a:r>
              <a:rPr lang="en-US" altLang="zh-CN" sz="3200" dirty="0"/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 you like reading books?  </a:t>
            </a:r>
          </a:p>
          <a:p>
            <a:endParaRPr lang="en-US" altLang="zh-CN" sz="3200" dirty="0"/>
          </a:p>
          <a:p>
            <a:r>
              <a:rPr lang="en-US" altLang="zh-CN" sz="3200" dirty="0"/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I don’t. What about you?</a:t>
            </a:r>
          </a:p>
          <a:p>
            <a:endParaRPr lang="en-US" altLang="zh-CN" sz="3200" dirty="0"/>
          </a:p>
          <a:p>
            <a:r>
              <a:rPr lang="en-US" altLang="zh-CN" sz="3200" dirty="0"/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Yes, I like reading books. I also like reading newspapers.     Bao </a:t>
            </a:r>
            <a:r>
              <a:rPr lang="en-US" altLang="zh-CN" sz="3200" dirty="0" err="1"/>
              <a:t>zhi</a:t>
            </a:r>
            <a:endParaRPr lang="en-US" altLang="zh-CN" sz="3200" dirty="0"/>
          </a:p>
          <a:p>
            <a:r>
              <a:rPr lang="en-US" altLang="zh-CN" sz="3200" dirty="0"/>
              <a:t>               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2218</TotalTime>
  <Words>2104</Words>
  <Application>Microsoft Office PowerPoint</Application>
  <PresentationFormat>宽屏</PresentationFormat>
  <Paragraphs>279</Paragraphs>
  <Slides>29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GB Pinyinok-D</vt:lpstr>
      <vt:lpstr>宋体</vt:lpstr>
      <vt:lpstr>微软雅黑</vt:lpstr>
      <vt:lpstr>Arial</vt:lpstr>
      <vt:lpstr>Calibri</vt:lpstr>
      <vt:lpstr>Calibri Light</vt:lpstr>
      <vt:lpstr>默认设计模板</vt:lpstr>
      <vt:lpstr>自定义设计方案</vt:lpstr>
      <vt:lpstr>1_自定义设计方案</vt:lpstr>
      <vt:lpstr>2_自定义设计方案</vt:lpstr>
      <vt:lpstr>1_默认设计模板</vt:lpstr>
      <vt:lpstr>3_默认设计模板</vt:lpstr>
      <vt:lpstr>Dialogue – 对话练习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 课</dc:title>
  <dc:creator>dell</dc:creator>
  <cp:lastModifiedBy>lisa chen</cp:lastModifiedBy>
  <cp:revision>84</cp:revision>
  <dcterms:created xsi:type="dcterms:W3CDTF">2025-12-13T02:40:00Z</dcterms:created>
  <dcterms:modified xsi:type="dcterms:W3CDTF">2026-06-03T11:56:11Z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966AF666E1154D9D80BD6060B12A79C0_13</vt:lpwstr>
  </property>
</Properties>
</file>