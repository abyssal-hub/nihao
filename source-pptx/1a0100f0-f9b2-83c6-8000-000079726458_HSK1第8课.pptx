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9" r:id="rId6"/>
  </p:sldMasterIdLst>
  <p:notesMasterIdLst>
    <p:notesMasterId r:id="rId42"/>
  </p:notesMasterIdLst>
  <p:sldIdLst>
    <p:sldId id="771" r:id="rId7"/>
    <p:sldId id="851" r:id="rId8"/>
    <p:sldId id="852" r:id="rId9"/>
    <p:sldId id="742" r:id="rId10"/>
    <p:sldId id="776" r:id="rId11"/>
    <p:sldId id="853" r:id="rId12"/>
    <p:sldId id="788" r:id="rId13"/>
    <p:sldId id="828" r:id="rId14"/>
    <p:sldId id="875" r:id="rId15"/>
    <p:sldId id="877" r:id="rId16"/>
    <p:sldId id="876" r:id="rId17"/>
    <p:sldId id="878" r:id="rId18"/>
    <p:sldId id="879" r:id="rId19"/>
    <p:sldId id="874" r:id="rId20"/>
    <p:sldId id="880" r:id="rId21"/>
    <p:sldId id="881" r:id="rId22"/>
    <p:sldId id="838" r:id="rId23"/>
    <p:sldId id="839" r:id="rId24"/>
    <p:sldId id="840" r:id="rId25"/>
    <p:sldId id="872" r:id="rId26"/>
    <p:sldId id="868" r:id="rId27"/>
    <p:sldId id="815" r:id="rId28"/>
    <p:sldId id="869" r:id="rId29"/>
    <p:sldId id="870" r:id="rId30"/>
    <p:sldId id="871" r:id="rId31"/>
    <p:sldId id="865" r:id="rId32"/>
    <p:sldId id="796" r:id="rId33"/>
    <p:sldId id="801" r:id="rId34"/>
    <p:sldId id="797" r:id="rId35"/>
    <p:sldId id="802" r:id="rId36"/>
    <p:sldId id="803" r:id="rId37"/>
    <p:sldId id="818" r:id="rId38"/>
    <p:sldId id="873" r:id="rId39"/>
    <p:sldId id="862" r:id="rId40"/>
    <p:sldId id="820" r:id="rId41"/>
  </p:sldIdLst>
  <p:sldSz cx="12192000" cy="6858000"/>
  <p:notesSz cx="6858000" cy="9144000"/>
  <p:custDataLst>
    <p:tags r:id="rId43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" userDrawn="1">
          <p15:clr>
            <a:srgbClr val="A4A3A4"/>
          </p15:clr>
        </p15:guide>
        <p15:guide id="2" pos="3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7030A0"/>
    <a:srgbClr val="CCCCFF"/>
    <a:srgbClr val="9900FF"/>
    <a:srgbClr val="9933FF"/>
    <a:srgbClr val="CC00CC"/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/>
    <p:restoredTop sz="87569"/>
  </p:normalViewPr>
  <p:slideViewPr>
    <p:cSldViewPr snapToGrid="0" snapToObjects="1" showGuides="1">
      <p:cViewPr varScale="1">
        <p:scale>
          <a:sx n="55" d="100"/>
          <a:sy n="55" d="100"/>
        </p:scale>
        <p:origin x="1076" y="56"/>
      </p:cViewPr>
      <p:guideLst>
        <p:guide orient="horz" pos="208"/>
        <p:guide pos="352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ags" Target="tags/tag1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theme" Target="theme/theme1.xml"/><Relationship Id="rId20" Type="http://schemas.openxmlformats.org/officeDocument/2006/relationships/slide" Target="slides/slide14.xml"/><Relationship Id="rId41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A3BC196-02EF-46AA-A4F9-91E0CB8EB1FD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0356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13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24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445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44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54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649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65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752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75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85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95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95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05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05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10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16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16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26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36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36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46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46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57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67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77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77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878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87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98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98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083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208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20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18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218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34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43216D1-3CFC-4DED-9FB4-02C500C1E799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1F3D44-3554-4B27-9FF9-272B5AA024EA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30315F-1F01-41AB-B32F-6FAB19F629D9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6B1209C-BBF4-48EC-9A9C-87134A7B4725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225E07-466B-4501-9A24-9E44C021F1C0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1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762555-C4A3-4D74-923B-9FCC756ADEDC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9596FD-0BA7-4BD1-AF6A-7DA397C0469F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B822AC0-C88D-4539-9873-7B68CB51474B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3ADCB6-5754-4E7D-929A-2B668E1F60DC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641713-1B35-47A2-9008-4B9D504BF3C4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8B0A2B-AB2C-4FA8-BFA2-B261CDCDAB2F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7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8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8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8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2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652D7B-C7F3-40B4-8417-89E63457E6B9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212D53-656F-4D82-A38F-C96AA872876B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90E8365-D19E-4A6D-9FCC-E8BC5A6A68D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224DF2C-5CEF-438F-9103-75D28044127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74EFB2-3175-4F0B-8133-FB27586B6C1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1E444A-7DAF-4681-9016-98501601A718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4B1746-2164-4053-80A2-7A7F20373310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9AE5A76-D123-4789-91FD-D723E83FCF90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027A7F-7469-4170-AE79-B9B4DA5E40C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B4092C-17A0-46FC-851F-855F549B6779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E42C6A-D8E9-468F-B630-283D5558DD3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97EE03-3C30-405C-A9EC-1EF8D9C2ACC8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F70DEC-8203-456F-BDAC-72EE292DF2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F70DEC-8203-456F-BDAC-72EE292DF2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F70DEC-8203-456F-BDAC-72EE292DF2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F70DEC-8203-456F-BDAC-72EE292DF2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F70DEC-8203-456F-BDAC-72EE292DF2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F70DEC-8203-456F-BDAC-72EE292DF2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F70DEC-8203-456F-BDAC-72EE292DF2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F70DEC-8203-456F-BDAC-72EE292DF2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F70DEC-8203-456F-BDAC-72EE292DF2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F70DEC-8203-456F-BDAC-72EE292DF2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F70DEC-8203-456F-BDAC-72EE292DF2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jpeg"/><Relationship Id="rId26" Type="http://schemas.openxmlformats.org/officeDocument/2006/relationships/image" Target="../media/image14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5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image" Target="../media/image12.png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jpeg"/><Relationship Id="rId23" Type="http://schemas.openxmlformats.org/officeDocument/2006/relationships/image" Target="../media/image11.png"/><Relationship Id="rId28" Type="http://schemas.openxmlformats.org/officeDocument/2006/relationships/image" Target="../media/image16.jpeg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Relationship Id="rId22" Type="http://schemas.openxmlformats.org/officeDocument/2006/relationships/image" Target="../media/image10.jpeg"/><Relationship Id="rId27" Type="http://schemas.openxmlformats.org/officeDocument/2006/relationships/image" Target="../media/image15.jpe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.png"/><Relationship Id="rId18" Type="http://schemas.openxmlformats.org/officeDocument/2006/relationships/image" Target="../media/image20.jpeg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25.xml"/><Relationship Id="rId21" Type="http://schemas.openxmlformats.org/officeDocument/2006/relationships/image" Target="../media/image23.png"/><Relationship Id="rId34" Type="http://schemas.openxmlformats.org/officeDocument/2006/relationships/image" Target="../media/image11.png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19.png"/><Relationship Id="rId25" Type="http://schemas.openxmlformats.org/officeDocument/2006/relationships/image" Target="../media/image27.jpeg"/><Relationship Id="rId33" Type="http://schemas.openxmlformats.org/officeDocument/2006/relationships/image" Target="../media/image10.jpe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image" Target="../media/image26.png"/><Relationship Id="rId32" Type="http://schemas.openxmlformats.org/officeDocument/2006/relationships/image" Target="../media/image9.png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15.jpeg"/><Relationship Id="rId36" Type="http://schemas.openxmlformats.org/officeDocument/2006/relationships/image" Target="../media/image13.png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21.png"/><Relationship Id="rId31" Type="http://schemas.openxmlformats.org/officeDocument/2006/relationships/image" Target="../media/image8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Relationship Id="rId22" Type="http://schemas.openxmlformats.org/officeDocument/2006/relationships/image" Target="../media/image24.jpeg"/><Relationship Id="rId27" Type="http://schemas.openxmlformats.org/officeDocument/2006/relationships/image" Target="../media/image6.jpeg"/><Relationship Id="rId30" Type="http://schemas.openxmlformats.org/officeDocument/2006/relationships/image" Target="../media/image7.png"/><Relationship Id="rId35" Type="http://schemas.openxmlformats.org/officeDocument/2006/relationships/image" Target="../media/image12.png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18" Type="http://schemas.openxmlformats.org/officeDocument/2006/relationships/image" Target="../media/image20.jpeg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36.xml"/><Relationship Id="rId21" Type="http://schemas.openxmlformats.org/officeDocument/2006/relationships/image" Target="../media/image23.png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19.png"/><Relationship Id="rId25" Type="http://schemas.openxmlformats.org/officeDocument/2006/relationships/image" Target="../media/image27.jpe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11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image" Target="../media/image26.png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9.png"/><Relationship Id="rId10" Type="http://schemas.openxmlformats.org/officeDocument/2006/relationships/slideLayout" Target="../slideLayouts/slideLayout43.xml"/><Relationship Id="rId19" Type="http://schemas.openxmlformats.org/officeDocument/2006/relationships/image" Target="../media/image21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Relationship Id="rId22" Type="http://schemas.openxmlformats.org/officeDocument/2006/relationships/image" Target="../media/image24.jpeg"/><Relationship Id="rId27" Type="http://schemas.openxmlformats.org/officeDocument/2006/relationships/image" Target="../media/image8.png"/><Relationship Id="rId30" Type="http://schemas.openxmlformats.org/officeDocument/2006/relationships/image" Target="../media/image1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组合 1"/>
          <p:cNvGrpSpPr/>
          <p:nvPr/>
        </p:nvGrpSpPr>
        <p:grpSpPr>
          <a:xfrm>
            <a:off x="-4762" y="-19050"/>
            <a:ext cx="12249150" cy="7042150"/>
            <a:chOff x="-4763" y="-19050"/>
            <a:chExt cx="9185276" cy="6877050"/>
          </a:xfrm>
        </p:grpSpPr>
        <p:sp>
          <p:nvSpPr>
            <p:cNvPr id="7" name="矩形 6"/>
            <p:cNvSpPr>
              <a:spLocks noChangeArrowheads="1"/>
            </p:cNvSpPr>
            <p:nvPr/>
          </p:nvSpPr>
          <p:spPr bwMode="auto">
            <a:xfrm>
              <a:off x="-4763" y="-19050"/>
              <a:ext cx="9143611" cy="6877050"/>
            </a:xfrm>
            <a:prstGeom prst="rect">
              <a:avLst/>
            </a:prstGeom>
            <a:solidFill>
              <a:srgbClr val="F2F2F2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8" name="矩形 7"/>
            <p:cNvSpPr>
              <a:spLocks noChangeArrowheads="1"/>
            </p:cNvSpPr>
            <p:nvPr/>
          </p:nvSpPr>
          <p:spPr bwMode="auto">
            <a:xfrm>
              <a:off x="-1" y="621217"/>
              <a:ext cx="9180514" cy="5039966"/>
            </a:xfrm>
            <a:prstGeom prst="rect">
              <a:avLst/>
            </a:prstGeom>
            <a:solidFill>
              <a:srgbClr val="D8D8D8">
                <a:alpha val="1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9" name="矩形 3"/>
            <p:cNvSpPr>
              <a:spLocks noChangeArrowheads="1"/>
            </p:cNvSpPr>
            <p:nvPr/>
          </p:nvSpPr>
          <p:spPr bwMode="auto">
            <a:xfrm>
              <a:off x="-1" y="6168125"/>
              <a:ext cx="2327269" cy="178282"/>
            </a:xfrm>
            <a:prstGeom prst="rect">
              <a:avLst/>
            </a:prstGeom>
            <a:solidFill>
              <a:srgbClr val="F79646">
                <a:alpha val="95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0" name="矩形 8"/>
            <p:cNvSpPr>
              <a:spLocks noChangeArrowheads="1"/>
            </p:cNvSpPr>
            <p:nvPr/>
          </p:nvSpPr>
          <p:spPr bwMode="auto">
            <a:xfrm>
              <a:off x="2327269" y="6168125"/>
              <a:ext cx="2260607" cy="178282"/>
            </a:xfrm>
            <a:prstGeom prst="rect">
              <a:avLst/>
            </a:prstGeom>
            <a:solidFill>
              <a:srgbClr val="4BACC6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矩形 9"/>
            <p:cNvSpPr>
              <a:spLocks noChangeArrowheads="1"/>
            </p:cNvSpPr>
            <p:nvPr/>
          </p:nvSpPr>
          <p:spPr bwMode="auto">
            <a:xfrm>
              <a:off x="4587875" y="6168125"/>
              <a:ext cx="2260606" cy="178282"/>
            </a:xfrm>
            <a:prstGeom prst="rect">
              <a:avLst/>
            </a:prstGeom>
            <a:solidFill>
              <a:srgbClr val="C0504D">
                <a:alpha val="93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矩形 10"/>
            <p:cNvSpPr>
              <a:spLocks noChangeArrowheads="1"/>
            </p:cNvSpPr>
            <p:nvPr/>
          </p:nvSpPr>
          <p:spPr bwMode="auto">
            <a:xfrm>
              <a:off x="6848481" y="6168125"/>
              <a:ext cx="2295128" cy="178282"/>
            </a:xfrm>
            <a:prstGeom prst="rect">
              <a:avLst/>
            </a:prstGeom>
            <a:solidFill>
              <a:srgbClr val="000000">
                <a:alpha val="3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矩形 6"/>
            <p:cNvSpPr>
              <a:spLocks noChangeArrowheads="1"/>
            </p:cNvSpPr>
            <p:nvPr/>
          </p:nvSpPr>
          <p:spPr bwMode="auto">
            <a:xfrm>
              <a:off x="-1" y="247598"/>
              <a:ext cx="2260606" cy="71313"/>
            </a:xfrm>
            <a:prstGeom prst="rect">
              <a:avLst/>
            </a:prstGeom>
            <a:solidFill>
              <a:srgbClr val="F79646">
                <a:alpha val="95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矩形 7"/>
            <p:cNvSpPr>
              <a:spLocks noChangeArrowheads="1"/>
            </p:cNvSpPr>
            <p:nvPr/>
          </p:nvSpPr>
          <p:spPr bwMode="auto">
            <a:xfrm>
              <a:off x="2260605" y="247598"/>
              <a:ext cx="2260607" cy="71313"/>
            </a:xfrm>
            <a:prstGeom prst="rect">
              <a:avLst/>
            </a:prstGeom>
            <a:solidFill>
              <a:srgbClr val="4BACC6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5" name="矩形 12"/>
            <p:cNvSpPr>
              <a:spLocks noChangeArrowheads="1"/>
            </p:cNvSpPr>
            <p:nvPr/>
          </p:nvSpPr>
          <p:spPr bwMode="auto">
            <a:xfrm>
              <a:off x="4521212" y="247598"/>
              <a:ext cx="2260606" cy="71313"/>
            </a:xfrm>
            <a:prstGeom prst="rect">
              <a:avLst/>
            </a:prstGeom>
            <a:solidFill>
              <a:srgbClr val="C0504D">
                <a:alpha val="93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6" name="矩形 13"/>
            <p:cNvSpPr>
              <a:spLocks noChangeArrowheads="1"/>
            </p:cNvSpPr>
            <p:nvPr/>
          </p:nvSpPr>
          <p:spPr bwMode="auto">
            <a:xfrm>
              <a:off x="6781818" y="247598"/>
              <a:ext cx="2361792" cy="71313"/>
            </a:xfrm>
            <a:prstGeom prst="rect">
              <a:avLst/>
            </a:prstGeom>
            <a:solidFill>
              <a:srgbClr val="000000">
                <a:alpha val="3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/>
          <p:nvPr/>
        </p:nvGrpSpPr>
        <p:grpSpPr>
          <a:xfrm>
            <a:off x="-212725" y="-28575"/>
            <a:ext cx="12501563" cy="6964363"/>
            <a:chOff x="-232232" y="-159654"/>
            <a:chExt cx="9376230" cy="6964589"/>
          </a:xfrm>
        </p:grpSpPr>
        <p:pic>
          <p:nvPicPr>
            <p:cNvPr id="2072" name="图片 7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-232232" y="-159654"/>
              <a:ext cx="9376229" cy="696458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73" name="图片 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74951" y="-116113"/>
              <a:ext cx="4569047" cy="50763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74" name="图片 9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-138008" y="16916"/>
              <a:ext cx="415238" cy="1586639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051" name="图片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9713" y="1876425"/>
            <a:ext cx="730250" cy="609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图片 10"/>
          <p:cNvPicPr>
            <a:picLocks noChangeAspect="1"/>
          </p:cNvPicPr>
          <p:nvPr/>
        </p:nvPicPr>
        <p:blipFill>
          <a:blip r:embed="rId16"/>
          <a:srcRect t="12482"/>
          <a:stretch>
            <a:fillRect/>
          </a:stretch>
        </p:blipFill>
        <p:spPr>
          <a:xfrm>
            <a:off x="7561263" y="4037013"/>
            <a:ext cx="1327150" cy="795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6" cstate="print"/>
          <a:srcRect t="12482"/>
          <a:stretch>
            <a:fillRect/>
          </a:stretch>
        </p:blipFill>
        <p:spPr>
          <a:xfrm>
            <a:off x="7652903" y="4037185"/>
            <a:ext cx="1325995" cy="794797"/>
          </a:xfrm>
          <a:prstGeom prst="ellipse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7575355" y="3966231"/>
            <a:ext cx="1282700" cy="790575"/>
          </a:xfrm>
          <a:prstGeom prst="ellipse">
            <a:avLst/>
          </a:prstGeom>
        </p:spPr>
      </p:pic>
      <p:pic>
        <p:nvPicPr>
          <p:cNvPr id="2055" name="图片 1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-167860">
            <a:off x="2855913" y="3957638"/>
            <a:ext cx="5245100" cy="2476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6" name="Picture 4" descr="画儿"/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615" t="6876" r="6429" b="5901"/>
          <a:stretch>
            <a:fillRect/>
          </a:stretch>
        </p:blipFill>
        <p:spPr>
          <a:xfrm rot="4001914">
            <a:off x="3832225" y="2027238"/>
            <a:ext cx="498475" cy="9747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pic>
        <p:nvPicPr>
          <p:cNvPr id="2057" name="图片 14"/>
          <p:cNvPicPr>
            <a:picLocks noChangeAspect="1"/>
          </p:cNvPicPr>
          <p:nvPr/>
        </p:nvPicPr>
        <p:blipFill>
          <a:blip r:embed="rId19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83088" y="3751263"/>
            <a:ext cx="1030287" cy="949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8" name="图片 5"/>
          <p:cNvPicPr>
            <a:picLocks noChangeAspect="1"/>
          </p:cNvPicPr>
          <p:nvPr/>
        </p:nvPicPr>
        <p:blipFill>
          <a:blip r:embed="rId20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64175" y="2141538"/>
            <a:ext cx="1006475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9" name="图片 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18738" y="2486025"/>
            <a:ext cx="1841500" cy="2622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0" name="Picture 5" descr="书"/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660000">
            <a:off x="9293225" y="3551238"/>
            <a:ext cx="620713" cy="463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1" name="图片 11"/>
          <p:cNvPicPr>
            <a:picLocks noChangeAspect="1"/>
          </p:cNvPicPr>
          <p:nvPr/>
        </p:nvPicPr>
        <p:blipFill>
          <a:blip r:embed="rId23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647113" y="4306888"/>
            <a:ext cx="2489200" cy="164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" name="图片 4"/>
          <p:cNvPicPr>
            <a:picLocks noChangeAspect="1"/>
          </p:cNvPicPr>
          <p:nvPr/>
        </p:nvPicPr>
        <p:blipFill>
          <a:blip r:embed="rId24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87800" y="1876425"/>
            <a:ext cx="1689100" cy="1227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3" name="图片 21"/>
          <p:cNvPicPr>
            <a:picLocks noChangeAspect="1"/>
          </p:cNvPicPr>
          <p:nvPr/>
        </p:nvPicPr>
        <p:blipFill>
          <a:blip r:embed="rId25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088" y="1622425"/>
            <a:ext cx="2568575" cy="2422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4" name="图片 22"/>
          <p:cNvPicPr>
            <a:picLocks noChangeAspect="1"/>
          </p:cNvPicPr>
          <p:nvPr/>
        </p:nvPicPr>
        <p:blipFill>
          <a:blip r:embed="rId16"/>
          <a:srcRect t="-5524"/>
          <a:stretch>
            <a:fillRect/>
          </a:stretch>
        </p:blipFill>
        <p:spPr>
          <a:xfrm>
            <a:off x="2819400" y="3016250"/>
            <a:ext cx="1417638" cy="868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5" name="图片 2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44950" y="3062288"/>
            <a:ext cx="1362075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6" name="图片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0663" y="3503613"/>
            <a:ext cx="1252537" cy="8302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7" name="图片 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2075" y="3919538"/>
            <a:ext cx="1338263" cy="895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8" name="图片 1"/>
          <p:cNvPicPr>
            <a:picLocks noChangeAspect="1"/>
          </p:cNvPicPr>
          <p:nvPr/>
        </p:nvPicPr>
        <p:blipFill>
          <a:blip r:embed="rId26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</a:blip>
          <a:srcRect l="3503" t="8031" r="7834" b="28464"/>
          <a:stretch>
            <a:fillRect/>
          </a:stretch>
        </p:blipFill>
        <p:spPr>
          <a:xfrm>
            <a:off x="6534150" y="4602163"/>
            <a:ext cx="796925" cy="573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9" name="Picture 8" descr="纸箱子"/>
          <p:cNvPicPr>
            <a:picLocks noChangeAspect="1"/>
          </p:cNvPicPr>
          <p:nvPr/>
        </p:nvPicPr>
        <p:blipFill>
          <a:blip r:embed="rId27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</a:blip>
          <a:srcRect l="67061" t="3459" r="1027" b="68901"/>
          <a:stretch>
            <a:fillRect/>
          </a:stretch>
        </p:blipFill>
        <p:spPr>
          <a:xfrm>
            <a:off x="7123113" y="3708400"/>
            <a:ext cx="2538412" cy="1306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70" name="图片 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859963" y="3152775"/>
            <a:ext cx="458787" cy="590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梯形 29"/>
          <p:cNvSpPr/>
          <p:nvPr/>
        </p:nvSpPr>
        <p:spPr>
          <a:xfrm rot="12584178">
            <a:off x="2149475" y="2768600"/>
            <a:ext cx="852488" cy="144463"/>
          </a:xfrm>
          <a:prstGeom prst="trapezoid">
            <a:avLst>
              <a:gd name="adj" fmla="val 64630"/>
            </a:avLst>
          </a:prstGeom>
          <a:solidFill>
            <a:srgbClr val="38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22222E-6 L 0.17448 0.225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4600" y="1138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55"/>
          <p:cNvGrpSpPr/>
          <p:nvPr/>
        </p:nvGrpSpPr>
        <p:grpSpPr>
          <a:xfrm rot="9684734">
            <a:off x="33338" y="-1398587"/>
            <a:ext cx="11934825" cy="9375775"/>
            <a:chOff x="710400" y="-2376019"/>
            <a:chExt cx="8950249" cy="9376229"/>
          </a:xfrm>
        </p:grpSpPr>
        <p:grpSp>
          <p:nvGrpSpPr>
            <p:cNvPr id="3086" name="组合 53"/>
            <p:cNvGrpSpPr/>
            <p:nvPr userDrawn="1"/>
          </p:nvGrpSpPr>
          <p:grpSpPr>
            <a:xfrm rot="-2136584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3088" name="组合 51"/>
              <p:cNvGrpSpPr/>
              <p:nvPr userDrawn="1"/>
            </p:nvGrpSpPr>
            <p:grpSpPr>
              <a:xfrm rot="-479667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3090" name="组合 43"/>
                <p:cNvGrpSpPr/>
                <p:nvPr userDrawn="1"/>
              </p:nvGrpSpPr>
              <p:grpSpPr>
                <a:xfrm rot="-3317749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3094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3096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3098" name="组合 37"/>
                      <p:cNvGrpSpPr/>
                      <p:nvPr userDrawn="1"/>
                    </p:nvGrpSpPr>
                    <p:grpSpPr>
                      <a:xfrm rot="-54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3100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3102" name="组合 2"/>
                          <p:cNvGrpSpPr/>
                          <p:nvPr userDrawn="1"/>
                        </p:nvGrpSpPr>
                        <p:grpSpPr>
                          <a:xfrm rot="-7754967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3105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3107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3108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3109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</p:grpSp>
                        <p:pic>
                          <p:nvPicPr>
                            <p:cNvPr id="3106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r:embed="rId1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grpSp>
                      <p:pic>
                        <p:nvPicPr>
                          <p:cNvPr id="3103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  <p:pic>
                        <p:nvPicPr>
                          <p:cNvPr id="3104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grpSp>
                    <p:pic>
                      <p:nvPicPr>
                        <p:cNvPr id="3101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grpSp>
                  <p:pic>
                    <p:nvPicPr>
                      <p:cNvPr id="3099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grpSp>
                <p:pic>
                  <p:nvPicPr>
                    <p:cNvPr id="3097" name="图片 40"/>
                    <p:cNvPicPr>
                      <a:picLocks noChangeAspect="1"/>
                    </p:cNvPicPr>
                    <p:nvPr userDrawn="1"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</p:grpSp>
              <p:pic>
                <p:nvPicPr>
                  <p:cNvPr id="3095" name="图片 42"/>
                  <p:cNvPicPr>
                    <a:picLocks noChangeAspect="1"/>
                  </p:cNvPicPr>
                  <p:nvPr userDrawn="1"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 rot="-297708">
                    <a:off x="2759164" y="4828529"/>
                    <a:ext cx="285750" cy="33225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</p:grpSp>
            <p:pic>
              <p:nvPicPr>
                <p:cNvPr id="3091" name="图片 44"/>
                <p:cNvPicPr>
                  <a:picLocks noChangeAspect="1"/>
                </p:cNvPicPr>
                <p:nvPr userDrawn="1"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3092" name="图片 49"/>
                <p:cNvPicPr>
                  <a:picLocks noChangeAspect="1"/>
                </p:cNvPicPr>
                <p:nvPr userDrawn="1"/>
              </p:nvPicPr>
              <p:blipFill>
                <a:blip r:embed="rId23"/>
                <a:stretch>
                  <a:fillRect/>
                </a:stretch>
              </p:blipFill>
              <p:spPr>
                <a:xfrm rot="-192092">
                  <a:off x="3070145" y="637317"/>
                  <a:ext cx="227667" cy="12292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51" name="图片 50"/>
                <p:cNvPicPr>
                  <a:picLocks noChangeAspect="1"/>
                </p:cNvPicPr>
                <p:nvPr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3089" name="图片 52"/>
              <p:cNvPicPr>
                <a:picLocks noChangeAspect="1"/>
              </p:cNvPicPr>
              <p:nvPr userDrawn="1"/>
            </p:nvPicPr>
            <p:blipFill>
              <a:blip r:embed="rId24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>
              <a:avLst/>
            </a:prstGeom>
          </p:spPr>
        </p:pic>
      </p:grpSp>
      <p:pic>
        <p:nvPicPr>
          <p:cNvPr id="3075" name="图片 5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-167860">
            <a:off x="2828925" y="3937000"/>
            <a:ext cx="5245100" cy="2476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Picture 4" descr="画儿"/>
          <p:cNvPicPr>
            <a:picLocks noChangeAspect="1"/>
          </p:cNvPicPr>
          <p:nvPr/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615" t="6876" r="6429" b="5901"/>
          <a:stretch>
            <a:fillRect/>
          </a:stretch>
        </p:blipFill>
        <p:spPr>
          <a:xfrm rot="4001915">
            <a:off x="3852863" y="2092325"/>
            <a:ext cx="498475" cy="9731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pic>
        <p:nvPicPr>
          <p:cNvPr id="3077" name="Picture 8" descr="纸箱子"/>
          <p:cNvPicPr>
            <a:picLocks noChangeAspect="1"/>
          </p:cNvPicPr>
          <p:nvPr/>
        </p:nvPicPr>
        <p:blipFill>
          <a:blip r:embed="rId28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</a:blip>
          <a:srcRect l="67061" t="3458" r="1027" b="68900"/>
          <a:stretch>
            <a:fillRect/>
          </a:stretch>
        </p:blipFill>
        <p:spPr>
          <a:xfrm>
            <a:off x="6492875" y="5181600"/>
            <a:ext cx="2536825" cy="1304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8" name="图片 59"/>
          <p:cNvPicPr>
            <a:picLocks noChangeAspect="1"/>
          </p:cNvPicPr>
          <p:nvPr/>
        </p:nvPicPr>
        <p:blipFill>
          <a:blip r:embed="rId29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</a:blip>
          <a:srcRect l="3502" t="8031" r="7834" b="28464"/>
          <a:stretch>
            <a:fillRect/>
          </a:stretch>
        </p:blipFill>
        <p:spPr>
          <a:xfrm>
            <a:off x="6492875" y="4748213"/>
            <a:ext cx="795338" cy="573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9" name="图片 60"/>
          <p:cNvPicPr>
            <a:picLocks noChangeAspect="1"/>
          </p:cNvPicPr>
          <p:nvPr/>
        </p:nvPicPr>
        <p:blipFill>
          <a:blip r:embed="rId30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03725" y="3817938"/>
            <a:ext cx="1031875" cy="949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0" name="图片 61"/>
          <p:cNvPicPr>
            <a:picLocks noChangeAspect="1"/>
          </p:cNvPicPr>
          <p:nvPr/>
        </p:nvPicPr>
        <p:blipFill>
          <a:blip r:embed="rId31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0" y="2208213"/>
            <a:ext cx="1006475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1" name="图片 6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240963" y="2327275"/>
            <a:ext cx="1841500" cy="284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2" name="Picture 5" descr="书"/>
          <p:cNvPicPr>
            <a:picLocks noChangeAspect="1"/>
          </p:cNvPicPr>
          <p:nvPr/>
        </p:nvPicPr>
        <p:blipFill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660000">
            <a:off x="8562975" y="3248025"/>
            <a:ext cx="619125" cy="463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3" name="图片 64"/>
          <p:cNvPicPr>
            <a:picLocks noChangeAspect="1"/>
          </p:cNvPicPr>
          <p:nvPr/>
        </p:nvPicPr>
        <p:blipFill>
          <a:blip r:embed="rId34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759825" y="4362450"/>
            <a:ext cx="2489200" cy="164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4" name="图片 65"/>
          <p:cNvPicPr>
            <a:picLocks noChangeAspect="1"/>
          </p:cNvPicPr>
          <p:nvPr/>
        </p:nvPicPr>
        <p:blipFill>
          <a:blip r:embed="rId35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02100" y="1936750"/>
            <a:ext cx="1689100" cy="1225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5" name="图片 66"/>
          <p:cNvPicPr>
            <a:picLocks noChangeAspect="1"/>
          </p:cNvPicPr>
          <p:nvPr/>
        </p:nvPicPr>
        <p:blipFill>
          <a:blip r:embed="rId36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7150" y="1787525"/>
            <a:ext cx="2474913" cy="2333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55"/>
          <p:cNvGrpSpPr/>
          <p:nvPr/>
        </p:nvGrpSpPr>
        <p:grpSpPr>
          <a:xfrm rot="9684734">
            <a:off x="33338" y="-1398587"/>
            <a:ext cx="11934825" cy="9375775"/>
            <a:chOff x="710400" y="-2376019"/>
            <a:chExt cx="8950249" cy="9376229"/>
          </a:xfrm>
        </p:grpSpPr>
        <p:grpSp>
          <p:nvGrpSpPr>
            <p:cNvPr id="4104" name="组合 53"/>
            <p:cNvGrpSpPr/>
            <p:nvPr userDrawn="1"/>
          </p:nvGrpSpPr>
          <p:grpSpPr>
            <a:xfrm rot="-2136584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4106" name="组合 51"/>
              <p:cNvGrpSpPr/>
              <p:nvPr userDrawn="1"/>
            </p:nvGrpSpPr>
            <p:grpSpPr>
              <a:xfrm rot="-479667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4108" name="组合 43"/>
                <p:cNvGrpSpPr/>
                <p:nvPr userDrawn="1"/>
              </p:nvGrpSpPr>
              <p:grpSpPr>
                <a:xfrm rot="-3317749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4112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4114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4116" name="组合 37"/>
                      <p:cNvGrpSpPr/>
                      <p:nvPr userDrawn="1"/>
                    </p:nvGrpSpPr>
                    <p:grpSpPr>
                      <a:xfrm rot="-54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4118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4120" name="组合 2"/>
                          <p:cNvGrpSpPr/>
                          <p:nvPr userDrawn="1"/>
                        </p:nvGrpSpPr>
                        <p:grpSpPr>
                          <a:xfrm rot="-7754967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4123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4125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4126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4127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</p:grpSp>
                        <p:pic>
                          <p:nvPicPr>
                            <p:cNvPr id="4124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r:embed="rId1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grpSp>
                      <p:pic>
                        <p:nvPicPr>
                          <p:cNvPr id="4121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  <p:pic>
                        <p:nvPicPr>
                          <p:cNvPr id="4122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grpSp>
                    <p:pic>
                      <p:nvPicPr>
                        <p:cNvPr id="4119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grpSp>
                  <p:pic>
                    <p:nvPicPr>
                      <p:cNvPr id="4117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grpSp>
                <p:pic>
                  <p:nvPicPr>
                    <p:cNvPr id="4115" name="图片 40"/>
                    <p:cNvPicPr>
                      <a:picLocks noChangeAspect="1"/>
                    </p:cNvPicPr>
                    <p:nvPr userDrawn="1"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</p:grpSp>
              <p:pic>
                <p:nvPicPr>
                  <p:cNvPr id="4113" name="图片 42"/>
                  <p:cNvPicPr>
                    <a:picLocks noChangeAspect="1"/>
                  </p:cNvPicPr>
                  <p:nvPr userDrawn="1"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 rot="-297708">
                    <a:off x="2759164" y="4828529"/>
                    <a:ext cx="285750" cy="33225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</p:grpSp>
            <p:pic>
              <p:nvPicPr>
                <p:cNvPr id="4109" name="图片 44"/>
                <p:cNvPicPr>
                  <a:picLocks noChangeAspect="1"/>
                </p:cNvPicPr>
                <p:nvPr userDrawn="1"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4110" name="图片 49"/>
                <p:cNvPicPr>
                  <a:picLocks noChangeAspect="1"/>
                </p:cNvPicPr>
                <p:nvPr userDrawn="1"/>
              </p:nvPicPr>
              <p:blipFill>
                <a:blip r:embed="rId23"/>
                <a:stretch>
                  <a:fillRect/>
                </a:stretch>
              </p:blipFill>
              <p:spPr>
                <a:xfrm rot="-192092">
                  <a:off x="3070145" y="637317"/>
                  <a:ext cx="227667" cy="12292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51" name="图片 50"/>
                <p:cNvPicPr>
                  <a:picLocks noChangeAspect="1"/>
                </p:cNvPicPr>
                <p:nvPr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4107" name="图片 52"/>
              <p:cNvPicPr>
                <a:picLocks noChangeAspect="1"/>
              </p:cNvPicPr>
              <p:nvPr userDrawn="1"/>
            </p:nvPicPr>
            <p:blipFill>
              <a:blip r:embed="rId24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>
              <a:avLst/>
            </a:prstGeom>
          </p:spPr>
        </p:pic>
      </p:grpSp>
      <p:pic>
        <p:nvPicPr>
          <p:cNvPr id="4099" name="图片 5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-167860">
            <a:off x="2828925" y="3937000"/>
            <a:ext cx="5245100" cy="2476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图片 61"/>
          <p:cNvPicPr>
            <a:picLocks noChangeAspect="1"/>
          </p:cNvPicPr>
          <p:nvPr/>
        </p:nvPicPr>
        <p:blipFill>
          <a:blip r:embed="rId27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0" y="2208213"/>
            <a:ext cx="1006475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1" name="图片 6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240963" y="2327275"/>
            <a:ext cx="1841500" cy="284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2" name="图片 64"/>
          <p:cNvPicPr>
            <a:picLocks noChangeAspect="1"/>
          </p:cNvPicPr>
          <p:nvPr/>
        </p:nvPicPr>
        <p:blipFill>
          <a:blip r:embed="rId29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759825" y="4362450"/>
            <a:ext cx="2489200" cy="164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3" name="图片 66"/>
          <p:cNvPicPr>
            <a:picLocks noChangeAspect="1"/>
          </p:cNvPicPr>
          <p:nvPr/>
        </p:nvPicPr>
        <p:blipFill>
          <a:blip r:embed="rId30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7150" y="1787525"/>
            <a:ext cx="2474913" cy="2333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</a:p>
        </p:txBody>
      </p:sp>
      <p:sp>
        <p:nvSpPr>
          <p:cNvPr id="5123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</a:p>
          <a:p>
            <a:pPr lvl="1"/>
            <a:r>
              <a:rPr lang="zh-CN" altLang="zh-CN" dirty="0"/>
              <a:t>第二级</a:t>
            </a:r>
          </a:p>
          <a:p>
            <a:pPr lvl="2"/>
            <a:r>
              <a:rPr lang="zh-CN" altLang="zh-CN" dirty="0"/>
              <a:t>第三级</a:t>
            </a:r>
          </a:p>
          <a:p>
            <a:pPr lvl="3"/>
            <a:r>
              <a:rPr lang="zh-CN" altLang="zh-CN" dirty="0"/>
              <a:t>第四级</a:t>
            </a:r>
          </a:p>
          <a:p>
            <a:pPr lvl="4"/>
            <a:r>
              <a:rPr lang="zh-CN" altLang="zh-CN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72F4BA0-720C-4E6F-BF40-A29E13974EB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ransition spd="slow"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F70DEC-8203-456F-BDAC-72EE292DF2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2026/6/18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notesSlide" Target="../notesSlides/notesSlide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slideLayout" Target="../slideLayouts/slideLayout63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29.jpe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3" Type="http://schemas.openxmlformats.org/officeDocument/2006/relationships/image" Target="../media/image31.jpeg"/><Relationship Id="rId7" Type="http://schemas.openxmlformats.org/officeDocument/2006/relationships/image" Target="../media/image3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6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6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6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6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6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6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6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6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3.xml"/><Relationship Id="rId1" Type="http://schemas.openxmlformats.org/officeDocument/2006/relationships/themeOverride" Target="../theme/themeOverride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60488" y="447675"/>
            <a:ext cx="9144000" cy="2387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</a:t>
            </a: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</a:t>
            </a:r>
          </a:p>
        </p:txBody>
      </p:sp>
      <p:sp>
        <p:nvSpPr>
          <p:cNvPr id="63491" name="Rectangle 3"/>
          <p:cNvSpPr>
            <a:spLocks noGrp="1"/>
          </p:cNvSpPr>
          <p:nvPr>
            <p:ph type="subTitle" idx="1"/>
          </p:nvPr>
        </p:nvSpPr>
        <p:spPr>
          <a:xfrm>
            <a:off x="1471613" y="3330575"/>
            <a:ext cx="9144000" cy="16557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70000"/>
              </a:lnSpc>
              <a:buClrTx/>
              <a:buSzTx/>
            </a:pPr>
            <a:r>
              <a:rPr lang="zh-CN" altLang="en-US" sz="5400" b="1" kern="12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我想喝茶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815975" y="1030288"/>
            <a:ext cx="34893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《HSK标准教程》第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册</a:t>
            </a:r>
          </a:p>
        </p:txBody>
      </p:sp>
      <p:pic>
        <p:nvPicPr>
          <p:cNvPr id="63493" name="Picture 2"/>
          <p:cNvPicPr>
            <a:picLocks noChangeAspect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3375" y="708025"/>
            <a:ext cx="754063" cy="812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514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4515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4516" name="Picture 6" descr="E:\HSK1\新建文件夹\1课\1-09猫-微图ps2299392（25）.jpg"/>
          <p:cNvPicPr preferRelativeResize="0"/>
          <p:nvPr/>
        </p:nvPicPr>
        <p:blipFill>
          <a:blip r:embed="rId19"/>
          <a:stretch>
            <a:fillRect/>
          </a:stretch>
        </p:blipFill>
        <p:spPr>
          <a:xfrm>
            <a:off x="-6308725" y="-6210300"/>
            <a:ext cx="2160588" cy="14398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8" name="TextBox 28"/>
          <p:cNvSpPr txBox="1"/>
          <p:nvPr>
            <p:custDataLst>
              <p:tags r:id="rId1"/>
            </p:custDataLst>
          </p:nvPr>
        </p:nvSpPr>
        <p:spPr>
          <a:xfrm>
            <a:off x="849313" y="2955925"/>
            <a:ext cx="2041525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en-US" altLang="zh-CN" sz="2800" b="1" dirty="0">
                <a:latin typeface="GB Pinyinok-D"/>
                <a:ea typeface="GB Pinyinok-D"/>
              </a:rPr>
              <a:t>shǒu jī</a:t>
            </a:r>
          </a:p>
          <a:p>
            <a:pPr eaLnBrk="0" hangingPunct="0">
              <a:buNone/>
            </a:pPr>
            <a:r>
              <a:rPr lang="zh-CN" altLang="en-US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   手机</a:t>
            </a:r>
            <a:endParaRPr lang="zh-CN" altLang="en-US" sz="2800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64520" name="TextBox 29"/>
          <p:cNvSpPr txBox="1"/>
          <p:nvPr>
            <p:custDataLst>
              <p:tags r:id="rId2"/>
            </p:custDataLst>
          </p:nvPr>
        </p:nvSpPr>
        <p:spPr>
          <a:xfrm>
            <a:off x="3232785" y="2932430"/>
            <a:ext cx="2731770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 eaLnBrk="0" hangingPunct="0">
              <a:buNone/>
            </a:pPr>
            <a:r>
              <a:rPr lang="en-US" altLang="zh-CN" sz="2800" b="1" dirty="0">
                <a:latin typeface="GB Pinyinok-D"/>
                <a:ea typeface="GB Pinyinok-D"/>
              </a:rPr>
              <a:t>shǒu zhuó</a:t>
            </a:r>
          </a:p>
          <a:p>
            <a:pPr algn="ctr" eaLnBrk="0" hangingPunct="0">
              <a:buNone/>
            </a:pPr>
            <a:r>
              <a:rPr lang="zh-CN" altLang="en-US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手镯</a:t>
            </a:r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64522" name="TextBox 30"/>
          <p:cNvSpPr txBox="1"/>
          <p:nvPr>
            <p:custDataLst>
              <p:tags r:id="rId3"/>
            </p:custDataLst>
          </p:nvPr>
        </p:nvSpPr>
        <p:spPr>
          <a:xfrm>
            <a:off x="6098540" y="2933700"/>
            <a:ext cx="2517140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 eaLnBrk="0" hangingPunct="0">
              <a:buNone/>
            </a:pPr>
            <a:r>
              <a:rPr lang="en-US" altLang="zh-CN" sz="2800" dirty="0">
                <a:latin typeface="Arial" panose="020B0604020202020204" pitchFamily="34" charset="0"/>
              </a:rPr>
              <a:t> </a:t>
            </a:r>
            <a:r>
              <a:rPr lang="en-US" altLang="zh-CN" sz="2800" b="1" dirty="0">
                <a:latin typeface="GB Pinyinok-D"/>
                <a:ea typeface="GB Pinyinok-D"/>
              </a:rPr>
              <a:t>shóu biǎo</a:t>
            </a:r>
          </a:p>
          <a:p>
            <a:pPr algn="ctr" eaLnBrk="0" hangingPunct="0">
              <a:buNone/>
            </a:pPr>
            <a:r>
              <a:rPr lang="zh-CN" altLang="en-US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手表</a:t>
            </a:r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64524" name="TextBox 31"/>
          <p:cNvSpPr txBox="1"/>
          <p:nvPr>
            <p:custDataLst>
              <p:tags r:id="rId4"/>
            </p:custDataLst>
          </p:nvPr>
        </p:nvSpPr>
        <p:spPr>
          <a:xfrm>
            <a:off x="8936038" y="2944813"/>
            <a:ext cx="2549525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en-US" altLang="zh-CN" sz="2800" b="1" dirty="0">
                <a:latin typeface="GB Pinyinok-D"/>
                <a:ea typeface="GB Pinyinok-D"/>
              </a:rPr>
              <a:t>shǒu tào</a:t>
            </a: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 </a:t>
            </a:r>
          </a:p>
          <a:p>
            <a:pPr algn="ctr" eaLnBrk="0" hangingPunct="0">
              <a:buNone/>
            </a:pPr>
            <a:r>
              <a:rPr lang="zh-CN" altLang="en-US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手套</a:t>
            </a:r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双音节词语的声调搭配（</a:t>
            </a: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Tone Collocation in Disyllabic Words(3)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663575" y="1673225"/>
          <a:ext cx="2212975" cy="127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3444875" y="1673225"/>
          <a:ext cx="2212975" cy="127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0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6284913" y="1673225"/>
          <a:ext cx="2212975" cy="127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721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9066213" y="1673225"/>
          <a:ext cx="2212975" cy="127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9" name="直接连接符 28"/>
          <p:cNvCxnSpPr/>
          <p:nvPr>
            <p:custDataLst>
              <p:tags r:id="rId5"/>
            </p:custDataLst>
          </p:nvPr>
        </p:nvCxnSpPr>
        <p:spPr>
          <a:xfrm>
            <a:off x="2006600" y="2027238"/>
            <a:ext cx="711200" cy="0"/>
          </a:xfrm>
          <a:prstGeom prst="line">
            <a:avLst/>
          </a:prstGeom>
          <a:ln w="635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任意多边形 31"/>
          <p:cNvSpPr/>
          <p:nvPr>
            <p:custDataLst>
              <p:tags r:id="rId6"/>
            </p:custDataLst>
          </p:nvPr>
        </p:nvSpPr>
        <p:spPr>
          <a:xfrm>
            <a:off x="7620000" y="2647950"/>
            <a:ext cx="685800" cy="85725"/>
          </a:xfrm>
          <a:custGeom>
            <a:avLst/>
            <a:gdLst>
              <a:gd name="connsiteX0" fmla="*/ 0 w 685800"/>
              <a:gd name="connsiteY0" fmla="*/ 0 h 85725"/>
              <a:gd name="connsiteX1" fmla="*/ 371475 w 685800"/>
              <a:gd name="connsiteY1" fmla="*/ 85725 h 85725"/>
              <a:gd name="connsiteX2" fmla="*/ 685800 w 685800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5800" h="85725">
                <a:moveTo>
                  <a:pt x="0" y="0"/>
                </a:moveTo>
                <a:cubicBezTo>
                  <a:pt x="128587" y="42862"/>
                  <a:pt x="257175" y="85725"/>
                  <a:pt x="371475" y="85725"/>
                </a:cubicBezTo>
                <a:cubicBezTo>
                  <a:pt x="485775" y="85725"/>
                  <a:pt x="585787" y="42862"/>
                  <a:pt x="685800" y="0"/>
                </a:cubicBezTo>
              </a:path>
            </a:pathLst>
          </a:custGeom>
          <a:ln w="635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任意多边形 36"/>
          <p:cNvSpPr/>
          <p:nvPr>
            <p:custDataLst>
              <p:tags r:id="rId7"/>
            </p:custDataLst>
          </p:nvPr>
        </p:nvSpPr>
        <p:spPr>
          <a:xfrm>
            <a:off x="10528300" y="1928813"/>
            <a:ext cx="476250" cy="660400"/>
          </a:xfrm>
          <a:custGeom>
            <a:avLst/>
            <a:gdLst>
              <a:gd name="connsiteX0" fmla="*/ 0 w 475700"/>
              <a:gd name="connsiteY0" fmla="*/ 0 h 660694"/>
              <a:gd name="connsiteX1" fmla="*/ 206137 w 475700"/>
              <a:gd name="connsiteY1" fmla="*/ 184995 h 660694"/>
              <a:gd name="connsiteX2" fmla="*/ 364703 w 475700"/>
              <a:gd name="connsiteY2" fmla="*/ 401702 h 660694"/>
              <a:gd name="connsiteX3" fmla="*/ 475700 w 475700"/>
              <a:gd name="connsiteY3" fmla="*/ 660694 h 660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5700" h="660694">
                <a:moveTo>
                  <a:pt x="0" y="0"/>
                </a:moveTo>
                <a:cubicBezTo>
                  <a:pt x="72676" y="59022"/>
                  <a:pt x="145353" y="118045"/>
                  <a:pt x="206137" y="184995"/>
                </a:cubicBezTo>
                <a:cubicBezTo>
                  <a:pt x="266921" y="251945"/>
                  <a:pt x="319776" y="322419"/>
                  <a:pt x="364703" y="401702"/>
                </a:cubicBezTo>
                <a:cubicBezTo>
                  <a:pt x="409630" y="480985"/>
                  <a:pt x="442665" y="570839"/>
                  <a:pt x="475700" y="660694"/>
                </a:cubicBezTo>
              </a:path>
            </a:pathLst>
          </a:custGeom>
          <a:ln w="635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5" name="任意多边形 44"/>
          <p:cNvSpPr/>
          <p:nvPr>
            <p:custDataLst>
              <p:tags r:id="rId8"/>
            </p:custDataLst>
          </p:nvPr>
        </p:nvSpPr>
        <p:spPr>
          <a:xfrm>
            <a:off x="6527800" y="1982788"/>
            <a:ext cx="592138" cy="627063"/>
          </a:xfrm>
          <a:custGeom>
            <a:avLst/>
            <a:gdLst>
              <a:gd name="connsiteX0" fmla="*/ 0 w 454558"/>
              <a:gd name="connsiteY0" fmla="*/ 676550 h 676550"/>
              <a:gd name="connsiteX1" fmla="*/ 63427 w 454558"/>
              <a:gd name="connsiteY1" fmla="*/ 533841 h 676550"/>
              <a:gd name="connsiteX2" fmla="*/ 153281 w 454558"/>
              <a:gd name="connsiteY2" fmla="*/ 385845 h 676550"/>
              <a:gd name="connsiteX3" fmla="*/ 258992 w 454558"/>
              <a:gd name="connsiteY3" fmla="*/ 227279 h 676550"/>
              <a:gd name="connsiteX4" fmla="*/ 359418 w 454558"/>
              <a:gd name="connsiteY4" fmla="*/ 100426 h 676550"/>
              <a:gd name="connsiteX5" fmla="*/ 454558 w 454558"/>
              <a:gd name="connsiteY5" fmla="*/ 0 h 67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4558" h="676550">
                <a:moveTo>
                  <a:pt x="0" y="676550"/>
                </a:moveTo>
                <a:cubicBezTo>
                  <a:pt x="18940" y="629421"/>
                  <a:pt x="37880" y="582292"/>
                  <a:pt x="63427" y="533841"/>
                </a:cubicBezTo>
                <a:cubicBezTo>
                  <a:pt x="88974" y="485390"/>
                  <a:pt x="120687" y="436939"/>
                  <a:pt x="153281" y="385845"/>
                </a:cubicBezTo>
                <a:cubicBezTo>
                  <a:pt x="185875" y="334751"/>
                  <a:pt x="224636" y="274849"/>
                  <a:pt x="258992" y="227279"/>
                </a:cubicBezTo>
                <a:cubicBezTo>
                  <a:pt x="293348" y="179709"/>
                  <a:pt x="326824" y="138306"/>
                  <a:pt x="359418" y="100426"/>
                </a:cubicBezTo>
                <a:cubicBezTo>
                  <a:pt x="392012" y="62546"/>
                  <a:pt x="423285" y="31273"/>
                  <a:pt x="454558" y="0"/>
                </a:cubicBezTo>
              </a:path>
            </a:pathLst>
          </a:cu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6" name="任意多边形 45"/>
          <p:cNvSpPr/>
          <p:nvPr>
            <p:custDataLst>
              <p:tags r:id="rId9"/>
            </p:custDataLst>
          </p:nvPr>
        </p:nvSpPr>
        <p:spPr>
          <a:xfrm>
            <a:off x="7177088" y="1939925"/>
            <a:ext cx="442913" cy="708025"/>
          </a:xfrm>
          <a:custGeom>
            <a:avLst/>
            <a:gdLst>
              <a:gd name="connsiteX0" fmla="*/ 0 w 375274"/>
              <a:gd name="connsiteY0" fmla="*/ 0 h 676550"/>
              <a:gd name="connsiteX1" fmla="*/ 84569 w 375274"/>
              <a:gd name="connsiteY1" fmla="*/ 68712 h 676550"/>
              <a:gd name="connsiteX2" fmla="*/ 132139 w 375274"/>
              <a:gd name="connsiteY2" fmla="*/ 184994 h 676550"/>
              <a:gd name="connsiteX3" fmla="*/ 179708 w 375274"/>
              <a:gd name="connsiteY3" fmla="*/ 354131 h 676550"/>
              <a:gd name="connsiteX4" fmla="*/ 253706 w 375274"/>
              <a:gd name="connsiteY4" fmla="*/ 549697 h 676550"/>
              <a:gd name="connsiteX5" fmla="*/ 375274 w 375274"/>
              <a:gd name="connsiteY5" fmla="*/ 676550 h 67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5274" h="676550">
                <a:moveTo>
                  <a:pt x="0" y="0"/>
                </a:moveTo>
                <a:cubicBezTo>
                  <a:pt x="31273" y="18940"/>
                  <a:pt x="62546" y="37880"/>
                  <a:pt x="84569" y="68712"/>
                </a:cubicBezTo>
                <a:cubicBezTo>
                  <a:pt x="106592" y="99544"/>
                  <a:pt x="116282" y="137424"/>
                  <a:pt x="132139" y="184994"/>
                </a:cubicBezTo>
                <a:cubicBezTo>
                  <a:pt x="147996" y="232564"/>
                  <a:pt x="159447" y="293347"/>
                  <a:pt x="179708" y="354131"/>
                </a:cubicBezTo>
                <a:cubicBezTo>
                  <a:pt x="199969" y="414915"/>
                  <a:pt x="221112" y="495961"/>
                  <a:pt x="253706" y="549697"/>
                </a:cubicBezTo>
                <a:cubicBezTo>
                  <a:pt x="286300" y="603434"/>
                  <a:pt x="330787" y="639992"/>
                  <a:pt x="375274" y="676550"/>
                </a:cubicBezTo>
              </a:path>
            </a:pathLst>
          </a:cu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" name="任意多边形 34"/>
          <p:cNvSpPr/>
          <p:nvPr>
            <p:custDataLst>
              <p:tags r:id="rId10"/>
            </p:custDataLst>
          </p:nvPr>
        </p:nvSpPr>
        <p:spPr>
          <a:xfrm rot="314581">
            <a:off x="893763" y="2636838"/>
            <a:ext cx="685800" cy="85725"/>
          </a:xfrm>
          <a:custGeom>
            <a:avLst/>
            <a:gdLst>
              <a:gd name="connsiteX0" fmla="*/ 0 w 685800"/>
              <a:gd name="connsiteY0" fmla="*/ 0 h 85725"/>
              <a:gd name="connsiteX1" fmla="*/ 371475 w 685800"/>
              <a:gd name="connsiteY1" fmla="*/ 85725 h 85725"/>
              <a:gd name="connsiteX2" fmla="*/ 685800 w 685800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5800" h="85725">
                <a:moveTo>
                  <a:pt x="0" y="0"/>
                </a:moveTo>
                <a:cubicBezTo>
                  <a:pt x="128587" y="42862"/>
                  <a:pt x="257175" y="85725"/>
                  <a:pt x="371475" y="85725"/>
                </a:cubicBezTo>
                <a:cubicBezTo>
                  <a:pt x="485775" y="85725"/>
                  <a:pt x="585787" y="42862"/>
                  <a:pt x="685800" y="0"/>
                </a:cubicBezTo>
              </a:path>
            </a:pathLst>
          </a:cu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任意多边形 35"/>
          <p:cNvSpPr/>
          <p:nvPr>
            <p:custDataLst>
              <p:tags r:id="rId11"/>
            </p:custDataLst>
          </p:nvPr>
        </p:nvSpPr>
        <p:spPr>
          <a:xfrm rot="716371">
            <a:off x="3824288" y="2667000"/>
            <a:ext cx="482600" cy="46038"/>
          </a:xfrm>
          <a:custGeom>
            <a:avLst/>
            <a:gdLst>
              <a:gd name="connsiteX0" fmla="*/ 0 w 685800"/>
              <a:gd name="connsiteY0" fmla="*/ 0 h 85725"/>
              <a:gd name="connsiteX1" fmla="*/ 371475 w 685800"/>
              <a:gd name="connsiteY1" fmla="*/ 85725 h 85725"/>
              <a:gd name="connsiteX2" fmla="*/ 685800 w 685800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5800" h="85725">
                <a:moveTo>
                  <a:pt x="0" y="0"/>
                </a:moveTo>
                <a:cubicBezTo>
                  <a:pt x="128587" y="42862"/>
                  <a:pt x="257175" y="85725"/>
                  <a:pt x="371475" y="85725"/>
                </a:cubicBezTo>
                <a:cubicBezTo>
                  <a:pt x="485775" y="85725"/>
                  <a:pt x="585787" y="42862"/>
                  <a:pt x="685800" y="0"/>
                </a:cubicBezTo>
              </a:path>
            </a:pathLst>
          </a:cu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任意多边形 37"/>
          <p:cNvSpPr/>
          <p:nvPr>
            <p:custDataLst>
              <p:tags r:id="rId12"/>
            </p:custDataLst>
          </p:nvPr>
        </p:nvSpPr>
        <p:spPr>
          <a:xfrm>
            <a:off x="9291638" y="2641600"/>
            <a:ext cx="685800" cy="85725"/>
          </a:xfrm>
          <a:custGeom>
            <a:avLst/>
            <a:gdLst>
              <a:gd name="connsiteX0" fmla="*/ 0 w 685800"/>
              <a:gd name="connsiteY0" fmla="*/ 0 h 85725"/>
              <a:gd name="connsiteX1" fmla="*/ 371475 w 685800"/>
              <a:gd name="connsiteY1" fmla="*/ 85725 h 85725"/>
              <a:gd name="connsiteX2" fmla="*/ 685800 w 685800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5800" h="85725">
                <a:moveTo>
                  <a:pt x="0" y="0"/>
                </a:moveTo>
                <a:cubicBezTo>
                  <a:pt x="128587" y="42862"/>
                  <a:pt x="257175" y="85725"/>
                  <a:pt x="371475" y="85725"/>
                </a:cubicBezTo>
                <a:cubicBezTo>
                  <a:pt x="485775" y="85725"/>
                  <a:pt x="585787" y="42862"/>
                  <a:pt x="685800" y="0"/>
                </a:cubicBezTo>
              </a:path>
            </a:pathLst>
          </a:cu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任意多边形 39"/>
          <p:cNvSpPr/>
          <p:nvPr>
            <p:custDataLst>
              <p:tags r:id="rId13"/>
            </p:custDataLst>
          </p:nvPr>
        </p:nvSpPr>
        <p:spPr>
          <a:xfrm>
            <a:off x="1662113" y="2090738"/>
            <a:ext cx="273050" cy="546100"/>
          </a:xfrm>
          <a:custGeom>
            <a:avLst/>
            <a:gdLst>
              <a:gd name="connsiteX0" fmla="*/ 0 w 273133"/>
              <a:gd name="connsiteY0" fmla="*/ 546265 h 546265"/>
              <a:gd name="connsiteX1" fmla="*/ 118754 w 273133"/>
              <a:gd name="connsiteY1" fmla="*/ 415637 h 546265"/>
              <a:gd name="connsiteX2" fmla="*/ 178130 w 273133"/>
              <a:gd name="connsiteY2" fmla="*/ 249382 h 546265"/>
              <a:gd name="connsiteX3" fmla="*/ 225632 w 273133"/>
              <a:gd name="connsiteY3" fmla="*/ 95003 h 546265"/>
              <a:gd name="connsiteX4" fmla="*/ 273133 w 273133"/>
              <a:gd name="connsiteY4" fmla="*/ 0 h 546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3133" h="546265">
                <a:moveTo>
                  <a:pt x="0" y="546265"/>
                </a:moveTo>
                <a:cubicBezTo>
                  <a:pt x="44533" y="505691"/>
                  <a:pt x="89066" y="465117"/>
                  <a:pt x="118754" y="415637"/>
                </a:cubicBezTo>
                <a:cubicBezTo>
                  <a:pt x="148442" y="366157"/>
                  <a:pt x="160317" y="302821"/>
                  <a:pt x="178130" y="249382"/>
                </a:cubicBezTo>
                <a:cubicBezTo>
                  <a:pt x="195943" y="195943"/>
                  <a:pt x="209798" y="136567"/>
                  <a:pt x="225632" y="95003"/>
                </a:cubicBezTo>
                <a:cubicBezTo>
                  <a:pt x="241466" y="53439"/>
                  <a:pt x="257299" y="26719"/>
                  <a:pt x="273133" y="0"/>
                </a:cubicBezTo>
              </a:path>
            </a:pathLst>
          </a:cu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1" name="任意多边形 40"/>
          <p:cNvSpPr/>
          <p:nvPr>
            <p:custDataLst>
              <p:tags r:id="rId14"/>
            </p:custDataLst>
          </p:nvPr>
        </p:nvSpPr>
        <p:spPr>
          <a:xfrm>
            <a:off x="4419600" y="2576513"/>
            <a:ext cx="273050" cy="119063"/>
          </a:xfrm>
          <a:custGeom>
            <a:avLst/>
            <a:gdLst>
              <a:gd name="connsiteX0" fmla="*/ 0 w 273132"/>
              <a:gd name="connsiteY0" fmla="*/ 118754 h 118754"/>
              <a:gd name="connsiteX1" fmla="*/ 118753 w 273132"/>
              <a:gd name="connsiteY1" fmla="*/ 71252 h 118754"/>
              <a:gd name="connsiteX2" fmla="*/ 273132 w 273132"/>
              <a:gd name="connsiteY2" fmla="*/ 0 h 118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3132" h="118754">
                <a:moveTo>
                  <a:pt x="0" y="118754"/>
                </a:moveTo>
                <a:cubicBezTo>
                  <a:pt x="36615" y="104899"/>
                  <a:pt x="73231" y="91044"/>
                  <a:pt x="118753" y="71252"/>
                </a:cubicBezTo>
                <a:cubicBezTo>
                  <a:pt x="164275" y="51460"/>
                  <a:pt x="218703" y="25730"/>
                  <a:pt x="273132" y="0"/>
                </a:cubicBezTo>
              </a:path>
            </a:pathLst>
          </a:cu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9" name="任意多边形 48"/>
          <p:cNvSpPr/>
          <p:nvPr>
            <p:custDataLst>
              <p:tags r:id="rId15"/>
            </p:custDataLst>
          </p:nvPr>
        </p:nvSpPr>
        <p:spPr>
          <a:xfrm>
            <a:off x="4776788" y="2006600"/>
            <a:ext cx="509588" cy="546100"/>
          </a:xfrm>
          <a:custGeom>
            <a:avLst/>
            <a:gdLst>
              <a:gd name="connsiteX0" fmla="*/ 0 w 510639"/>
              <a:gd name="connsiteY0" fmla="*/ 546265 h 546265"/>
              <a:gd name="connsiteX1" fmla="*/ 237507 w 510639"/>
              <a:gd name="connsiteY1" fmla="*/ 344384 h 546265"/>
              <a:gd name="connsiteX2" fmla="*/ 368135 w 510639"/>
              <a:gd name="connsiteY2" fmla="*/ 201880 h 546265"/>
              <a:gd name="connsiteX3" fmla="*/ 510639 w 510639"/>
              <a:gd name="connsiteY3" fmla="*/ 0 h 546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639" h="546265">
                <a:moveTo>
                  <a:pt x="0" y="546265"/>
                </a:moveTo>
                <a:cubicBezTo>
                  <a:pt x="88075" y="474023"/>
                  <a:pt x="176151" y="401781"/>
                  <a:pt x="237507" y="344384"/>
                </a:cubicBezTo>
                <a:cubicBezTo>
                  <a:pt x="298863" y="286987"/>
                  <a:pt x="322613" y="259277"/>
                  <a:pt x="368135" y="201880"/>
                </a:cubicBezTo>
                <a:cubicBezTo>
                  <a:pt x="413657" y="144483"/>
                  <a:pt x="462148" y="72241"/>
                  <a:pt x="510639" y="0"/>
                </a:cubicBezTo>
              </a:path>
            </a:pathLst>
          </a:custGeom>
          <a:ln w="635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0" name="任意多边形 49"/>
          <p:cNvSpPr/>
          <p:nvPr>
            <p:custDataLst>
              <p:tags r:id="rId16"/>
            </p:custDataLst>
          </p:nvPr>
        </p:nvSpPr>
        <p:spPr>
          <a:xfrm>
            <a:off x="10015538" y="1900238"/>
            <a:ext cx="450850" cy="712788"/>
          </a:xfrm>
          <a:custGeom>
            <a:avLst/>
            <a:gdLst>
              <a:gd name="connsiteX0" fmla="*/ 0 w 451263"/>
              <a:gd name="connsiteY0" fmla="*/ 712519 h 712519"/>
              <a:gd name="connsiteX1" fmla="*/ 130629 w 451263"/>
              <a:gd name="connsiteY1" fmla="*/ 617517 h 712519"/>
              <a:gd name="connsiteX2" fmla="*/ 201881 w 451263"/>
              <a:gd name="connsiteY2" fmla="*/ 510639 h 712519"/>
              <a:gd name="connsiteX3" fmla="*/ 249382 w 451263"/>
              <a:gd name="connsiteY3" fmla="*/ 403761 h 712519"/>
              <a:gd name="connsiteX4" fmla="*/ 296884 w 451263"/>
              <a:gd name="connsiteY4" fmla="*/ 237506 h 712519"/>
              <a:gd name="connsiteX5" fmla="*/ 368135 w 451263"/>
              <a:gd name="connsiteY5" fmla="*/ 83127 h 712519"/>
              <a:gd name="connsiteX6" fmla="*/ 451263 w 451263"/>
              <a:gd name="connsiteY6" fmla="*/ 0 h 71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63" h="712519">
                <a:moveTo>
                  <a:pt x="0" y="712519"/>
                </a:moveTo>
                <a:cubicBezTo>
                  <a:pt x="48491" y="681841"/>
                  <a:pt x="96982" y="651164"/>
                  <a:pt x="130629" y="617517"/>
                </a:cubicBezTo>
                <a:cubicBezTo>
                  <a:pt x="164276" y="583870"/>
                  <a:pt x="182089" y="546265"/>
                  <a:pt x="201881" y="510639"/>
                </a:cubicBezTo>
                <a:cubicBezTo>
                  <a:pt x="221673" y="475013"/>
                  <a:pt x="233548" y="449283"/>
                  <a:pt x="249382" y="403761"/>
                </a:cubicBezTo>
                <a:cubicBezTo>
                  <a:pt x="265216" y="358239"/>
                  <a:pt x="277092" y="290945"/>
                  <a:pt x="296884" y="237506"/>
                </a:cubicBezTo>
                <a:cubicBezTo>
                  <a:pt x="316676" y="184067"/>
                  <a:pt x="342405" y="122711"/>
                  <a:pt x="368135" y="83127"/>
                </a:cubicBezTo>
                <a:cubicBezTo>
                  <a:pt x="393865" y="43543"/>
                  <a:pt x="422564" y="21771"/>
                  <a:pt x="451263" y="0"/>
                </a:cubicBezTo>
              </a:path>
            </a:pathLst>
          </a:cu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538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5539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540" name="组合 63"/>
          <p:cNvGrpSpPr/>
          <p:nvPr/>
        </p:nvGrpSpPr>
        <p:grpSpPr>
          <a:xfrm>
            <a:off x="1206500" y="1531938"/>
            <a:ext cx="10158413" cy="4195762"/>
            <a:chOff x="1631612" y="1998434"/>
            <a:chExt cx="8036622" cy="5355770"/>
          </a:xfrm>
        </p:grpSpPr>
        <p:sp>
          <p:nvSpPr>
            <p:cNvPr id="61" name="矩形 60"/>
            <p:cNvSpPr/>
            <p:nvPr/>
          </p:nvSpPr>
          <p:spPr>
            <a:xfrm>
              <a:off x="1631612" y="1998434"/>
              <a:ext cx="7908518" cy="5355770"/>
            </a:xfrm>
            <a:prstGeom prst="round1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59716" y="2105832"/>
              <a:ext cx="7908518" cy="1296895"/>
            </a:xfrm>
            <a:prstGeom prst="round1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 eaLnBrk="0" hangingPunct="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听录音并跟读，</a:t>
              </a: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+mn-ea"/>
                  <a:ea typeface="+mn-ea"/>
                  <a:cs typeface="+mn-cs"/>
                </a:rPr>
                <a:t>注意声调的搭配</a:t>
              </a:r>
              <a:endParaRPr kumimoji="0" lang="en-US" altLang="zh-CN" sz="2000" b="1" kern="1200" cap="none" spc="0" normalizeH="0" baseline="0" noProof="0" dirty="0">
                <a:solidFill>
                  <a:srgbClr val="00B050"/>
                </a:solidFill>
                <a:latin typeface="+mn-ea"/>
                <a:ea typeface="+mn-ea"/>
                <a:cs typeface="+mn-cs"/>
              </a:endParaRPr>
            </a:p>
            <a:p>
              <a:pPr marR="0" defTabSz="914400" eaLnBrk="0" hangingPunct="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Listen to the recording and read after </a:t>
              </a:r>
              <a:r>
                <a:rPr kumimoji="0" lang="en-US" altLang="zh-CN" sz="2000" kern="1200" cap="none" spc="0" normalizeH="0" baseline="0" noProof="0" dirty="0" err="1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it.Pay</a:t>
              </a: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 attention to the collocation of the tones. </a:t>
              </a:r>
              <a:endParaRPr kumimoji="0" lang="zh-CN" altLang="en-US" sz="2000" kern="1200" cap="none" spc="0" normalizeH="0" baseline="0" noProof="0" dirty="0">
                <a:solidFill>
                  <a:srgbClr val="00B050"/>
                </a:solidFill>
                <a:latin typeface="+mn-ea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147888" y="2647950"/>
            <a:ext cx="23891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lǎo shī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68788" y="2647950"/>
            <a:ext cx="23891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lǎo rén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02663" y="2647950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yǒu yònɡ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75425" y="2647950"/>
            <a:ext cx="2387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yǔ sǎn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47888" y="3348038"/>
            <a:ext cx="23891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měi tiān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68788" y="3348038"/>
            <a:ext cx="23891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měi 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GB Pinyinok-D"/>
                <a:ea typeface="GB Pinyinok-D"/>
              </a:rPr>
              <a:t>nián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56375" y="3348038"/>
            <a:ext cx="2387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měi hǎo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461375" y="3348038"/>
            <a:ext cx="26400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 měi lì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09788" y="4057650"/>
            <a:ext cx="23891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hǎi biān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46563" y="4057650"/>
            <a:ext cx="31305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hǎi mián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67488" y="4057650"/>
            <a:ext cx="31305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xǐ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GB Pinyinok-D"/>
                <a:ea typeface="GB Pinyinok-D"/>
              </a:rPr>
              <a:t>zǎo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36000" y="4057650"/>
            <a:ext cx="312896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ɡǎn xiè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05025" y="4799013"/>
            <a:ext cx="2387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yǐ jīnɡ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73550" y="4799013"/>
            <a:ext cx="312896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yǐqián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62725" y="4799013"/>
            <a:ext cx="31305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biǎo yǎn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24888" y="4799013"/>
            <a:ext cx="312896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GB Pinyinok-D"/>
                <a:ea typeface="GB Pinyinok-D"/>
              </a:rPr>
              <a:t>biǎo xiàn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  <p:bldP spid="24" grpId="0"/>
      <p:bldP spid="25" grpId="0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586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7587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认识独体字 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Single-Component Characters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pic>
        <p:nvPicPr>
          <p:cNvPr id="67589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425" y="2690813"/>
            <a:ext cx="1900238" cy="1884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7590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425" y="2690813"/>
            <a:ext cx="1901825" cy="18843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591" name="TextBox 35"/>
          <p:cNvSpPr txBox="1"/>
          <p:nvPr/>
        </p:nvSpPr>
        <p:spPr>
          <a:xfrm>
            <a:off x="2544763" y="2679700"/>
            <a:ext cx="1900237" cy="1862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zh-CN" altLang="en-US" sz="11500" b="1" dirty="0">
                <a:solidFill>
                  <a:srgbClr val="68A042"/>
                </a:solidFill>
                <a:latin typeface="楷体_GB2312" pitchFamily="49" charset="-122"/>
                <a:ea typeface="楷体_GB2312" pitchFamily="49" charset="-122"/>
              </a:rPr>
              <a:t>少</a:t>
            </a:r>
          </a:p>
        </p:txBody>
      </p:sp>
      <p:sp>
        <p:nvSpPr>
          <p:cNvPr id="67592" name="TextBox 37"/>
          <p:cNvSpPr txBox="1"/>
          <p:nvPr/>
        </p:nvSpPr>
        <p:spPr>
          <a:xfrm>
            <a:off x="7292975" y="2679700"/>
            <a:ext cx="1901825" cy="1862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zh-CN" altLang="en-US" sz="11500" b="1" dirty="0">
                <a:solidFill>
                  <a:srgbClr val="669E40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817495" y="2057400"/>
            <a:ext cx="1524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/>
              <a:t>shǎo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740650" y="2118995"/>
            <a:ext cx="13716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/>
              <a:t>ɡè</a:t>
            </a:r>
            <a:r>
              <a:rPr lang="en-US" altLang="en-US" sz="2800"/>
              <a:t> 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610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8611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汉字的结构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3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Structure of Characters(3)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1317625" y="2316163"/>
          <a:ext cx="9856788" cy="290523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108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1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6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42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 </a:t>
                      </a:r>
                      <a:r>
                        <a:rPr lang="en-US" altLang="zh-CN" sz="2400" b="1" i="0" kern="1200" dirty="0">
                          <a:solidFill>
                            <a:schemeClr val="lt1"/>
                          </a:solidFill>
                          <a:latin typeface="Bradley Hand ITC" panose="03070402050302030203" pitchFamily="66" charset="0"/>
                          <a:ea typeface="+mn-ea"/>
                          <a:cs typeface="+mn-cs"/>
                        </a:rPr>
                        <a:t>Structure</a:t>
                      </a:r>
                      <a:endParaRPr lang="zh-CN" altLang="en-US" sz="2400" b="1" i="0" kern="1200" dirty="0">
                        <a:solidFill>
                          <a:schemeClr val="lt1"/>
                        </a:solidFill>
                        <a:latin typeface="Bradley Hand ITC" panose="03070402050302030203" pitchFamily="66" charset="0"/>
                        <a:ea typeface="+mn-ea"/>
                        <a:cs typeface="+mn-cs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例字 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Example Characters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图解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Illustrations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609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a typeface="+mn-ea"/>
                        </a:rPr>
                        <a:t>   上下结构</a:t>
                      </a:r>
                      <a:r>
                        <a:rPr lang="zh-CN" altLang="en-US" sz="2400" b="1" baseline="0" dirty="0">
                          <a:ea typeface="+mn-ea"/>
                        </a:rPr>
                        <a:t>   </a:t>
                      </a:r>
                      <a:endParaRPr lang="en-US" altLang="zh-CN" sz="2400" b="1" baseline="0" dirty="0">
                        <a:ea typeface="+mn-ea"/>
                      </a:endParaRPr>
                    </a:p>
                    <a:p>
                      <a:pPr algn="l"/>
                      <a:r>
                        <a:rPr lang="en-US" altLang="zh-CN" sz="2400" b="0" baseline="0" dirty="0">
                          <a:latin typeface="+mn-lt"/>
                          <a:ea typeface="GB Pinyinok-D" pitchFamily="2" charset="-122"/>
                        </a:rPr>
                        <a:t>   top-bottom</a:t>
                      </a:r>
                      <a:endParaRPr lang="en-US" altLang="zh-CN" sz="24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4350" indent="-514350" algn="l">
                        <a:buNone/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是</a:t>
                      </a:r>
                      <a:r>
                        <a:rPr lang="en-US" altLang="zh-CN" sz="2800" b="1" dirty="0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2800" b="1" baseline="0" dirty="0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2400" b="1" kern="120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shì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 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to be</a:t>
                      </a:r>
                    </a:p>
                    <a:p>
                      <a:pPr marL="457200" indent="-457200" algn="l">
                        <a:buNone/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爸    </a:t>
                      </a:r>
                      <a:r>
                        <a:rPr lang="en-US" altLang="zh-CN" sz="2400" b="1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华文新魏" panose="02010800040101010101" pitchFamily="2" charset="-122"/>
                          <a:ea typeface="GB Pinyinok-D" pitchFamily="2" charset="-122"/>
                        </a:rPr>
                        <a:t> </a:t>
                      </a:r>
                      <a:r>
                        <a:rPr lang="en-US" altLang="zh-CN" sz="2400" b="1" kern="120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bà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   </a:t>
                      </a:r>
                      <a:r>
                        <a:rPr lang="en-US" altLang="zh-CN" sz="2400" dirty="0"/>
                        <a:t>father</a:t>
                      </a:r>
                      <a:endParaRPr lang="en-US" altLang="zh-CN" sz="2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GB Pinyinok-D" pitchFamily="2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4350" indent="-514350" algn="l">
                        <a:buNone/>
                      </a:pPr>
                      <a:endParaRPr lang="en-US" altLang="zh-CN" sz="3200" b="1" baseline="0" dirty="0">
                        <a:solidFill>
                          <a:srgbClr val="C00000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pPr marL="514350" indent="-514350" algn="l">
                        <a:buNone/>
                      </a:pPr>
                      <a:r>
                        <a:rPr lang="zh-CN" altLang="en-US" sz="3200" b="1" baseline="0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endParaRPr lang="zh-CN" altLang="en-US" sz="3200" b="1" dirty="0">
                        <a:solidFill>
                          <a:srgbClr val="C00000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971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a typeface="+mn-ea"/>
                        </a:rPr>
                        <a:t>   上中下结构</a:t>
                      </a:r>
                      <a:r>
                        <a:rPr lang="zh-CN" altLang="en-US" sz="2400" b="1" baseline="0" dirty="0">
                          <a:ea typeface="+mn-ea"/>
                        </a:rPr>
                        <a:t>  </a:t>
                      </a:r>
                      <a:endParaRPr lang="en-US" altLang="zh-CN" sz="2400" b="0" baseline="0" dirty="0">
                        <a:latin typeface="+mn-lt"/>
                        <a:ea typeface="GB Pinyinok-D" pitchFamily="2" charset="-122"/>
                      </a:endParaRPr>
                    </a:p>
                    <a:p>
                      <a:pPr algn="l"/>
                      <a:r>
                        <a:rPr lang="en-US" altLang="zh-CN" sz="2400" b="0" baseline="0" dirty="0">
                          <a:latin typeface="+mn-lt"/>
                          <a:ea typeface="GB Pinyinok-D" pitchFamily="2" charset="-122"/>
                        </a:rPr>
                        <a:t>  top-middle-bottom</a:t>
                      </a:r>
                      <a:endParaRPr lang="en-US" altLang="zh-CN" sz="2400" b="0" dirty="0">
                        <a:latin typeface="+mn-lt"/>
                        <a:ea typeface="GB Pinyinok-D" pitchFamily="2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茶     </a:t>
                      </a:r>
                      <a:r>
                        <a:rPr lang="en-US" altLang="zh-CN" sz="2400" b="1" kern="120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chá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  </a:t>
                      </a:r>
                      <a:r>
                        <a:rPr lang="en-US" altLang="zh-CN" sz="2400" baseline="0" dirty="0"/>
                        <a:t>tea</a:t>
                      </a:r>
                      <a:endParaRPr lang="en-US" altLang="zh-CN" sz="2400" dirty="0"/>
                    </a:p>
                    <a:p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高     </a:t>
                      </a:r>
                      <a:r>
                        <a:rPr lang="en-US" altLang="zh-CN" sz="2400" b="1" kern="120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ɡāo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</a:t>
                      </a:r>
                      <a:r>
                        <a:rPr lang="en-US" altLang="zh-CN" sz="24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tall,high</a:t>
                      </a:r>
                      <a:endParaRPr lang="zh-CN" altLang="en-US" sz="24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</a:t>
                      </a: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endParaRPr lang="en-US" altLang="zh-CN" sz="3200" b="1" baseline="0" dirty="0">
                        <a:solidFill>
                          <a:srgbClr val="C00000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r>
                        <a:rPr lang="zh-CN" altLang="en-US" sz="32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</a:t>
                      </a: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 </a:t>
                      </a:r>
                      <a:r>
                        <a:rPr lang="zh-CN" altLang="en-US" sz="32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</a:t>
                      </a: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8631" name="Rectangle 29"/>
          <p:cNvSpPr/>
          <p:nvPr/>
        </p:nvSpPr>
        <p:spPr>
          <a:xfrm>
            <a:off x="7759700" y="1474788"/>
            <a:ext cx="231775" cy="4603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zh-CN" altLang="zh-CN" sz="11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grpSp>
        <p:nvGrpSpPr>
          <p:cNvPr id="68632" name="组合 27"/>
          <p:cNvGrpSpPr/>
          <p:nvPr/>
        </p:nvGrpSpPr>
        <p:grpSpPr>
          <a:xfrm>
            <a:off x="8255000" y="3168650"/>
            <a:ext cx="569913" cy="523875"/>
            <a:chOff x="8254999" y="3168650"/>
            <a:chExt cx="569914" cy="523220"/>
          </a:xfrm>
        </p:grpSpPr>
        <p:sp>
          <p:nvSpPr>
            <p:cNvPr id="68644" name="TextBox 28"/>
            <p:cNvSpPr txBox="1"/>
            <p:nvPr/>
          </p:nvSpPr>
          <p:spPr>
            <a:xfrm>
              <a:off x="8255000" y="3168650"/>
              <a:ext cx="569913" cy="5232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0" hangingPunct="0">
                <a:buNone/>
              </a:pPr>
              <a:r>
                <a:rPr lang="zh-CN" altLang="en-US" sz="28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是</a:t>
              </a:r>
              <a:endParaRPr lang="zh-CN" altLang="en-US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35" name="直接连接符 134"/>
            <p:cNvCxnSpPr/>
            <p:nvPr/>
          </p:nvCxnSpPr>
          <p:spPr bwMode="auto">
            <a:xfrm rot="10800000" flipH="1">
              <a:off x="8254999" y="3385866"/>
              <a:ext cx="569914" cy="15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633" name="组合 40"/>
          <p:cNvGrpSpPr/>
          <p:nvPr/>
        </p:nvGrpSpPr>
        <p:grpSpPr>
          <a:xfrm>
            <a:off x="8239125" y="4370388"/>
            <a:ext cx="582613" cy="523875"/>
            <a:chOff x="8239124" y="4370591"/>
            <a:chExt cx="582614" cy="523220"/>
          </a:xfrm>
        </p:grpSpPr>
        <p:sp>
          <p:nvSpPr>
            <p:cNvPr id="68641" name="TextBox 28"/>
            <p:cNvSpPr txBox="1"/>
            <p:nvPr/>
          </p:nvSpPr>
          <p:spPr>
            <a:xfrm>
              <a:off x="8239125" y="4370591"/>
              <a:ext cx="582613" cy="5232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0" hangingPunct="0">
                <a:buNone/>
              </a:pPr>
              <a:r>
                <a:rPr lang="zh-CN" altLang="en-US" sz="28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茶</a:t>
              </a:r>
              <a:endParaRPr lang="zh-CN" altLang="en-US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38" name="直接连接符 137"/>
            <p:cNvCxnSpPr/>
            <p:nvPr/>
          </p:nvCxnSpPr>
          <p:spPr bwMode="auto">
            <a:xfrm rot="10800000" flipH="1">
              <a:off x="8239124" y="4648056"/>
              <a:ext cx="582614" cy="15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 bwMode="auto">
            <a:xfrm flipH="1">
              <a:off x="8239124" y="4527557"/>
              <a:ext cx="582614" cy="15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634" name="组合 33"/>
          <p:cNvGrpSpPr/>
          <p:nvPr/>
        </p:nvGrpSpPr>
        <p:grpSpPr>
          <a:xfrm>
            <a:off x="9431338" y="3179763"/>
            <a:ext cx="569912" cy="523875"/>
            <a:chOff x="9431338" y="3179763"/>
            <a:chExt cx="569912" cy="523220"/>
          </a:xfrm>
        </p:grpSpPr>
        <p:sp>
          <p:nvSpPr>
            <p:cNvPr id="68639" name="TextBox 28"/>
            <p:cNvSpPr txBox="1"/>
            <p:nvPr/>
          </p:nvSpPr>
          <p:spPr>
            <a:xfrm>
              <a:off x="9431338" y="3179763"/>
              <a:ext cx="569912" cy="5232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0" hangingPunct="0">
                <a:buNone/>
              </a:pPr>
              <a:r>
                <a:rPr lang="zh-CN" altLang="en-US" sz="28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爸</a:t>
              </a:r>
              <a:endParaRPr lang="zh-CN" altLang="en-US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22" name="直接连接符 21"/>
            <p:cNvCxnSpPr/>
            <p:nvPr/>
          </p:nvCxnSpPr>
          <p:spPr bwMode="auto">
            <a:xfrm rot="10800000" flipH="1">
              <a:off x="9431338" y="3435030"/>
              <a:ext cx="569912" cy="15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635" name="组合 47"/>
          <p:cNvGrpSpPr/>
          <p:nvPr/>
        </p:nvGrpSpPr>
        <p:grpSpPr>
          <a:xfrm>
            <a:off x="9440863" y="4368800"/>
            <a:ext cx="582612" cy="523875"/>
            <a:chOff x="9440863" y="4351340"/>
            <a:chExt cx="582612" cy="523220"/>
          </a:xfrm>
        </p:grpSpPr>
        <p:sp>
          <p:nvSpPr>
            <p:cNvPr id="68636" name="TextBox 28"/>
            <p:cNvSpPr txBox="1"/>
            <p:nvPr/>
          </p:nvSpPr>
          <p:spPr>
            <a:xfrm>
              <a:off x="9440863" y="4351340"/>
              <a:ext cx="582612" cy="5232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0" hangingPunct="0">
                <a:buNone/>
              </a:pPr>
              <a:r>
                <a:rPr lang="zh-CN" altLang="en-US" sz="28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高</a:t>
              </a:r>
              <a:endParaRPr lang="zh-CN" altLang="en-US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 bwMode="auto">
            <a:xfrm flipH="1">
              <a:off x="9440863" y="4536846"/>
              <a:ext cx="582612" cy="15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 bwMode="auto">
            <a:xfrm rot="10800000" flipH="1">
              <a:off x="9440863" y="4606608"/>
              <a:ext cx="582612" cy="15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634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9635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711200" y="2287588"/>
          <a:ext cx="10946343" cy="326072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13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4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8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42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偏旁 </a:t>
                      </a:r>
                      <a:r>
                        <a:rPr lang="en-US" altLang="zh-CN" sz="2400" b="1" i="0" kern="1200" dirty="0">
                          <a:solidFill>
                            <a:schemeClr val="lt1"/>
                          </a:solidFill>
                          <a:latin typeface="Bradley Hand ITC" panose="03070402050302030203" pitchFamily="66" charset="0"/>
                          <a:ea typeface="+mn-ea"/>
                          <a:cs typeface="+mn-cs"/>
                        </a:rPr>
                        <a:t>Radicals</a:t>
                      </a:r>
                      <a:endParaRPr lang="zh-CN" altLang="en-US" sz="2400" b="1" i="0" kern="1200" dirty="0">
                        <a:solidFill>
                          <a:schemeClr val="lt1"/>
                        </a:solidFill>
                        <a:latin typeface="Bradley Hand ITC" panose="03070402050302030203" pitchFamily="66" charset="0"/>
                        <a:ea typeface="+mn-ea"/>
                        <a:cs typeface="+mn-cs"/>
                      </a:endParaRPr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解释 </a:t>
                      </a:r>
                      <a:endParaRPr lang="en-US" altLang="zh-CN" sz="2400" dirty="0">
                        <a:latin typeface="Bradley Hand ITC" panose="03070402050302030203" pitchFamily="66" charset="0"/>
                        <a:ea typeface="+mn-ea"/>
                      </a:endParaRPr>
                    </a:p>
                    <a:p>
                      <a:pPr algn="ctr"/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Explanation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例字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Example</a:t>
                      </a:r>
                      <a:r>
                        <a:rPr lang="en-US" altLang="zh-CN" sz="2400" baseline="0" dirty="0">
                          <a:latin typeface="Bradley Hand ITC" panose="03070402050302030203" pitchFamily="66" charset="0"/>
                        </a:rPr>
                        <a:t> Characters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6097"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金字旁，一般和金属有关系。</a:t>
                      </a:r>
                      <a:endParaRPr lang="en-US" altLang="zh-CN" sz="2400" dirty="0"/>
                    </a:p>
                    <a:p>
                      <a:r>
                        <a:rPr lang="en-US" altLang="zh-CN" sz="2000" dirty="0"/>
                        <a:t>The radical</a:t>
                      </a:r>
                      <a:r>
                        <a:rPr lang="zh-CN" altLang="en-US" sz="2000" dirty="0"/>
                        <a:t>“  ”</a:t>
                      </a:r>
                      <a:r>
                        <a:rPr lang="en-US" altLang="zh-CN" sz="2000" dirty="0"/>
                        <a:t>is usually related to metal.</a:t>
                      </a:r>
                      <a:endParaRPr lang="zh-CN" altLang="en-US" sz="20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4350" indent="-514350" algn="l">
                        <a:buNone/>
                      </a:pPr>
                      <a:r>
                        <a:rPr lang="en-US" altLang="zh-CN" sz="2800" b="1" dirty="0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 </a:t>
                      </a:r>
                      <a:r>
                        <a:rPr lang="en-US" altLang="zh-CN" sz="2400" b="1" kern="1200" baseline="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zhōnɡ</a:t>
                      </a:r>
                      <a:r>
                        <a:rPr lang="en-US" altLang="zh-CN" sz="2400" b="1" kern="1200" baseline="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 </a:t>
                      </a:r>
                      <a:r>
                        <a:rPr lang="en-US" altLang="zh-CN" sz="2400" b="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clock</a:t>
                      </a:r>
                    </a:p>
                    <a:p>
                      <a:pPr marL="457200" indent="-457200" algn="l">
                        <a:buNone/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         </a:t>
                      </a:r>
                      <a:r>
                        <a:rPr lang="en-US" altLang="zh-CN" sz="2400" b="1" kern="1200" baseline="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qián</a:t>
                      </a:r>
                      <a:r>
                        <a:rPr lang="en-US" altLang="zh-CN" sz="2400" b="1" kern="1200" baseline="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</a:t>
                      </a:r>
                      <a:r>
                        <a:rPr lang="en-US" altLang="zh-CN" sz="2400" b="1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 money</a:t>
                      </a:r>
                      <a:endParaRPr lang="zh-CN" altLang="en-US" sz="2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GB Pinyinok-D" pitchFamily="2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9710">
                <a:tc>
                  <a:txBody>
                    <a:bodyPr/>
                    <a:lstStyle/>
                    <a:p>
                      <a:pPr algn="l"/>
                      <a:endParaRPr lang="zh-CN" altLang="en-US" sz="2400" b="0" dirty="0">
                        <a:latin typeface="+mn-lt"/>
                        <a:ea typeface="GB Pinyinok-D" pitchFamily="2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口字旁，一般和嘴巴有关系。</a:t>
                      </a:r>
                      <a:endParaRPr lang="en-US" altLang="zh-CN" sz="2400" dirty="0"/>
                    </a:p>
                    <a:p>
                      <a:r>
                        <a:rPr lang="en-US" altLang="zh-CN" sz="2000" dirty="0"/>
                        <a:t>The radical</a:t>
                      </a:r>
                      <a:r>
                        <a:rPr lang="zh-CN" altLang="en-US" sz="2000" dirty="0"/>
                        <a:t>“  ”</a:t>
                      </a:r>
                      <a:r>
                        <a:rPr lang="en-US" altLang="zh-CN" sz="2000" dirty="0"/>
                        <a:t>is usually related</a:t>
                      </a:r>
                      <a:r>
                        <a:rPr lang="en-US" altLang="zh-CN" sz="2000" baseline="0" dirty="0"/>
                        <a:t> to the mouth.</a:t>
                      </a:r>
                      <a:endParaRPr lang="zh-CN" altLang="en-US" sz="20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         </a:t>
                      </a:r>
                      <a:r>
                        <a:rPr lang="en-US" altLang="zh-CN" sz="2400" b="1" kern="1200" baseline="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chī</a:t>
                      </a:r>
                      <a:r>
                        <a:rPr lang="en-US" altLang="zh-CN" sz="2400" b="1" kern="1200" baseline="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</a:t>
                      </a:r>
                      <a:r>
                        <a:rPr lang="en-US" altLang="zh-CN" sz="2400" b="1" dirty="0">
                          <a:latin typeface="GB Pinyinok-D" pitchFamily="2" charset="-122"/>
                          <a:ea typeface="GB Pinyinok-D" pitchFamily="2" charset="-122"/>
                        </a:rPr>
                        <a:t>    </a:t>
                      </a:r>
                      <a:r>
                        <a:rPr lang="en-US" altLang="zh-CN" sz="2400" dirty="0"/>
                        <a:t>to</a:t>
                      </a:r>
                      <a:r>
                        <a:rPr lang="en-US" altLang="zh-CN" sz="2400" baseline="0" dirty="0"/>
                        <a:t> eat</a:t>
                      </a:r>
                      <a:endParaRPr lang="en-US" altLang="zh-CN" sz="2400" dirty="0"/>
                    </a:p>
                    <a:p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         </a:t>
                      </a:r>
                      <a:r>
                        <a:rPr lang="en-US" altLang="zh-CN" sz="2400" b="1" kern="1200" baseline="0" dirty="0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hē</a:t>
                      </a:r>
                      <a:r>
                        <a:rPr lang="en-US" altLang="zh-CN" sz="2400" b="1" kern="1200" baseline="0" dirty="0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    </a:t>
                      </a:r>
                      <a:r>
                        <a:rPr lang="en-US" altLang="zh-CN" sz="2400" baseline="0" dirty="0"/>
                        <a:t>to drink</a:t>
                      </a:r>
                      <a:endParaRPr lang="zh-CN" altLang="en-US" sz="24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9654" name="组合 144"/>
          <p:cNvGrpSpPr>
            <a:grpSpLocks noChangeAspect="1"/>
          </p:cNvGrpSpPr>
          <p:nvPr/>
        </p:nvGrpSpPr>
        <p:grpSpPr>
          <a:xfrm>
            <a:off x="7637463" y="3333750"/>
            <a:ext cx="366712" cy="360363"/>
            <a:chOff x="7525159" y="3242807"/>
            <a:chExt cx="450850" cy="442913"/>
          </a:xfrm>
        </p:grpSpPr>
        <p:sp>
          <p:nvSpPr>
            <p:cNvPr id="69697" name="Freeform 80"/>
            <p:cNvSpPr/>
            <p:nvPr/>
          </p:nvSpPr>
          <p:spPr>
            <a:xfrm>
              <a:off x="7525159" y="3242807"/>
              <a:ext cx="158750" cy="238125"/>
            </a:xfrm>
            <a:custGeom>
              <a:avLst/>
              <a:gdLst>
                <a:gd name="txL" fmla="*/ 0 w 100"/>
                <a:gd name="txT" fmla="*/ 0 h 150"/>
                <a:gd name="txR" fmla="*/ 100 w 100"/>
                <a:gd name="txB" fmla="*/ 150 h 15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00" h="150">
                  <a:moveTo>
                    <a:pt x="42" y="114"/>
                  </a:moveTo>
                  <a:lnTo>
                    <a:pt x="32" y="124"/>
                  </a:lnTo>
                  <a:lnTo>
                    <a:pt x="27" y="129"/>
                  </a:lnTo>
                  <a:lnTo>
                    <a:pt x="16" y="139"/>
                  </a:lnTo>
                  <a:lnTo>
                    <a:pt x="11" y="145"/>
                  </a:lnTo>
                  <a:lnTo>
                    <a:pt x="6" y="145"/>
                  </a:lnTo>
                  <a:lnTo>
                    <a:pt x="6" y="150"/>
                  </a:lnTo>
                  <a:lnTo>
                    <a:pt x="0" y="150"/>
                  </a:lnTo>
                  <a:lnTo>
                    <a:pt x="0" y="145"/>
                  </a:lnTo>
                  <a:lnTo>
                    <a:pt x="6" y="134"/>
                  </a:lnTo>
                  <a:lnTo>
                    <a:pt x="16" y="129"/>
                  </a:lnTo>
                  <a:lnTo>
                    <a:pt x="32" y="103"/>
                  </a:lnTo>
                  <a:lnTo>
                    <a:pt x="48" y="83"/>
                  </a:lnTo>
                  <a:lnTo>
                    <a:pt x="58" y="57"/>
                  </a:lnTo>
                  <a:lnTo>
                    <a:pt x="69" y="47"/>
                  </a:lnTo>
                  <a:lnTo>
                    <a:pt x="69" y="31"/>
                  </a:lnTo>
                  <a:lnTo>
                    <a:pt x="74" y="21"/>
                  </a:lnTo>
                  <a:lnTo>
                    <a:pt x="74" y="10"/>
                  </a:lnTo>
                  <a:lnTo>
                    <a:pt x="74" y="5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84" y="0"/>
                  </a:lnTo>
                  <a:lnTo>
                    <a:pt x="90" y="0"/>
                  </a:lnTo>
                  <a:lnTo>
                    <a:pt x="95" y="5"/>
                  </a:lnTo>
                  <a:lnTo>
                    <a:pt x="100" y="10"/>
                  </a:lnTo>
                  <a:lnTo>
                    <a:pt x="95" y="16"/>
                  </a:lnTo>
                  <a:lnTo>
                    <a:pt x="95" y="21"/>
                  </a:lnTo>
                  <a:lnTo>
                    <a:pt x="95" y="26"/>
                  </a:lnTo>
                  <a:lnTo>
                    <a:pt x="90" y="31"/>
                  </a:lnTo>
                  <a:lnTo>
                    <a:pt x="90" y="36"/>
                  </a:lnTo>
                  <a:lnTo>
                    <a:pt x="84" y="41"/>
                  </a:lnTo>
                  <a:lnTo>
                    <a:pt x="79" y="52"/>
                  </a:lnTo>
                  <a:lnTo>
                    <a:pt x="74" y="72"/>
                  </a:lnTo>
                  <a:lnTo>
                    <a:pt x="63" y="88"/>
                  </a:lnTo>
                  <a:lnTo>
                    <a:pt x="53" y="103"/>
                  </a:lnTo>
                  <a:lnTo>
                    <a:pt x="42" y="114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8" name="Freeform 81"/>
            <p:cNvSpPr/>
            <p:nvPr/>
          </p:nvSpPr>
          <p:spPr>
            <a:xfrm>
              <a:off x="7634696" y="3317419"/>
              <a:ext cx="107950" cy="31750"/>
            </a:xfrm>
            <a:custGeom>
              <a:avLst/>
              <a:gdLst>
                <a:gd name="txL" fmla="*/ 0 w 68"/>
                <a:gd name="txT" fmla="*/ 0 h 20"/>
                <a:gd name="txR" fmla="*/ 68 w 68"/>
                <a:gd name="txB" fmla="*/ 20 h 2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68" h="20">
                  <a:moveTo>
                    <a:pt x="31" y="5"/>
                  </a:moveTo>
                  <a:lnTo>
                    <a:pt x="36" y="5"/>
                  </a:lnTo>
                  <a:lnTo>
                    <a:pt x="42" y="0"/>
                  </a:lnTo>
                  <a:lnTo>
                    <a:pt x="52" y="0"/>
                  </a:lnTo>
                  <a:lnTo>
                    <a:pt x="57" y="0"/>
                  </a:lnTo>
                  <a:lnTo>
                    <a:pt x="63" y="0"/>
                  </a:lnTo>
                  <a:lnTo>
                    <a:pt x="68" y="5"/>
                  </a:lnTo>
                  <a:lnTo>
                    <a:pt x="63" y="5"/>
                  </a:lnTo>
                  <a:lnTo>
                    <a:pt x="63" y="10"/>
                  </a:lnTo>
                  <a:lnTo>
                    <a:pt x="57" y="15"/>
                  </a:lnTo>
                  <a:lnTo>
                    <a:pt x="47" y="15"/>
                  </a:lnTo>
                  <a:lnTo>
                    <a:pt x="36" y="15"/>
                  </a:lnTo>
                  <a:lnTo>
                    <a:pt x="26" y="20"/>
                  </a:lnTo>
                  <a:lnTo>
                    <a:pt x="15" y="20"/>
                  </a:lnTo>
                  <a:lnTo>
                    <a:pt x="0" y="20"/>
                  </a:lnTo>
                  <a:lnTo>
                    <a:pt x="0" y="15"/>
                  </a:lnTo>
                  <a:lnTo>
                    <a:pt x="15" y="10"/>
                  </a:lnTo>
                  <a:lnTo>
                    <a:pt x="31" y="5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9" name="Freeform 82"/>
            <p:cNvSpPr/>
            <p:nvPr/>
          </p:nvSpPr>
          <p:spPr>
            <a:xfrm>
              <a:off x="7809321" y="3242807"/>
              <a:ext cx="49213" cy="442913"/>
            </a:xfrm>
            <a:custGeom>
              <a:avLst/>
              <a:gdLst>
                <a:gd name="txL" fmla="*/ 0 w 31"/>
                <a:gd name="txT" fmla="*/ 0 h 279"/>
                <a:gd name="txR" fmla="*/ 31 w 31"/>
                <a:gd name="txB" fmla="*/ 279 h 279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31" h="279">
                  <a:moveTo>
                    <a:pt x="26" y="36"/>
                  </a:moveTo>
                  <a:lnTo>
                    <a:pt x="26" y="41"/>
                  </a:lnTo>
                  <a:lnTo>
                    <a:pt x="26" y="47"/>
                  </a:lnTo>
                  <a:lnTo>
                    <a:pt x="26" y="57"/>
                  </a:lnTo>
                  <a:lnTo>
                    <a:pt x="26" y="67"/>
                  </a:lnTo>
                  <a:lnTo>
                    <a:pt x="26" y="83"/>
                  </a:lnTo>
                  <a:lnTo>
                    <a:pt x="26" y="98"/>
                  </a:lnTo>
                  <a:lnTo>
                    <a:pt x="26" y="114"/>
                  </a:lnTo>
                  <a:lnTo>
                    <a:pt x="26" y="134"/>
                  </a:lnTo>
                  <a:lnTo>
                    <a:pt x="26" y="160"/>
                  </a:lnTo>
                  <a:lnTo>
                    <a:pt x="26" y="176"/>
                  </a:lnTo>
                  <a:lnTo>
                    <a:pt x="26" y="191"/>
                  </a:lnTo>
                  <a:lnTo>
                    <a:pt x="26" y="206"/>
                  </a:lnTo>
                  <a:lnTo>
                    <a:pt x="26" y="217"/>
                  </a:lnTo>
                  <a:lnTo>
                    <a:pt x="26" y="227"/>
                  </a:lnTo>
                  <a:lnTo>
                    <a:pt x="26" y="237"/>
                  </a:lnTo>
                  <a:lnTo>
                    <a:pt x="21" y="253"/>
                  </a:lnTo>
                  <a:lnTo>
                    <a:pt x="21" y="268"/>
                  </a:lnTo>
                  <a:lnTo>
                    <a:pt x="21" y="274"/>
                  </a:lnTo>
                  <a:lnTo>
                    <a:pt x="16" y="279"/>
                  </a:lnTo>
                  <a:lnTo>
                    <a:pt x="16" y="274"/>
                  </a:lnTo>
                  <a:lnTo>
                    <a:pt x="16" y="263"/>
                  </a:lnTo>
                  <a:lnTo>
                    <a:pt x="10" y="258"/>
                  </a:lnTo>
                  <a:lnTo>
                    <a:pt x="10" y="248"/>
                  </a:lnTo>
                  <a:lnTo>
                    <a:pt x="10" y="243"/>
                  </a:lnTo>
                  <a:lnTo>
                    <a:pt x="10" y="232"/>
                  </a:lnTo>
                  <a:lnTo>
                    <a:pt x="10" y="222"/>
                  </a:lnTo>
                  <a:lnTo>
                    <a:pt x="10" y="212"/>
                  </a:lnTo>
                  <a:lnTo>
                    <a:pt x="10" y="196"/>
                  </a:lnTo>
                  <a:lnTo>
                    <a:pt x="10" y="181"/>
                  </a:lnTo>
                  <a:lnTo>
                    <a:pt x="10" y="165"/>
                  </a:lnTo>
                  <a:lnTo>
                    <a:pt x="10" y="145"/>
                  </a:lnTo>
                  <a:lnTo>
                    <a:pt x="10" y="129"/>
                  </a:lnTo>
                  <a:lnTo>
                    <a:pt x="10" y="114"/>
                  </a:lnTo>
                  <a:lnTo>
                    <a:pt x="10" y="98"/>
                  </a:lnTo>
                  <a:lnTo>
                    <a:pt x="10" y="83"/>
                  </a:lnTo>
                  <a:lnTo>
                    <a:pt x="10" y="72"/>
                  </a:lnTo>
                  <a:lnTo>
                    <a:pt x="10" y="47"/>
                  </a:lnTo>
                  <a:lnTo>
                    <a:pt x="10" y="41"/>
                  </a:lnTo>
                  <a:lnTo>
                    <a:pt x="5" y="31"/>
                  </a:lnTo>
                  <a:lnTo>
                    <a:pt x="5" y="26"/>
                  </a:lnTo>
                  <a:lnTo>
                    <a:pt x="5" y="16"/>
                  </a:lnTo>
                  <a:lnTo>
                    <a:pt x="5" y="1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6" y="5"/>
                  </a:lnTo>
                  <a:lnTo>
                    <a:pt x="31" y="10"/>
                  </a:lnTo>
                  <a:lnTo>
                    <a:pt x="31" y="16"/>
                  </a:lnTo>
                  <a:lnTo>
                    <a:pt x="31" y="21"/>
                  </a:lnTo>
                  <a:lnTo>
                    <a:pt x="26" y="21"/>
                  </a:lnTo>
                  <a:lnTo>
                    <a:pt x="26" y="26"/>
                  </a:lnTo>
                  <a:lnTo>
                    <a:pt x="26" y="36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0" name="Freeform 83"/>
            <p:cNvSpPr/>
            <p:nvPr/>
          </p:nvSpPr>
          <p:spPr>
            <a:xfrm>
              <a:off x="7734709" y="3357107"/>
              <a:ext cx="41275" cy="123825"/>
            </a:xfrm>
            <a:custGeom>
              <a:avLst/>
              <a:gdLst>
                <a:gd name="txL" fmla="*/ 0 w 26"/>
                <a:gd name="txT" fmla="*/ 0 h 78"/>
                <a:gd name="txR" fmla="*/ 26 w 26"/>
                <a:gd name="txB" fmla="*/ 78 h 78"/>
              </a:gdLst>
              <a:ahLst/>
              <a:cxnLst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26" h="78">
                  <a:moveTo>
                    <a:pt x="5" y="16"/>
                  </a:moveTo>
                  <a:lnTo>
                    <a:pt x="0" y="11"/>
                  </a:lnTo>
                  <a:lnTo>
                    <a:pt x="0" y="6"/>
                  </a:lnTo>
                  <a:lnTo>
                    <a:pt x="5" y="0"/>
                  </a:lnTo>
                  <a:lnTo>
                    <a:pt x="10" y="6"/>
                  </a:lnTo>
                  <a:lnTo>
                    <a:pt x="21" y="6"/>
                  </a:lnTo>
                  <a:lnTo>
                    <a:pt x="21" y="21"/>
                  </a:lnTo>
                  <a:lnTo>
                    <a:pt x="26" y="36"/>
                  </a:lnTo>
                  <a:lnTo>
                    <a:pt x="26" y="47"/>
                  </a:lnTo>
                  <a:lnTo>
                    <a:pt x="26" y="52"/>
                  </a:lnTo>
                  <a:lnTo>
                    <a:pt x="26" y="62"/>
                  </a:lnTo>
                  <a:lnTo>
                    <a:pt x="26" y="67"/>
                  </a:lnTo>
                  <a:lnTo>
                    <a:pt x="26" y="73"/>
                  </a:lnTo>
                  <a:lnTo>
                    <a:pt x="26" y="78"/>
                  </a:lnTo>
                  <a:lnTo>
                    <a:pt x="21" y="78"/>
                  </a:lnTo>
                  <a:lnTo>
                    <a:pt x="15" y="73"/>
                  </a:lnTo>
                  <a:lnTo>
                    <a:pt x="15" y="57"/>
                  </a:lnTo>
                  <a:lnTo>
                    <a:pt x="10" y="42"/>
                  </a:lnTo>
                  <a:lnTo>
                    <a:pt x="10" y="26"/>
                  </a:lnTo>
                  <a:lnTo>
                    <a:pt x="5" y="16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1" name="Freeform 84"/>
            <p:cNvSpPr/>
            <p:nvPr/>
          </p:nvSpPr>
          <p:spPr>
            <a:xfrm>
              <a:off x="7750584" y="3341232"/>
              <a:ext cx="225425" cy="106363"/>
            </a:xfrm>
            <a:custGeom>
              <a:avLst/>
              <a:gdLst>
                <a:gd name="txL" fmla="*/ 0 w 142"/>
                <a:gd name="txT" fmla="*/ 0 h 67"/>
                <a:gd name="txR" fmla="*/ 142 w 142"/>
                <a:gd name="txB" fmla="*/ 67 h 67"/>
              </a:gdLst>
              <a:ahLst/>
              <a:cxnLst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txL" t="txT" r="txR" b="txB"/>
              <a:pathLst>
                <a:path w="142" h="67">
                  <a:moveTo>
                    <a:pt x="121" y="0"/>
                  </a:moveTo>
                  <a:lnTo>
                    <a:pt x="131" y="5"/>
                  </a:lnTo>
                  <a:lnTo>
                    <a:pt x="137" y="10"/>
                  </a:lnTo>
                  <a:lnTo>
                    <a:pt x="137" y="16"/>
                  </a:lnTo>
                  <a:lnTo>
                    <a:pt x="142" y="21"/>
                  </a:lnTo>
                  <a:lnTo>
                    <a:pt x="137" y="21"/>
                  </a:lnTo>
                  <a:lnTo>
                    <a:pt x="137" y="26"/>
                  </a:lnTo>
                  <a:lnTo>
                    <a:pt x="131" y="26"/>
                  </a:lnTo>
                  <a:lnTo>
                    <a:pt x="126" y="31"/>
                  </a:lnTo>
                  <a:lnTo>
                    <a:pt x="126" y="36"/>
                  </a:lnTo>
                  <a:lnTo>
                    <a:pt x="121" y="41"/>
                  </a:lnTo>
                  <a:lnTo>
                    <a:pt x="116" y="46"/>
                  </a:lnTo>
                  <a:lnTo>
                    <a:pt x="116" y="57"/>
                  </a:lnTo>
                  <a:lnTo>
                    <a:pt x="110" y="67"/>
                  </a:lnTo>
                  <a:lnTo>
                    <a:pt x="95" y="67"/>
                  </a:lnTo>
                  <a:lnTo>
                    <a:pt x="100" y="57"/>
                  </a:lnTo>
                  <a:lnTo>
                    <a:pt x="105" y="46"/>
                  </a:lnTo>
                  <a:lnTo>
                    <a:pt x="105" y="36"/>
                  </a:lnTo>
                  <a:lnTo>
                    <a:pt x="105" y="31"/>
                  </a:lnTo>
                  <a:lnTo>
                    <a:pt x="110" y="26"/>
                  </a:lnTo>
                  <a:lnTo>
                    <a:pt x="110" y="21"/>
                  </a:lnTo>
                  <a:lnTo>
                    <a:pt x="110" y="16"/>
                  </a:lnTo>
                  <a:lnTo>
                    <a:pt x="105" y="16"/>
                  </a:lnTo>
                  <a:lnTo>
                    <a:pt x="95" y="16"/>
                  </a:lnTo>
                  <a:lnTo>
                    <a:pt x="89" y="16"/>
                  </a:lnTo>
                  <a:lnTo>
                    <a:pt x="84" y="16"/>
                  </a:lnTo>
                  <a:lnTo>
                    <a:pt x="74" y="16"/>
                  </a:lnTo>
                  <a:lnTo>
                    <a:pt x="63" y="21"/>
                  </a:lnTo>
                  <a:lnTo>
                    <a:pt x="53" y="21"/>
                  </a:lnTo>
                  <a:lnTo>
                    <a:pt x="37" y="26"/>
                  </a:lnTo>
                  <a:lnTo>
                    <a:pt x="16" y="26"/>
                  </a:lnTo>
                  <a:lnTo>
                    <a:pt x="0" y="31"/>
                  </a:lnTo>
                  <a:lnTo>
                    <a:pt x="0" y="16"/>
                  </a:lnTo>
                  <a:lnTo>
                    <a:pt x="5" y="16"/>
                  </a:lnTo>
                  <a:lnTo>
                    <a:pt x="16" y="16"/>
                  </a:lnTo>
                  <a:lnTo>
                    <a:pt x="32" y="16"/>
                  </a:lnTo>
                  <a:lnTo>
                    <a:pt x="42" y="10"/>
                  </a:lnTo>
                  <a:lnTo>
                    <a:pt x="58" y="10"/>
                  </a:lnTo>
                  <a:lnTo>
                    <a:pt x="68" y="5"/>
                  </a:lnTo>
                  <a:lnTo>
                    <a:pt x="79" y="5"/>
                  </a:lnTo>
                  <a:lnTo>
                    <a:pt x="89" y="5"/>
                  </a:lnTo>
                  <a:lnTo>
                    <a:pt x="95" y="5"/>
                  </a:lnTo>
                  <a:lnTo>
                    <a:pt x="100" y="0"/>
                  </a:lnTo>
                  <a:lnTo>
                    <a:pt x="105" y="0"/>
                  </a:lnTo>
                  <a:lnTo>
                    <a:pt x="110" y="0"/>
                  </a:lnTo>
                  <a:lnTo>
                    <a:pt x="116" y="0"/>
                  </a:lnTo>
                  <a:lnTo>
                    <a:pt x="121" y="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2" name="Freeform 85"/>
            <p:cNvSpPr/>
            <p:nvPr/>
          </p:nvSpPr>
          <p:spPr>
            <a:xfrm>
              <a:off x="7768046" y="3431719"/>
              <a:ext cx="174625" cy="41275"/>
            </a:xfrm>
            <a:custGeom>
              <a:avLst/>
              <a:gdLst>
                <a:gd name="txL" fmla="*/ 0 w 110"/>
                <a:gd name="txT" fmla="*/ 0 h 26"/>
                <a:gd name="txR" fmla="*/ 110 w 110"/>
                <a:gd name="txB" fmla="*/ 26 h 26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10" h="26">
                  <a:moveTo>
                    <a:pt x="110" y="10"/>
                  </a:moveTo>
                  <a:lnTo>
                    <a:pt x="105" y="10"/>
                  </a:lnTo>
                  <a:lnTo>
                    <a:pt x="99" y="15"/>
                  </a:lnTo>
                  <a:lnTo>
                    <a:pt x="89" y="15"/>
                  </a:lnTo>
                  <a:lnTo>
                    <a:pt x="78" y="15"/>
                  </a:lnTo>
                  <a:lnTo>
                    <a:pt x="73" y="15"/>
                  </a:lnTo>
                  <a:lnTo>
                    <a:pt x="68" y="15"/>
                  </a:lnTo>
                  <a:lnTo>
                    <a:pt x="63" y="15"/>
                  </a:lnTo>
                  <a:lnTo>
                    <a:pt x="52" y="20"/>
                  </a:lnTo>
                  <a:lnTo>
                    <a:pt x="42" y="20"/>
                  </a:lnTo>
                  <a:lnTo>
                    <a:pt x="31" y="20"/>
                  </a:lnTo>
                  <a:lnTo>
                    <a:pt x="15" y="26"/>
                  </a:lnTo>
                  <a:lnTo>
                    <a:pt x="0" y="26"/>
                  </a:lnTo>
                  <a:lnTo>
                    <a:pt x="0" y="15"/>
                  </a:lnTo>
                  <a:lnTo>
                    <a:pt x="21" y="10"/>
                  </a:lnTo>
                  <a:lnTo>
                    <a:pt x="42" y="10"/>
                  </a:lnTo>
                  <a:lnTo>
                    <a:pt x="57" y="5"/>
                  </a:lnTo>
                  <a:lnTo>
                    <a:pt x="68" y="5"/>
                  </a:lnTo>
                  <a:lnTo>
                    <a:pt x="78" y="5"/>
                  </a:lnTo>
                  <a:lnTo>
                    <a:pt x="89" y="5"/>
                  </a:lnTo>
                  <a:lnTo>
                    <a:pt x="94" y="0"/>
                  </a:lnTo>
                  <a:lnTo>
                    <a:pt x="99" y="0"/>
                  </a:lnTo>
                  <a:lnTo>
                    <a:pt x="105" y="5"/>
                  </a:lnTo>
                  <a:lnTo>
                    <a:pt x="110" y="1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3" name="Freeform 86"/>
            <p:cNvSpPr/>
            <p:nvPr/>
          </p:nvSpPr>
          <p:spPr>
            <a:xfrm>
              <a:off x="7625171" y="3406319"/>
              <a:ext cx="117475" cy="204788"/>
            </a:xfrm>
            <a:custGeom>
              <a:avLst/>
              <a:gdLst>
                <a:gd name="txL" fmla="*/ 0 w 74"/>
                <a:gd name="txT" fmla="*/ 0 h 129"/>
                <a:gd name="txR" fmla="*/ 74 w 74"/>
                <a:gd name="txB" fmla="*/ 129 h 129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74" h="129">
                  <a:moveTo>
                    <a:pt x="27" y="36"/>
                  </a:moveTo>
                  <a:lnTo>
                    <a:pt x="27" y="47"/>
                  </a:lnTo>
                  <a:lnTo>
                    <a:pt x="27" y="57"/>
                  </a:lnTo>
                  <a:lnTo>
                    <a:pt x="27" y="67"/>
                  </a:lnTo>
                  <a:lnTo>
                    <a:pt x="27" y="78"/>
                  </a:lnTo>
                  <a:lnTo>
                    <a:pt x="27" y="88"/>
                  </a:lnTo>
                  <a:lnTo>
                    <a:pt x="32" y="88"/>
                  </a:lnTo>
                  <a:lnTo>
                    <a:pt x="42" y="83"/>
                  </a:lnTo>
                  <a:lnTo>
                    <a:pt x="53" y="78"/>
                  </a:lnTo>
                  <a:lnTo>
                    <a:pt x="63" y="73"/>
                  </a:lnTo>
                  <a:lnTo>
                    <a:pt x="69" y="73"/>
                  </a:lnTo>
                  <a:lnTo>
                    <a:pt x="74" y="67"/>
                  </a:lnTo>
                  <a:lnTo>
                    <a:pt x="74" y="73"/>
                  </a:lnTo>
                  <a:lnTo>
                    <a:pt x="69" y="78"/>
                  </a:lnTo>
                  <a:lnTo>
                    <a:pt x="63" y="83"/>
                  </a:lnTo>
                  <a:lnTo>
                    <a:pt x="53" y="88"/>
                  </a:lnTo>
                  <a:lnTo>
                    <a:pt x="48" y="93"/>
                  </a:lnTo>
                  <a:lnTo>
                    <a:pt x="37" y="103"/>
                  </a:lnTo>
                  <a:lnTo>
                    <a:pt x="32" y="109"/>
                  </a:lnTo>
                  <a:lnTo>
                    <a:pt x="27" y="114"/>
                  </a:lnTo>
                  <a:lnTo>
                    <a:pt x="21" y="119"/>
                  </a:lnTo>
                  <a:lnTo>
                    <a:pt x="16" y="124"/>
                  </a:lnTo>
                  <a:lnTo>
                    <a:pt x="16" y="129"/>
                  </a:lnTo>
                  <a:lnTo>
                    <a:pt x="11" y="129"/>
                  </a:lnTo>
                  <a:lnTo>
                    <a:pt x="6" y="129"/>
                  </a:lnTo>
                  <a:lnTo>
                    <a:pt x="6" y="124"/>
                  </a:lnTo>
                  <a:lnTo>
                    <a:pt x="0" y="119"/>
                  </a:lnTo>
                  <a:lnTo>
                    <a:pt x="0" y="114"/>
                  </a:lnTo>
                  <a:lnTo>
                    <a:pt x="0" y="109"/>
                  </a:lnTo>
                  <a:lnTo>
                    <a:pt x="6" y="98"/>
                  </a:lnTo>
                  <a:lnTo>
                    <a:pt x="11" y="98"/>
                  </a:lnTo>
                  <a:lnTo>
                    <a:pt x="11" y="88"/>
                  </a:lnTo>
                  <a:lnTo>
                    <a:pt x="11" y="78"/>
                  </a:lnTo>
                  <a:lnTo>
                    <a:pt x="16" y="62"/>
                  </a:lnTo>
                  <a:lnTo>
                    <a:pt x="11" y="31"/>
                  </a:lnTo>
                  <a:lnTo>
                    <a:pt x="11" y="0"/>
                  </a:lnTo>
                  <a:lnTo>
                    <a:pt x="21" y="5"/>
                  </a:lnTo>
                  <a:lnTo>
                    <a:pt x="27" y="11"/>
                  </a:lnTo>
                  <a:lnTo>
                    <a:pt x="32" y="11"/>
                  </a:lnTo>
                  <a:lnTo>
                    <a:pt x="32" y="16"/>
                  </a:lnTo>
                  <a:lnTo>
                    <a:pt x="32" y="21"/>
                  </a:lnTo>
                  <a:lnTo>
                    <a:pt x="27" y="26"/>
                  </a:lnTo>
                  <a:lnTo>
                    <a:pt x="27" y="3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4" name="Freeform 87"/>
            <p:cNvSpPr/>
            <p:nvPr/>
          </p:nvSpPr>
          <p:spPr>
            <a:xfrm>
              <a:off x="7591834" y="3390444"/>
              <a:ext cx="125413" cy="33338"/>
            </a:xfrm>
            <a:custGeom>
              <a:avLst/>
              <a:gdLst>
                <a:gd name="txL" fmla="*/ 0 w 79"/>
                <a:gd name="txT" fmla="*/ 0 h 21"/>
                <a:gd name="txR" fmla="*/ 79 w 79"/>
                <a:gd name="txB" fmla="*/ 21 h 21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79" h="21">
                  <a:moveTo>
                    <a:pt x="32" y="5"/>
                  </a:moveTo>
                  <a:lnTo>
                    <a:pt x="48" y="5"/>
                  </a:lnTo>
                  <a:lnTo>
                    <a:pt x="58" y="0"/>
                  </a:lnTo>
                  <a:lnTo>
                    <a:pt x="63" y="0"/>
                  </a:lnTo>
                  <a:lnTo>
                    <a:pt x="69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79" y="5"/>
                  </a:lnTo>
                  <a:lnTo>
                    <a:pt x="74" y="5"/>
                  </a:lnTo>
                  <a:lnTo>
                    <a:pt x="69" y="10"/>
                  </a:lnTo>
                  <a:lnTo>
                    <a:pt x="58" y="10"/>
                  </a:lnTo>
                  <a:lnTo>
                    <a:pt x="42" y="15"/>
                  </a:lnTo>
                  <a:lnTo>
                    <a:pt x="32" y="21"/>
                  </a:lnTo>
                  <a:lnTo>
                    <a:pt x="16" y="21"/>
                  </a:lnTo>
                  <a:lnTo>
                    <a:pt x="0" y="21"/>
                  </a:lnTo>
                  <a:lnTo>
                    <a:pt x="0" y="15"/>
                  </a:lnTo>
                  <a:lnTo>
                    <a:pt x="6" y="15"/>
                  </a:lnTo>
                  <a:lnTo>
                    <a:pt x="11" y="10"/>
                  </a:lnTo>
                  <a:lnTo>
                    <a:pt x="21" y="10"/>
                  </a:lnTo>
                  <a:lnTo>
                    <a:pt x="32" y="5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5" name="Freeform 88"/>
            <p:cNvSpPr/>
            <p:nvPr/>
          </p:nvSpPr>
          <p:spPr>
            <a:xfrm>
              <a:off x="7575959" y="3447594"/>
              <a:ext cx="149225" cy="49213"/>
            </a:xfrm>
            <a:custGeom>
              <a:avLst/>
              <a:gdLst>
                <a:gd name="txL" fmla="*/ 0 w 94"/>
                <a:gd name="txT" fmla="*/ 0 h 31"/>
                <a:gd name="txR" fmla="*/ 94 w 94"/>
                <a:gd name="txB" fmla="*/ 31 h 31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94" h="31">
                  <a:moveTo>
                    <a:pt x="94" y="10"/>
                  </a:moveTo>
                  <a:lnTo>
                    <a:pt x="94" y="10"/>
                  </a:lnTo>
                  <a:lnTo>
                    <a:pt x="89" y="10"/>
                  </a:lnTo>
                  <a:lnTo>
                    <a:pt x="84" y="16"/>
                  </a:lnTo>
                  <a:lnTo>
                    <a:pt x="79" y="16"/>
                  </a:lnTo>
                  <a:lnTo>
                    <a:pt x="73" y="16"/>
                  </a:lnTo>
                  <a:lnTo>
                    <a:pt x="63" y="21"/>
                  </a:lnTo>
                  <a:lnTo>
                    <a:pt x="47" y="26"/>
                  </a:lnTo>
                  <a:lnTo>
                    <a:pt x="37" y="26"/>
                  </a:lnTo>
                  <a:lnTo>
                    <a:pt x="26" y="31"/>
                  </a:lnTo>
                  <a:lnTo>
                    <a:pt x="21" y="31"/>
                  </a:lnTo>
                  <a:lnTo>
                    <a:pt x="10" y="26"/>
                  </a:lnTo>
                  <a:lnTo>
                    <a:pt x="0" y="26"/>
                  </a:lnTo>
                  <a:lnTo>
                    <a:pt x="16" y="21"/>
                  </a:lnTo>
                  <a:lnTo>
                    <a:pt x="31" y="16"/>
                  </a:lnTo>
                  <a:lnTo>
                    <a:pt x="42" y="16"/>
                  </a:lnTo>
                  <a:lnTo>
                    <a:pt x="52" y="10"/>
                  </a:lnTo>
                  <a:lnTo>
                    <a:pt x="58" y="10"/>
                  </a:lnTo>
                  <a:lnTo>
                    <a:pt x="68" y="5"/>
                  </a:lnTo>
                  <a:lnTo>
                    <a:pt x="73" y="5"/>
                  </a:lnTo>
                  <a:lnTo>
                    <a:pt x="79" y="0"/>
                  </a:lnTo>
                  <a:lnTo>
                    <a:pt x="84" y="0"/>
                  </a:lnTo>
                  <a:lnTo>
                    <a:pt x="94" y="0"/>
                  </a:lnTo>
                  <a:lnTo>
                    <a:pt x="94" y="5"/>
                  </a:lnTo>
                  <a:lnTo>
                    <a:pt x="94" y="10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5" name="组合 101"/>
          <p:cNvGrpSpPr>
            <a:grpSpLocks noChangeAspect="1"/>
          </p:cNvGrpSpPr>
          <p:nvPr/>
        </p:nvGrpSpPr>
        <p:grpSpPr>
          <a:xfrm>
            <a:off x="7645400" y="3829050"/>
            <a:ext cx="342900" cy="341313"/>
            <a:chOff x="6507750" y="1616868"/>
            <a:chExt cx="442913" cy="442913"/>
          </a:xfrm>
        </p:grpSpPr>
        <p:sp>
          <p:nvSpPr>
            <p:cNvPr id="69687" name="Freeform 95"/>
            <p:cNvSpPr/>
            <p:nvPr/>
          </p:nvSpPr>
          <p:spPr>
            <a:xfrm>
              <a:off x="6507750" y="1642268"/>
              <a:ext cx="142875" cy="254000"/>
            </a:xfrm>
            <a:custGeom>
              <a:avLst/>
              <a:gdLst>
                <a:gd name="txL" fmla="*/ 0 w 90"/>
                <a:gd name="txT" fmla="*/ 0 h 160"/>
                <a:gd name="txR" fmla="*/ 90 w 90"/>
                <a:gd name="txB" fmla="*/ 160 h 16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90" h="160">
                  <a:moveTo>
                    <a:pt x="63" y="31"/>
                  </a:moveTo>
                  <a:lnTo>
                    <a:pt x="69" y="20"/>
                  </a:lnTo>
                  <a:lnTo>
                    <a:pt x="69" y="15"/>
                  </a:lnTo>
                  <a:lnTo>
                    <a:pt x="69" y="10"/>
                  </a:lnTo>
                  <a:lnTo>
                    <a:pt x="63" y="10"/>
                  </a:lnTo>
                  <a:lnTo>
                    <a:pt x="63" y="5"/>
                  </a:lnTo>
                  <a:lnTo>
                    <a:pt x="63" y="0"/>
                  </a:lnTo>
                  <a:lnTo>
                    <a:pt x="69" y="0"/>
                  </a:lnTo>
                  <a:lnTo>
                    <a:pt x="74" y="5"/>
                  </a:lnTo>
                  <a:lnTo>
                    <a:pt x="79" y="5"/>
                  </a:lnTo>
                  <a:lnTo>
                    <a:pt x="84" y="10"/>
                  </a:lnTo>
                  <a:lnTo>
                    <a:pt x="90" y="15"/>
                  </a:lnTo>
                  <a:lnTo>
                    <a:pt x="90" y="20"/>
                  </a:lnTo>
                  <a:lnTo>
                    <a:pt x="84" y="31"/>
                  </a:lnTo>
                  <a:lnTo>
                    <a:pt x="79" y="41"/>
                  </a:lnTo>
                  <a:lnTo>
                    <a:pt x="74" y="56"/>
                  </a:lnTo>
                  <a:lnTo>
                    <a:pt x="63" y="72"/>
                  </a:lnTo>
                  <a:lnTo>
                    <a:pt x="58" y="87"/>
                  </a:lnTo>
                  <a:lnTo>
                    <a:pt x="53" y="103"/>
                  </a:lnTo>
                  <a:lnTo>
                    <a:pt x="42" y="113"/>
                  </a:lnTo>
                  <a:lnTo>
                    <a:pt x="32" y="134"/>
                  </a:lnTo>
                  <a:lnTo>
                    <a:pt x="21" y="139"/>
                  </a:lnTo>
                  <a:lnTo>
                    <a:pt x="16" y="149"/>
                  </a:lnTo>
                  <a:lnTo>
                    <a:pt x="11" y="154"/>
                  </a:lnTo>
                  <a:lnTo>
                    <a:pt x="6" y="160"/>
                  </a:lnTo>
                  <a:lnTo>
                    <a:pt x="0" y="160"/>
                  </a:lnTo>
                  <a:lnTo>
                    <a:pt x="0" y="154"/>
                  </a:lnTo>
                  <a:lnTo>
                    <a:pt x="0" y="149"/>
                  </a:lnTo>
                  <a:lnTo>
                    <a:pt x="6" y="144"/>
                  </a:lnTo>
                  <a:lnTo>
                    <a:pt x="16" y="134"/>
                  </a:lnTo>
                  <a:lnTo>
                    <a:pt x="32" y="108"/>
                  </a:lnTo>
                  <a:lnTo>
                    <a:pt x="42" y="92"/>
                  </a:lnTo>
                  <a:lnTo>
                    <a:pt x="48" y="77"/>
                  </a:lnTo>
                  <a:lnTo>
                    <a:pt x="53" y="67"/>
                  </a:lnTo>
                  <a:lnTo>
                    <a:pt x="58" y="51"/>
                  </a:lnTo>
                  <a:lnTo>
                    <a:pt x="63" y="41"/>
                  </a:lnTo>
                  <a:lnTo>
                    <a:pt x="63" y="31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8" name="Freeform 96"/>
            <p:cNvSpPr/>
            <p:nvPr/>
          </p:nvSpPr>
          <p:spPr>
            <a:xfrm>
              <a:off x="6599825" y="1723230"/>
              <a:ext cx="100013" cy="41275"/>
            </a:xfrm>
            <a:custGeom>
              <a:avLst/>
              <a:gdLst>
                <a:gd name="txL" fmla="*/ 0 w 63"/>
                <a:gd name="txT" fmla="*/ 0 h 26"/>
                <a:gd name="txR" fmla="*/ 63 w 63"/>
                <a:gd name="txB" fmla="*/ 26 h 26"/>
              </a:gdLst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63" h="26">
                  <a:moveTo>
                    <a:pt x="0" y="16"/>
                  </a:moveTo>
                  <a:lnTo>
                    <a:pt x="11" y="16"/>
                  </a:lnTo>
                  <a:lnTo>
                    <a:pt x="21" y="11"/>
                  </a:lnTo>
                  <a:lnTo>
                    <a:pt x="26" y="11"/>
                  </a:lnTo>
                  <a:lnTo>
                    <a:pt x="32" y="5"/>
                  </a:lnTo>
                  <a:lnTo>
                    <a:pt x="37" y="5"/>
                  </a:lnTo>
                  <a:lnTo>
                    <a:pt x="42" y="5"/>
                  </a:lnTo>
                  <a:lnTo>
                    <a:pt x="47" y="0"/>
                  </a:lnTo>
                  <a:lnTo>
                    <a:pt x="53" y="5"/>
                  </a:lnTo>
                  <a:lnTo>
                    <a:pt x="58" y="5"/>
                  </a:lnTo>
                  <a:lnTo>
                    <a:pt x="63" y="5"/>
                  </a:lnTo>
                  <a:lnTo>
                    <a:pt x="63" y="11"/>
                  </a:lnTo>
                  <a:lnTo>
                    <a:pt x="58" y="16"/>
                  </a:lnTo>
                  <a:lnTo>
                    <a:pt x="53" y="16"/>
                  </a:lnTo>
                  <a:lnTo>
                    <a:pt x="42" y="21"/>
                  </a:lnTo>
                  <a:lnTo>
                    <a:pt x="32" y="21"/>
                  </a:lnTo>
                  <a:lnTo>
                    <a:pt x="21" y="26"/>
                  </a:lnTo>
                  <a:lnTo>
                    <a:pt x="11" y="26"/>
                  </a:lnTo>
                  <a:lnTo>
                    <a:pt x="0" y="26"/>
                  </a:lnTo>
                  <a:lnTo>
                    <a:pt x="0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9" name="Freeform 97"/>
            <p:cNvSpPr/>
            <p:nvPr/>
          </p:nvSpPr>
          <p:spPr>
            <a:xfrm>
              <a:off x="6807787" y="1642268"/>
              <a:ext cx="58738" cy="39688"/>
            </a:xfrm>
            <a:custGeom>
              <a:avLst/>
              <a:gdLst>
                <a:gd name="txL" fmla="*/ 0 w 37"/>
                <a:gd name="txT" fmla="*/ 0 h 25"/>
                <a:gd name="txR" fmla="*/ 37 w 37"/>
                <a:gd name="txB" fmla="*/ 25 h 25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37" h="25">
                  <a:moveTo>
                    <a:pt x="37" y="20"/>
                  </a:moveTo>
                  <a:lnTo>
                    <a:pt x="37" y="25"/>
                  </a:lnTo>
                  <a:lnTo>
                    <a:pt x="32" y="25"/>
                  </a:lnTo>
                  <a:lnTo>
                    <a:pt x="21" y="20"/>
                  </a:lnTo>
                  <a:lnTo>
                    <a:pt x="11" y="15"/>
                  </a:lnTo>
                  <a:lnTo>
                    <a:pt x="6" y="10"/>
                  </a:lnTo>
                  <a:lnTo>
                    <a:pt x="0" y="5"/>
                  </a:lnTo>
                  <a:lnTo>
                    <a:pt x="6" y="5"/>
                  </a:lnTo>
                  <a:lnTo>
                    <a:pt x="16" y="0"/>
                  </a:lnTo>
                  <a:lnTo>
                    <a:pt x="27" y="5"/>
                  </a:lnTo>
                  <a:lnTo>
                    <a:pt x="32" y="5"/>
                  </a:lnTo>
                  <a:lnTo>
                    <a:pt x="37" y="10"/>
                  </a:lnTo>
                  <a:lnTo>
                    <a:pt x="37" y="15"/>
                  </a:lnTo>
                  <a:lnTo>
                    <a:pt x="37" y="2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0" name="Freeform 98"/>
            <p:cNvSpPr/>
            <p:nvPr/>
          </p:nvSpPr>
          <p:spPr>
            <a:xfrm>
              <a:off x="6707775" y="1723230"/>
              <a:ext cx="150813" cy="65088"/>
            </a:xfrm>
            <a:custGeom>
              <a:avLst/>
              <a:gdLst>
                <a:gd name="txL" fmla="*/ 0 w 95"/>
                <a:gd name="txT" fmla="*/ 0 h 41"/>
                <a:gd name="txR" fmla="*/ 95 w 95"/>
                <a:gd name="txB" fmla="*/ 41 h 41"/>
              </a:gdLst>
              <a:ahLst/>
              <a:cxnLst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txL" t="txT" r="txR" b="txB"/>
              <a:pathLst>
                <a:path w="95" h="41">
                  <a:moveTo>
                    <a:pt x="95" y="0"/>
                  </a:moveTo>
                  <a:lnTo>
                    <a:pt x="95" y="5"/>
                  </a:lnTo>
                  <a:lnTo>
                    <a:pt x="90" y="5"/>
                  </a:lnTo>
                  <a:lnTo>
                    <a:pt x="90" y="11"/>
                  </a:lnTo>
                  <a:lnTo>
                    <a:pt x="79" y="11"/>
                  </a:lnTo>
                  <a:lnTo>
                    <a:pt x="74" y="16"/>
                  </a:lnTo>
                  <a:lnTo>
                    <a:pt x="69" y="21"/>
                  </a:lnTo>
                  <a:lnTo>
                    <a:pt x="58" y="21"/>
                  </a:lnTo>
                  <a:lnTo>
                    <a:pt x="48" y="26"/>
                  </a:lnTo>
                  <a:lnTo>
                    <a:pt x="37" y="31"/>
                  </a:lnTo>
                  <a:lnTo>
                    <a:pt x="32" y="31"/>
                  </a:lnTo>
                  <a:lnTo>
                    <a:pt x="27" y="36"/>
                  </a:lnTo>
                  <a:lnTo>
                    <a:pt x="21" y="36"/>
                  </a:lnTo>
                  <a:lnTo>
                    <a:pt x="16" y="36"/>
                  </a:lnTo>
                  <a:lnTo>
                    <a:pt x="11" y="41"/>
                  </a:lnTo>
                  <a:lnTo>
                    <a:pt x="6" y="41"/>
                  </a:lnTo>
                  <a:lnTo>
                    <a:pt x="6" y="36"/>
                  </a:lnTo>
                  <a:lnTo>
                    <a:pt x="0" y="36"/>
                  </a:lnTo>
                  <a:lnTo>
                    <a:pt x="21" y="26"/>
                  </a:lnTo>
                  <a:lnTo>
                    <a:pt x="37" y="21"/>
                  </a:lnTo>
                  <a:lnTo>
                    <a:pt x="48" y="11"/>
                  </a:lnTo>
                  <a:lnTo>
                    <a:pt x="58" y="11"/>
                  </a:lnTo>
                  <a:lnTo>
                    <a:pt x="69" y="5"/>
                  </a:lnTo>
                  <a:lnTo>
                    <a:pt x="79" y="0"/>
                  </a:lnTo>
                  <a:lnTo>
                    <a:pt x="84" y="0"/>
                  </a:lnTo>
                  <a:lnTo>
                    <a:pt x="90" y="0"/>
                  </a:lnTo>
                  <a:lnTo>
                    <a:pt x="95" y="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1" name="Freeform 99"/>
            <p:cNvSpPr/>
            <p:nvPr/>
          </p:nvSpPr>
          <p:spPr>
            <a:xfrm>
              <a:off x="6699837" y="1829593"/>
              <a:ext cx="192088" cy="155575"/>
            </a:xfrm>
            <a:custGeom>
              <a:avLst/>
              <a:gdLst>
                <a:gd name="txL" fmla="*/ 0 w 121"/>
                <a:gd name="txT" fmla="*/ 0 h 98"/>
                <a:gd name="txR" fmla="*/ 121 w 121"/>
                <a:gd name="txB" fmla="*/ 98 h 98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21" h="98">
                  <a:moveTo>
                    <a:pt x="100" y="42"/>
                  </a:moveTo>
                  <a:lnTo>
                    <a:pt x="89" y="52"/>
                  </a:lnTo>
                  <a:lnTo>
                    <a:pt x="79" y="57"/>
                  </a:lnTo>
                  <a:lnTo>
                    <a:pt x="58" y="72"/>
                  </a:lnTo>
                  <a:lnTo>
                    <a:pt x="37" y="83"/>
                  </a:lnTo>
                  <a:lnTo>
                    <a:pt x="26" y="88"/>
                  </a:lnTo>
                  <a:lnTo>
                    <a:pt x="21" y="93"/>
                  </a:lnTo>
                  <a:lnTo>
                    <a:pt x="11" y="98"/>
                  </a:lnTo>
                  <a:lnTo>
                    <a:pt x="5" y="98"/>
                  </a:lnTo>
                  <a:lnTo>
                    <a:pt x="0" y="98"/>
                  </a:lnTo>
                  <a:lnTo>
                    <a:pt x="0" y="93"/>
                  </a:lnTo>
                  <a:lnTo>
                    <a:pt x="5" y="93"/>
                  </a:lnTo>
                  <a:lnTo>
                    <a:pt x="11" y="88"/>
                  </a:lnTo>
                  <a:lnTo>
                    <a:pt x="16" y="88"/>
                  </a:lnTo>
                  <a:lnTo>
                    <a:pt x="32" y="78"/>
                  </a:lnTo>
                  <a:lnTo>
                    <a:pt x="42" y="67"/>
                  </a:lnTo>
                  <a:lnTo>
                    <a:pt x="53" y="62"/>
                  </a:lnTo>
                  <a:lnTo>
                    <a:pt x="74" y="47"/>
                  </a:lnTo>
                  <a:lnTo>
                    <a:pt x="89" y="26"/>
                  </a:lnTo>
                  <a:lnTo>
                    <a:pt x="95" y="21"/>
                  </a:lnTo>
                  <a:lnTo>
                    <a:pt x="100" y="11"/>
                  </a:lnTo>
                  <a:lnTo>
                    <a:pt x="100" y="5"/>
                  </a:lnTo>
                  <a:lnTo>
                    <a:pt x="100" y="0"/>
                  </a:lnTo>
                  <a:lnTo>
                    <a:pt x="105" y="0"/>
                  </a:lnTo>
                  <a:lnTo>
                    <a:pt x="110" y="5"/>
                  </a:lnTo>
                  <a:lnTo>
                    <a:pt x="116" y="11"/>
                  </a:lnTo>
                  <a:lnTo>
                    <a:pt x="121" y="16"/>
                  </a:lnTo>
                  <a:lnTo>
                    <a:pt x="116" y="21"/>
                  </a:lnTo>
                  <a:lnTo>
                    <a:pt x="116" y="26"/>
                  </a:lnTo>
                  <a:lnTo>
                    <a:pt x="105" y="31"/>
                  </a:lnTo>
                  <a:lnTo>
                    <a:pt x="100" y="42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2" name="Freeform 100"/>
            <p:cNvSpPr/>
            <p:nvPr/>
          </p:nvSpPr>
          <p:spPr>
            <a:xfrm>
              <a:off x="6574425" y="1797843"/>
              <a:ext cx="117475" cy="39688"/>
            </a:xfrm>
            <a:custGeom>
              <a:avLst/>
              <a:gdLst>
                <a:gd name="txL" fmla="*/ 0 w 74"/>
                <a:gd name="txT" fmla="*/ 0 h 25"/>
                <a:gd name="txR" fmla="*/ 74 w 74"/>
                <a:gd name="txB" fmla="*/ 25 h 25"/>
              </a:gdLst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74" h="25">
                  <a:moveTo>
                    <a:pt x="0" y="20"/>
                  </a:moveTo>
                  <a:lnTo>
                    <a:pt x="16" y="15"/>
                  </a:lnTo>
                  <a:lnTo>
                    <a:pt x="27" y="10"/>
                  </a:lnTo>
                  <a:lnTo>
                    <a:pt x="37" y="5"/>
                  </a:lnTo>
                  <a:lnTo>
                    <a:pt x="48" y="5"/>
                  </a:lnTo>
                  <a:lnTo>
                    <a:pt x="53" y="5"/>
                  </a:lnTo>
                  <a:lnTo>
                    <a:pt x="58" y="0"/>
                  </a:lnTo>
                  <a:lnTo>
                    <a:pt x="63" y="0"/>
                  </a:lnTo>
                  <a:lnTo>
                    <a:pt x="63" y="5"/>
                  </a:lnTo>
                  <a:lnTo>
                    <a:pt x="69" y="5"/>
                  </a:lnTo>
                  <a:lnTo>
                    <a:pt x="74" y="10"/>
                  </a:lnTo>
                  <a:lnTo>
                    <a:pt x="69" y="10"/>
                  </a:lnTo>
                  <a:lnTo>
                    <a:pt x="63" y="15"/>
                  </a:lnTo>
                  <a:lnTo>
                    <a:pt x="58" y="15"/>
                  </a:lnTo>
                  <a:lnTo>
                    <a:pt x="48" y="20"/>
                  </a:lnTo>
                  <a:lnTo>
                    <a:pt x="42" y="20"/>
                  </a:lnTo>
                  <a:lnTo>
                    <a:pt x="32" y="25"/>
                  </a:lnTo>
                  <a:lnTo>
                    <a:pt x="21" y="25"/>
                  </a:lnTo>
                  <a:lnTo>
                    <a:pt x="16" y="25"/>
                  </a:lnTo>
                  <a:lnTo>
                    <a:pt x="11" y="25"/>
                  </a:lnTo>
                  <a:lnTo>
                    <a:pt x="6" y="25"/>
                  </a:lnTo>
                  <a:lnTo>
                    <a:pt x="0" y="20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3" name="Freeform 101"/>
            <p:cNvSpPr/>
            <p:nvPr/>
          </p:nvSpPr>
          <p:spPr>
            <a:xfrm>
              <a:off x="6599825" y="1821655"/>
              <a:ext cx="100013" cy="220663"/>
            </a:xfrm>
            <a:custGeom>
              <a:avLst/>
              <a:gdLst>
                <a:gd name="txL" fmla="*/ 0 w 63"/>
                <a:gd name="txT" fmla="*/ 0 h 139"/>
                <a:gd name="txR" fmla="*/ 63 w 63"/>
                <a:gd name="txB" fmla="*/ 139 h 139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63" h="139">
                  <a:moveTo>
                    <a:pt x="11" y="139"/>
                  </a:moveTo>
                  <a:lnTo>
                    <a:pt x="5" y="134"/>
                  </a:lnTo>
                  <a:lnTo>
                    <a:pt x="5" y="129"/>
                  </a:lnTo>
                  <a:lnTo>
                    <a:pt x="0" y="124"/>
                  </a:lnTo>
                  <a:lnTo>
                    <a:pt x="0" y="119"/>
                  </a:lnTo>
                  <a:lnTo>
                    <a:pt x="0" y="114"/>
                  </a:lnTo>
                  <a:lnTo>
                    <a:pt x="5" y="108"/>
                  </a:lnTo>
                  <a:lnTo>
                    <a:pt x="5" y="103"/>
                  </a:lnTo>
                  <a:lnTo>
                    <a:pt x="11" y="93"/>
                  </a:lnTo>
                  <a:lnTo>
                    <a:pt x="11" y="83"/>
                  </a:lnTo>
                  <a:lnTo>
                    <a:pt x="11" y="72"/>
                  </a:lnTo>
                  <a:lnTo>
                    <a:pt x="16" y="57"/>
                  </a:lnTo>
                  <a:lnTo>
                    <a:pt x="16" y="41"/>
                  </a:lnTo>
                  <a:lnTo>
                    <a:pt x="11" y="21"/>
                  </a:lnTo>
                  <a:lnTo>
                    <a:pt x="11" y="0"/>
                  </a:lnTo>
                  <a:lnTo>
                    <a:pt x="21" y="5"/>
                  </a:lnTo>
                  <a:lnTo>
                    <a:pt x="26" y="10"/>
                  </a:lnTo>
                  <a:lnTo>
                    <a:pt x="32" y="16"/>
                  </a:lnTo>
                  <a:lnTo>
                    <a:pt x="32" y="21"/>
                  </a:lnTo>
                  <a:lnTo>
                    <a:pt x="32" y="26"/>
                  </a:lnTo>
                  <a:lnTo>
                    <a:pt x="32" y="31"/>
                  </a:lnTo>
                  <a:lnTo>
                    <a:pt x="26" y="36"/>
                  </a:lnTo>
                  <a:lnTo>
                    <a:pt x="26" y="47"/>
                  </a:lnTo>
                  <a:lnTo>
                    <a:pt x="26" y="57"/>
                  </a:lnTo>
                  <a:lnTo>
                    <a:pt x="26" y="67"/>
                  </a:lnTo>
                  <a:lnTo>
                    <a:pt x="26" y="77"/>
                  </a:lnTo>
                  <a:lnTo>
                    <a:pt x="26" y="88"/>
                  </a:lnTo>
                  <a:lnTo>
                    <a:pt x="26" y="93"/>
                  </a:lnTo>
                  <a:lnTo>
                    <a:pt x="32" y="93"/>
                  </a:lnTo>
                  <a:lnTo>
                    <a:pt x="37" y="88"/>
                  </a:lnTo>
                  <a:lnTo>
                    <a:pt x="47" y="83"/>
                  </a:lnTo>
                  <a:lnTo>
                    <a:pt x="53" y="77"/>
                  </a:lnTo>
                  <a:lnTo>
                    <a:pt x="58" y="77"/>
                  </a:lnTo>
                  <a:lnTo>
                    <a:pt x="63" y="72"/>
                  </a:lnTo>
                  <a:lnTo>
                    <a:pt x="63" y="77"/>
                  </a:lnTo>
                  <a:lnTo>
                    <a:pt x="58" y="83"/>
                  </a:lnTo>
                  <a:lnTo>
                    <a:pt x="58" y="88"/>
                  </a:lnTo>
                  <a:lnTo>
                    <a:pt x="53" y="93"/>
                  </a:lnTo>
                  <a:lnTo>
                    <a:pt x="47" y="98"/>
                  </a:lnTo>
                  <a:lnTo>
                    <a:pt x="37" y="103"/>
                  </a:lnTo>
                  <a:lnTo>
                    <a:pt x="32" y="114"/>
                  </a:lnTo>
                  <a:lnTo>
                    <a:pt x="21" y="119"/>
                  </a:lnTo>
                  <a:lnTo>
                    <a:pt x="21" y="124"/>
                  </a:lnTo>
                  <a:lnTo>
                    <a:pt x="16" y="129"/>
                  </a:lnTo>
                  <a:lnTo>
                    <a:pt x="16" y="134"/>
                  </a:lnTo>
                  <a:lnTo>
                    <a:pt x="11" y="139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4" name="Freeform 102"/>
            <p:cNvSpPr/>
            <p:nvPr/>
          </p:nvSpPr>
          <p:spPr>
            <a:xfrm>
              <a:off x="6550612" y="1870868"/>
              <a:ext cx="149225" cy="49213"/>
            </a:xfrm>
            <a:custGeom>
              <a:avLst/>
              <a:gdLst>
                <a:gd name="txL" fmla="*/ 0 w 94"/>
                <a:gd name="txT" fmla="*/ 0 h 31"/>
                <a:gd name="txR" fmla="*/ 94 w 94"/>
                <a:gd name="txB" fmla="*/ 31 h 31"/>
              </a:gdLst>
              <a:ahLst/>
              <a:cxnLst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txL" t="txT" r="txR" b="txB"/>
              <a:pathLst>
                <a:path w="94" h="31">
                  <a:moveTo>
                    <a:pt x="89" y="0"/>
                  </a:moveTo>
                  <a:lnTo>
                    <a:pt x="89" y="5"/>
                  </a:lnTo>
                  <a:lnTo>
                    <a:pt x="94" y="5"/>
                  </a:lnTo>
                  <a:lnTo>
                    <a:pt x="89" y="10"/>
                  </a:lnTo>
                  <a:lnTo>
                    <a:pt x="84" y="10"/>
                  </a:lnTo>
                  <a:lnTo>
                    <a:pt x="78" y="16"/>
                  </a:lnTo>
                  <a:lnTo>
                    <a:pt x="68" y="21"/>
                  </a:lnTo>
                  <a:lnTo>
                    <a:pt x="57" y="21"/>
                  </a:lnTo>
                  <a:lnTo>
                    <a:pt x="42" y="26"/>
                  </a:lnTo>
                  <a:lnTo>
                    <a:pt x="31" y="31"/>
                  </a:lnTo>
                  <a:lnTo>
                    <a:pt x="26" y="31"/>
                  </a:lnTo>
                  <a:lnTo>
                    <a:pt x="15" y="31"/>
                  </a:lnTo>
                  <a:lnTo>
                    <a:pt x="10" y="31"/>
                  </a:lnTo>
                  <a:lnTo>
                    <a:pt x="5" y="31"/>
                  </a:lnTo>
                  <a:lnTo>
                    <a:pt x="5" y="26"/>
                  </a:lnTo>
                  <a:lnTo>
                    <a:pt x="0" y="26"/>
                  </a:lnTo>
                  <a:lnTo>
                    <a:pt x="21" y="16"/>
                  </a:lnTo>
                  <a:lnTo>
                    <a:pt x="36" y="10"/>
                  </a:lnTo>
                  <a:lnTo>
                    <a:pt x="52" y="10"/>
                  </a:lnTo>
                  <a:lnTo>
                    <a:pt x="63" y="5"/>
                  </a:lnTo>
                  <a:lnTo>
                    <a:pt x="73" y="5"/>
                  </a:lnTo>
                  <a:lnTo>
                    <a:pt x="78" y="0"/>
                  </a:lnTo>
                  <a:lnTo>
                    <a:pt x="84" y="0"/>
                  </a:lnTo>
                  <a:lnTo>
                    <a:pt x="89" y="0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5" name="Freeform 103"/>
            <p:cNvSpPr/>
            <p:nvPr/>
          </p:nvSpPr>
          <p:spPr>
            <a:xfrm>
              <a:off x="6733175" y="1616868"/>
              <a:ext cx="217488" cy="442913"/>
            </a:xfrm>
            <a:custGeom>
              <a:avLst/>
              <a:gdLst>
                <a:gd name="txL" fmla="*/ 0 w 137"/>
                <a:gd name="txT" fmla="*/ 0 h 279"/>
                <a:gd name="txR" fmla="*/ 137 w 137"/>
                <a:gd name="txB" fmla="*/ 279 h 279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37" h="279">
                  <a:moveTo>
                    <a:pt x="137" y="263"/>
                  </a:moveTo>
                  <a:lnTo>
                    <a:pt x="137" y="268"/>
                  </a:lnTo>
                  <a:lnTo>
                    <a:pt x="137" y="274"/>
                  </a:lnTo>
                  <a:lnTo>
                    <a:pt x="137" y="279"/>
                  </a:lnTo>
                  <a:lnTo>
                    <a:pt x="131" y="279"/>
                  </a:lnTo>
                  <a:lnTo>
                    <a:pt x="131" y="274"/>
                  </a:lnTo>
                  <a:lnTo>
                    <a:pt x="121" y="274"/>
                  </a:lnTo>
                  <a:lnTo>
                    <a:pt x="116" y="274"/>
                  </a:lnTo>
                  <a:lnTo>
                    <a:pt x="110" y="268"/>
                  </a:lnTo>
                  <a:lnTo>
                    <a:pt x="100" y="263"/>
                  </a:lnTo>
                  <a:lnTo>
                    <a:pt x="95" y="258"/>
                  </a:lnTo>
                  <a:lnTo>
                    <a:pt x="89" y="248"/>
                  </a:lnTo>
                  <a:lnTo>
                    <a:pt x="74" y="232"/>
                  </a:lnTo>
                  <a:lnTo>
                    <a:pt x="63" y="222"/>
                  </a:lnTo>
                  <a:lnTo>
                    <a:pt x="58" y="212"/>
                  </a:lnTo>
                  <a:lnTo>
                    <a:pt x="53" y="201"/>
                  </a:lnTo>
                  <a:lnTo>
                    <a:pt x="47" y="191"/>
                  </a:lnTo>
                  <a:lnTo>
                    <a:pt x="42" y="176"/>
                  </a:lnTo>
                  <a:lnTo>
                    <a:pt x="37" y="160"/>
                  </a:lnTo>
                  <a:lnTo>
                    <a:pt x="26" y="124"/>
                  </a:lnTo>
                  <a:lnTo>
                    <a:pt x="16" y="98"/>
                  </a:lnTo>
                  <a:lnTo>
                    <a:pt x="11" y="67"/>
                  </a:lnTo>
                  <a:lnTo>
                    <a:pt x="11" y="36"/>
                  </a:lnTo>
                  <a:lnTo>
                    <a:pt x="5" y="26"/>
                  </a:lnTo>
                  <a:lnTo>
                    <a:pt x="5" y="16"/>
                  </a:lnTo>
                  <a:lnTo>
                    <a:pt x="5" y="10"/>
                  </a:ln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  <a:lnTo>
                    <a:pt x="11" y="0"/>
                  </a:lnTo>
                  <a:lnTo>
                    <a:pt x="16" y="0"/>
                  </a:lnTo>
                  <a:lnTo>
                    <a:pt x="21" y="5"/>
                  </a:lnTo>
                  <a:lnTo>
                    <a:pt x="26" y="5"/>
                  </a:lnTo>
                  <a:lnTo>
                    <a:pt x="26" y="10"/>
                  </a:lnTo>
                  <a:lnTo>
                    <a:pt x="26" y="16"/>
                  </a:lnTo>
                  <a:lnTo>
                    <a:pt x="26" y="21"/>
                  </a:lnTo>
                  <a:lnTo>
                    <a:pt x="26" y="26"/>
                  </a:lnTo>
                  <a:lnTo>
                    <a:pt x="26" y="31"/>
                  </a:lnTo>
                  <a:lnTo>
                    <a:pt x="26" y="41"/>
                  </a:lnTo>
                  <a:lnTo>
                    <a:pt x="26" y="52"/>
                  </a:lnTo>
                  <a:lnTo>
                    <a:pt x="26" y="62"/>
                  </a:lnTo>
                  <a:lnTo>
                    <a:pt x="26" y="72"/>
                  </a:lnTo>
                  <a:lnTo>
                    <a:pt x="32" y="93"/>
                  </a:lnTo>
                  <a:lnTo>
                    <a:pt x="37" y="103"/>
                  </a:lnTo>
                  <a:lnTo>
                    <a:pt x="37" y="114"/>
                  </a:lnTo>
                  <a:lnTo>
                    <a:pt x="42" y="129"/>
                  </a:lnTo>
                  <a:lnTo>
                    <a:pt x="47" y="145"/>
                  </a:lnTo>
                  <a:lnTo>
                    <a:pt x="53" y="160"/>
                  </a:lnTo>
                  <a:lnTo>
                    <a:pt x="58" y="176"/>
                  </a:lnTo>
                  <a:lnTo>
                    <a:pt x="63" y="191"/>
                  </a:lnTo>
                  <a:lnTo>
                    <a:pt x="68" y="201"/>
                  </a:lnTo>
                  <a:lnTo>
                    <a:pt x="74" y="212"/>
                  </a:lnTo>
                  <a:lnTo>
                    <a:pt x="84" y="217"/>
                  </a:lnTo>
                  <a:lnTo>
                    <a:pt x="95" y="232"/>
                  </a:lnTo>
                  <a:lnTo>
                    <a:pt x="105" y="237"/>
                  </a:lnTo>
                  <a:lnTo>
                    <a:pt x="110" y="243"/>
                  </a:lnTo>
                  <a:lnTo>
                    <a:pt x="110" y="248"/>
                  </a:lnTo>
                  <a:lnTo>
                    <a:pt x="116" y="248"/>
                  </a:lnTo>
                  <a:lnTo>
                    <a:pt x="121" y="243"/>
                  </a:lnTo>
                  <a:lnTo>
                    <a:pt x="121" y="237"/>
                  </a:lnTo>
                  <a:lnTo>
                    <a:pt x="121" y="227"/>
                  </a:lnTo>
                  <a:lnTo>
                    <a:pt x="126" y="217"/>
                  </a:lnTo>
                  <a:lnTo>
                    <a:pt x="126" y="212"/>
                  </a:lnTo>
                  <a:lnTo>
                    <a:pt x="126" y="206"/>
                  </a:lnTo>
                  <a:lnTo>
                    <a:pt x="131" y="206"/>
                  </a:lnTo>
                  <a:lnTo>
                    <a:pt x="131" y="212"/>
                  </a:lnTo>
                  <a:lnTo>
                    <a:pt x="131" y="222"/>
                  </a:lnTo>
                  <a:lnTo>
                    <a:pt x="131" y="232"/>
                  </a:lnTo>
                  <a:lnTo>
                    <a:pt x="131" y="243"/>
                  </a:lnTo>
                  <a:lnTo>
                    <a:pt x="137" y="253"/>
                  </a:lnTo>
                  <a:lnTo>
                    <a:pt x="137" y="258"/>
                  </a:lnTo>
                  <a:lnTo>
                    <a:pt x="137" y="263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6" name="Freeform 104"/>
            <p:cNvSpPr/>
            <p:nvPr/>
          </p:nvSpPr>
          <p:spPr>
            <a:xfrm>
              <a:off x="6707775" y="1780380"/>
              <a:ext cx="166688" cy="74613"/>
            </a:xfrm>
            <a:custGeom>
              <a:avLst/>
              <a:gdLst>
                <a:gd name="txL" fmla="*/ 0 w 105"/>
                <a:gd name="txT" fmla="*/ 0 h 47"/>
                <a:gd name="txR" fmla="*/ 105 w 105"/>
                <a:gd name="txB" fmla="*/ 47 h 47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05" h="47">
                  <a:moveTo>
                    <a:pt x="69" y="26"/>
                  </a:moveTo>
                  <a:lnTo>
                    <a:pt x="48" y="36"/>
                  </a:lnTo>
                  <a:lnTo>
                    <a:pt x="42" y="42"/>
                  </a:lnTo>
                  <a:lnTo>
                    <a:pt x="32" y="42"/>
                  </a:lnTo>
                  <a:lnTo>
                    <a:pt x="27" y="42"/>
                  </a:lnTo>
                  <a:lnTo>
                    <a:pt x="21" y="47"/>
                  </a:lnTo>
                  <a:lnTo>
                    <a:pt x="16" y="47"/>
                  </a:lnTo>
                  <a:lnTo>
                    <a:pt x="11" y="47"/>
                  </a:lnTo>
                  <a:lnTo>
                    <a:pt x="0" y="42"/>
                  </a:lnTo>
                  <a:lnTo>
                    <a:pt x="27" y="31"/>
                  </a:lnTo>
                  <a:lnTo>
                    <a:pt x="42" y="21"/>
                  </a:lnTo>
                  <a:lnTo>
                    <a:pt x="58" y="16"/>
                  </a:lnTo>
                  <a:lnTo>
                    <a:pt x="74" y="11"/>
                  </a:lnTo>
                  <a:lnTo>
                    <a:pt x="84" y="5"/>
                  </a:lnTo>
                  <a:lnTo>
                    <a:pt x="95" y="0"/>
                  </a:lnTo>
                  <a:lnTo>
                    <a:pt x="100" y="0"/>
                  </a:lnTo>
                  <a:lnTo>
                    <a:pt x="105" y="0"/>
                  </a:lnTo>
                  <a:lnTo>
                    <a:pt x="105" y="5"/>
                  </a:lnTo>
                  <a:lnTo>
                    <a:pt x="100" y="11"/>
                  </a:lnTo>
                  <a:lnTo>
                    <a:pt x="95" y="11"/>
                  </a:lnTo>
                  <a:lnTo>
                    <a:pt x="90" y="16"/>
                  </a:lnTo>
                  <a:lnTo>
                    <a:pt x="84" y="21"/>
                  </a:lnTo>
                  <a:lnTo>
                    <a:pt x="74" y="21"/>
                  </a:lnTo>
                  <a:lnTo>
                    <a:pt x="69" y="26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6" name="组合 113"/>
          <p:cNvGrpSpPr>
            <a:grpSpLocks noChangeAspect="1"/>
          </p:cNvGrpSpPr>
          <p:nvPr/>
        </p:nvGrpSpPr>
        <p:grpSpPr>
          <a:xfrm>
            <a:off x="7669213" y="4519613"/>
            <a:ext cx="354012" cy="354012"/>
            <a:chOff x="6018846" y="1600198"/>
            <a:chExt cx="442912" cy="441325"/>
          </a:xfrm>
        </p:grpSpPr>
        <p:sp>
          <p:nvSpPr>
            <p:cNvPr id="69681" name="Freeform 111"/>
            <p:cNvSpPr/>
            <p:nvPr/>
          </p:nvSpPr>
          <p:spPr>
            <a:xfrm>
              <a:off x="6195058" y="1797048"/>
              <a:ext cx="266700" cy="244475"/>
            </a:xfrm>
            <a:custGeom>
              <a:avLst/>
              <a:gdLst>
                <a:gd name="txL" fmla="*/ 0 w 168"/>
                <a:gd name="txT" fmla="*/ 0 h 154"/>
                <a:gd name="txR" fmla="*/ 168 w 168"/>
                <a:gd name="txB" fmla="*/ 154 h 15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68" h="154">
                  <a:moveTo>
                    <a:pt x="21" y="97"/>
                  </a:moveTo>
                  <a:lnTo>
                    <a:pt x="21" y="87"/>
                  </a:lnTo>
                  <a:lnTo>
                    <a:pt x="26" y="82"/>
                  </a:lnTo>
                  <a:lnTo>
                    <a:pt x="31" y="66"/>
                  </a:lnTo>
                  <a:lnTo>
                    <a:pt x="36" y="56"/>
                  </a:lnTo>
                  <a:lnTo>
                    <a:pt x="42" y="46"/>
                  </a:lnTo>
                  <a:lnTo>
                    <a:pt x="42" y="35"/>
                  </a:lnTo>
                  <a:lnTo>
                    <a:pt x="47" y="30"/>
                  </a:lnTo>
                  <a:lnTo>
                    <a:pt x="47" y="25"/>
                  </a:lnTo>
                  <a:lnTo>
                    <a:pt x="42" y="25"/>
                  </a:lnTo>
                  <a:lnTo>
                    <a:pt x="31" y="30"/>
                  </a:lnTo>
                  <a:lnTo>
                    <a:pt x="26" y="30"/>
                  </a:lnTo>
                  <a:lnTo>
                    <a:pt x="15" y="30"/>
                  </a:lnTo>
                  <a:lnTo>
                    <a:pt x="5" y="30"/>
                  </a:lnTo>
                  <a:lnTo>
                    <a:pt x="0" y="30"/>
                  </a:lnTo>
                  <a:lnTo>
                    <a:pt x="0" y="25"/>
                  </a:lnTo>
                  <a:lnTo>
                    <a:pt x="5" y="25"/>
                  </a:lnTo>
                  <a:lnTo>
                    <a:pt x="10" y="20"/>
                  </a:lnTo>
                  <a:lnTo>
                    <a:pt x="15" y="20"/>
                  </a:lnTo>
                  <a:lnTo>
                    <a:pt x="21" y="20"/>
                  </a:lnTo>
                  <a:lnTo>
                    <a:pt x="31" y="15"/>
                  </a:lnTo>
                  <a:lnTo>
                    <a:pt x="36" y="15"/>
                  </a:lnTo>
                  <a:lnTo>
                    <a:pt x="42" y="10"/>
                  </a:lnTo>
                  <a:lnTo>
                    <a:pt x="47" y="10"/>
                  </a:lnTo>
                  <a:lnTo>
                    <a:pt x="52" y="5"/>
                  </a:lnTo>
                  <a:lnTo>
                    <a:pt x="57" y="5"/>
                  </a:lnTo>
                  <a:lnTo>
                    <a:pt x="57" y="0"/>
                  </a:lnTo>
                  <a:lnTo>
                    <a:pt x="63" y="0"/>
                  </a:lnTo>
                  <a:lnTo>
                    <a:pt x="68" y="0"/>
                  </a:lnTo>
                  <a:lnTo>
                    <a:pt x="78" y="5"/>
                  </a:lnTo>
                  <a:lnTo>
                    <a:pt x="84" y="10"/>
                  </a:lnTo>
                  <a:lnTo>
                    <a:pt x="84" y="15"/>
                  </a:lnTo>
                  <a:lnTo>
                    <a:pt x="78" y="15"/>
                  </a:lnTo>
                  <a:lnTo>
                    <a:pt x="73" y="20"/>
                  </a:lnTo>
                  <a:lnTo>
                    <a:pt x="73" y="25"/>
                  </a:lnTo>
                  <a:lnTo>
                    <a:pt x="68" y="25"/>
                  </a:lnTo>
                  <a:lnTo>
                    <a:pt x="63" y="35"/>
                  </a:lnTo>
                  <a:lnTo>
                    <a:pt x="57" y="41"/>
                  </a:lnTo>
                  <a:lnTo>
                    <a:pt x="52" y="56"/>
                  </a:lnTo>
                  <a:lnTo>
                    <a:pt x="42" y="77"/>
                  </a:lnTo>
                  <a:lnTo>
                    <a:pt x="36" y="87"/>
                  </a:lnTo>
                  <a:lnTo>
                    <a:pt x="36" y="92"/>
                  </a:lnTo>
                  <a:lnTo>
                    <a:pt x="36" y="97"/>
                  </a:lnTo>
                  <a:lnTo>
                    <a:pt x="36" y="102"/>
                  </a:lnTo>
                  <a:lnTo>
                    <a:pt x="36" y="113"/>
                  </a:lnTo>
                  <a:lnTo>
                    <a:pt x="42" y="118"/>
                  </a:lnTo>
                  <a:lnTo>
                    <a:pt x="47" y="123"/>
                  </a:lnTo>
                  <a:lnTo>
                    <a:pt x="52" y="128"/>
                  </a:lnTo>
                  <a:lnTo>
                    <a:pt x="57" y="128"/>
                  </a:lnTo>
                  <a:lnTo>
                    <a:pt x="63" y="128"/>
                  </a:lnTo>
                  <a:lnTo>
                    <a:pt x="78" y="133"/>
                  </a:lnTo>
                  <a:lnTo>
                    <a:pt x="89" y="133"/>
                  </a:lnTo>
                  <a:lnTo>
                    <a:pt x="94" y="128"/>
                  </a:lnTo>
                  <a:lnTo>
                    <a:pt x="110" y="128"/>
                  </a:lnTo>
                  <a:lnTo>
                    <a:pt x="120" y="123"/>
                  </a:lnTo>
                  <a:lnTo>
                    <a:pt x="131" y="123"/>
                  </a:lnTo>
                  <a:lnTo>
                    <a:pt x="136" y="118"/>
                  </a:lnTo>
                  <a:lnTo>
                    <a:pt x="141" y="113"/>
                  </a:lnTo>
                  <a:lnTo>
                    <a:pt x="141" y="107"/>
                  </a:lnTo>
                  <a:lnTo>
                    <a:pt x="147" y="97"/>
                  </a:lnTo>
                  <a:lnTo>
                    <a:pt x="147" y="87"/>
                  </a:lnTo>
                  <a:lnTo>
                    <a:pt x="147" y="77"/>
                  </a:lnTo>
                  <a:lnTo>
                    <a:pt x="152" y="71"/>
                  </a:lnTo>
                  <a:lnTo>
                    <a:pt x="152" y="66"/>
                  </a:lnTo>
                  <a:lnTo>
                    <a:pt x="152" y="61"/>
                  </a:lnTo>
                  <a:lnTo>
                    <a:pt x="157" y="66"/>
                  </a:lnTo>
                  <a:lnTo>
                    <a:pt x="157" y="71"/>
                  </a:lnTo>
                  <a:lnTo>
                    <a:pt x="157" y="77"/>
                  </a:lnTo>
                  <a:lnTo>
                    <a:pt x="157" y="87"/>
                  </a:lnTo>
                  <a:lnTo>
                    <a:pt x="162" y="97"/>
                  </a:lnTo>
                  <a:lnTo>
                    <a:pt x="162" y="107"/>
                  </a:lnTo>
                  <a:lnTo>
                    <a:pt x="162" y="113"/>
                  </a:lnTo>
                  <a:lnTo>
                    <a:pt x="168" y="118"/>
                  </a:lnTo>
                  <a:lnTo>
                    <a:pt x="168" y="123"/>
                  </a:lnTo>
                  <a:lnTo>
                    <a:pt x="168" y="128"/>
                  </a:lnTo>
                  <a:lnTo>
                    <a:pt x="162" y="133"/>
                  </a:lnTo>
                  <a:lnTo>
                    <a:pt x="152" y="138"/>
                  </a:lnTo>
                  <a:lnTo>
                    <a:pt x="147" y="143"/>
                  </a:lnTo>
                  <a:lnTo>
                    <a:pt x="131" y="149"/>
                  </a:lnTo>
                  <a:lnTo>
                    <a:pt x="120" y="149"/>
                  </a:lnTo>
                  <a:lnTo>
                    <a:pt x="110" y="154"/>
                  </a:lnTo>
                  <a:lnTo>
                    <a:pt x="89" y="154"/>
                  </a:lnTo>
                  <a:lnTo>
                    <a:pt x="73" y="154"/>
                  </a:lnTo>
                  <a:lnTo>
                    <a:pt x="57" y="149"/>
                  </a:lnTo>
                  <a:lnTo>
                    <a:pt x="42" y="143"/>
                  </a:lnTo>
                  <a:lnTo>
                    <a:pt x="36" y="138"/>
                  </a:lnTo>
                  <a:lnTo>
                    <a:pt x="31" y="133"/>
                  </a:lnTo>
                  <a:lnTo>
                    <a:pt x="26" y="133"/>
                  </a:lnTo>
                  <a:lnTo>
                    <a:pt x="21" y="128"/>
                  </a:lnTo>
                  <a:lnTo>
                    <a:pt x="21" y="123"/>
                  </a:lnTo>
                  <a:lnTo>
                    <a:pt x="21" y="118"/>
                  </a:lnTo>
                  <a:lnTo>
                    <a:pt x="21" y="107"/>
                  </a:lnTo>
                  <a:lnTo>
                    <a:pt x="21" y="97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2" name="Freeform 112"/>
            <p:cNvSpPr/>
            <p:nvPr/>
          </p:nvSpPr>
          <p:spPr>
            <a:xfrm>
              <a:off x="6185533" y="1600198"/>
              <a:ext cx="125413" cy="196850"/>
            </a:xfrm>
            <a:custGeom>
              <a:avLst/>
              <a:gdLst>
                <a:gd name="txL" fmla="*/ 0 w 79"/>
                <a:gd name="txT" fmla="*/ 0 h 124"/>
                <a:gd name="txR" fmla="*/ 79 w 79"/>
                <a:gd name="txB" fmla="*/ 124 h 12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79" h="124">
                  <a:moveTo>
                    <a:pt x="32" y="72"/>
                  </a:moveTo>
                  <a:lnTo>
                    <a:pt x="37" y="57"/>
                  </a:lnTo>
                  <a:lnTo>
                    <a:pt x="42" y="46"/>
                  </a:lnTo>
                  <a:lnTo>
                    <a:pt x="48" y="36"/>
                  </a:lnTo>
                  <a:lnTo>
                    <a:pt x="48" y="31"/>
                  </a:lnTo>
                  <a:lnTo>
                    <a:pt x="53" y="21"/>
                  </a:lnTo>
                  <a:lnTo>
                    <a:pt x="53" y="16"/>
                  </a:lnTo>
                  <a:lnTo>
                    <a:pt x="53" y="10"/>
                  </a:lnTo>
                  <a:lnTo>
                    <a:pt x="53" y="5"/>
                  </a:lnTo>
                  <a:lnTo>
                    <a:pt x="53" y="0"/>
                  </a:lnTo>
                  <a:lnTo>
                    <a:pt x="58" y="0"/>
                  </a:lnTo>
                  <a:lnTo>
                    <a:pt x="63" y="0"/>
                  </a:lnTo>
                  <a:lnTo>
                    <a:pt x="69" y="0"/>
                  </a:lnTo>
                  <a:lnTo>
                    <a:pt x="74" y="5"/>
                  </a:lnTo>
                  <a:lnTo>
                    <a:pt x="79" y="10"/>
                  </a:lnTo>
                  <a:lnTo>
                    <a:pt x="79" y="16"/>
                  </a:lnTo>
                  <a:lnTo>
                    <a:pt x="79" y="21"/>
                  </a:lnTo>
                  <a:lnTo>
                    <a:pt x="79" y="26"/>
                  </a:lnTo>
                  <a:lnTo>
                    <a:pt x="74" y="26"/>
                  </a:lnTo>
                  <a:lnTo>
                    <a:pt x="74" y="31"/>
                  </a:lnTo>
                  <a:lnTo>
                    <a:pt x="69" y="36"/>
                  </a:lnTo>
                  <a:lnTo>
                    <a:pt x="69" y="41"/>
                  </a:lnTo>
                  <a:lnTo>
                    <a:pt x="58" y="57"/>
                  </a:lnTo>
                  <a:lnTo>
                    <a:pt x="53" y="67"/>
                  </a:lnTo>
                  <a:lnTo>
                    <a:pt x="48" y="77"/>
                  </a:lnTo>
                  <a:lnTo>
                    <a:pt x="32" y="93"/>
                  </a:lnTo>
                  <a:lnTo>
                    <a:pt x="21" y="113"/>
                  </a:lnTo>
                  <a:lnTo>
                    <a:pt x="11" y="118"/>
                  </a:lnTo>
                  <a:lnTo>
                    <a:pt x="6" y="124"/>
                  </a:lnTo>
                  <a:lnTo>
                    <a:pt x="0" y="124"/>
                  </a:lnTo>
                  <a:lnTo>
                    <a:pt x="6" y="118"/>
                  </a:lnTo>
                  <a:lnTo>
                    <a:pt x="6" y="113"/>
                  </a:lnTo>
                  <a:lnTo>
                    <a:pt x="11" y="108"/>
                  </a:lnTo>
                  <a:lnTo>
                    <a:pt x="16" y="103"/>
                  </a:lnTo>
                  <a:lnTo>
                    <a:pt x="21" y="93"/>
                  </a:lnTo>
                  <a:lnTo>
                    <a:pt x="27" y="82"/>
                  </a:lnTo>
                  <a:lnTo>
                    <a:pt x="32" y="72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3" name="Freeform 113"/>
            <p:cNvSpPr/>
            <p:nvPr/>
          </p:nvSpPr>
          <p:spPr>
            <a:xfrm>
              <a:off x="6244271" y="1690685"/>
              <a:ext cx="158750" cy="49213"/>
            </a:xfrm>
            <a:custGeom>
              <a:avLst/>
              <a:gdLst>
                <a:gd name="txL" fmla="*/ 0 w 100"/>
                <a:gd name="txT" fmla="*/ 0 h 31"/>
                <a:gd name="txR" fmla="*/ 100 w 100"/>
                <a:gd name="txB" fmla="*/ 31 h 31"/>
              </a:gdLst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100" h="31">
                  <a:moveTo>
                    <a:pt x="0" y="20"/>
                  </a:moveTo>
                  <a:lnTo>
                    <a:pt x="11" y="15"/>
                  </a:lnTo>
                  <a:lnTo>
                    <a:pt x="16" y="15"/>
                  </a:lnTo>
                  <a:lnTo>
                    <a:pt x="21" y="15"/>
                  </a:lnTo>
                  <a:lnTo>
                    <a:pt x="32" y="10"/>
                  </a:lnTo>
                  <a:lnTo>
                    <a:pt x="42" y="10"/>
                  </a:lnTo>
                  <a:lnTo>
                    <a:pt x="53" y="5"/>
                  </a:lnTo>
                  <a:lnTo>
                    <a:pt x="68" y="5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95" y="0"/>
                  </a:lnTo>
                  <a:lnTo>
                    <a:pt x="95" y="5"/>
                  </a:lnTo>
                  <a:lnTo>
                    <a:pt x="100" y="10"/>
                  </a:lnTo>
                  <a:lnTo>
                    <a:pt x="95" y="15"/>
                  </a:lnTo>
                  <a:lnTo>
                    <a:pt x="89" y="15"/>
                  </a:lnTo>
                  <a:lnTo>
                    <a:pt x="84" y="20"/>
                  </a:lnTo>
                  <a:lnTo>
                    <a:pt x="68" y="20"/>
                  </a:lnTo>
                  <a:lnTo>
                    <a:pt x="47" y="25"/>
                  </a:lnTo>
                  <a:lnTo>
                    <a:pt x="37" y="25"/>
                  </a:lnTo>
                  <a:lnTo>
                    <a:pt x="32" y="31"/>
                  </a:lnTo>
                  <a:lnTo>
                    <a:pt x="26" y="31"/>
                  </a:lnTo>
                  <a:lnTo>
                    <a:pt x="21" y="31"/>
                  </a:lnTo>
                  <a:lnTo>
                    <a:pt x="16" y="31"/>
                  </a:lnTo>
                  <a:lnTo>
                    <a:pt x="11" y="25"/>
                  </a:lnTo>
                  <a:lnTo>
                    <a:pt x="5" y="25"/>
                  </a:lnTo>
                  <a:lnTo>
                    <a:pt x="0" y="2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4" name="Freeform 114"/>
            <p:cNvSpPr/>
            <p:nvPr/>
          </p:nvSpPr>
          <p:spPr>
            <a:xfrm>
              <a:off x="6018846" y="1739898"/>
              <a:ext cx="42863" cy="169863"/>
            </a:xfrm>
            <a:custGeom>
              <a:avLst/>
              <a:gdLst>
                <a:gd name="txL" fmla="*/ 0 w 27"/>
                <a:gd name="txT" fmla="*/ 0 h 107"/>
                <a:gd name="txR" fmla="*/ 27 w 27"/>
                <a:gd name="txB" fmla="*/ 107 h 107"/>
              </a:gdLst>
              <a:ahLst/>
              <a:cxnLst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7" h="107">
                  <a:moveTo>
                    <a:pt x="0" y="0"/>
                  </a:moveTo>
                  <a:lnTo>
                    <a:pt x="6" y="0"/>
                  </a:lnTo>
                  <a:lnTo>
                    <a:pt x="11" y="0"/>
                  </a:lnTo>
                  <a:lnTo>
                    <a:pt x="16" y="0"/>
                  </a:lnTo>
                  <a:lnTo>
                    <a:pt x="27" y="5"/>
                  </a:lnTo>
                  <a:lnTo>
                    <a:pt x="21" y="20"/>
                  </a:lnTo>
                  <a:lnTo>
                    <a:pt x="27" y="30"/>
                  </a:lnTo>
                  <a:lnTo>
                    <a:pt x="27" y="46"/>
                  </a:lnTo>
                  <a:lnTo>
                    <a:pt x="27" y="56"/>
                  </a:lnTo>
                  <a:lnTo>
                    <a:pt x="27" y="61"/>
                  </a:lnTo>
                  <a:lnTo>
                    <a:pt x="27" y="66"/>
                  </a:lnTo>
                  <a:lnTo>
                    <a:pt x="27" y="71"/>
                  </a:lnTo>
                  <a:lnTo>
                    <a:pt x="27" y="82"/>
                  </a:lnTo>
                  <a:lnTo>
                    <a:pt x="27" y="92"/>
                  </a:lnTo>
                  <a:lnTo>
                    <a:pt x="27" y="97"/>
                  </a:lnTo>
                  <a:lnTo>
                    <a:pt x="27" y="102"/>
                  </a:lnTo>
                  <a:lnTo>
                    <a:pt x="21" y="107"/>
                  </a:lnTo>
                  <a:lnTo>
                    <a:pt x="21" y="102"/>
                  </a:lnTo>
                  <a:lnTo>
                    <a:pt x="21" y="97"/>
                  </a:lnTo>
                  <a:lnTo>
                    <a:pt x="16" y="92"/>
                  </a:lnTo>
                  <a:lnTo>
                    <a:pt x="16" y="87"/>
                  </a:lnTo>
                  <a:lnTo>
                    <a:pt x="16" y="82"/>
                  </a:lnTo>
                  <a:lnTo>
                    <a:pt x="16" y="77"/>
                  </a:lnTo>
                  <a:lnTo>
                    <a:pt x="16" y="71"/>
                  </a:lnTo>
                  <a:lnTo>
                    <a:pt x="16" y="61"/>
                  </a:lnTo>
                  <a:lnTo>
                    <a:pt x="11" y="51"/>
                  </a:lnTo>
                  <a:lnTo>
                    <a:pt x="11" y="46"/>
                  </a:lnTo>
                  <a:lnTo>
                    <a:pt x="11" y="36"/>
                  </a:lnTo>
                  <a:lnTo>
                    <a:pt x="11" y="30"/>
                  </a:lnTo>
                  <a:lnTo>
                    <a:pt x="6" y="25"/>
                  </a:lnTo>
                  <a:lnTo>
                    <a:pt x="6" y="20"/>
                  </a:lnTo>
                  <a:lnTo>
                    <a:pt x="6" y="15"/>
                  </a:lnTo>
                  <a:lnTo>
                    <a:pt x="6" y="10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0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5" name="Freeform 115"/>
            <p:cNvSpPr/>
            <p:nvPr/>
          </p:nvSpPr>
          <p:spPr>
            <a:xfrm>
              <a:off x="6044246" y="1722435"/>
              <a:ext cx="133350" cy="122238"/>
            </a:xfrm>
            <a:custGeom>
              <a:avLst/>
              <a:gdLst>
                <a:gd name="txL" fmla="*/ 0 w 84"/>
                <a:gd name="txT" fmla="*/ 0 h 77"/>
                <a:gd name="txR" fmla="*/ 84 w 84"/>
                <a:gd name="txB" fmla="*/ 77 h 77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84" h="77">
                  <a:moveTo>
                    <a:pt x="42" y="77"/>
                  </a:moveTo>
                  <a:lnTo>
                    <a:pt x="47" y="67"/>
                  </a:lnTo>
                  <a:lnTo>
                    <a:pt x="47" y="62"/>
                  </a:lnTo>
                  <a:lnTo>
                    <a:pt x="47" y="41"/>
                  </a:lnTo>
                  <a:lnTo>
                    <a:pt x="53" y="31"/>
                  </a:lnTo>
                  <a:lnTo>
                    <a:pt x="53" y="26"/>
                  </a:lnTo>
                  <a:lnTo>
                    <a:pt x="53" y="21"/>
                  </a:lnTo>
                  <a:lnTo>
                    <a:pt x="47" y="21"/>
                  </a:lnTo>
                  <a:lnTo>
                    <a:pt x="42" y="21"/>
                  </a:lnTo>
                  <a:lnTo>
                    <a:pt x="37" y="21"/>
                  </a:lnTo>
                  <a:lnTo>
                    <a:pt x="32" y="21"/>
                  </a:lnTo>
                  <a:lnTo>
                    <a:pt x="16" y="26"/>
                  </a:lnTo>
                  <a:lnTo>
                    <a:pt x="0" y="31"/>
                  </a:lnTo>
                  <a:lnTo>
                    <a:pt x="0" y="16"/>
                  </a:lnTo>
                  <a:lnTo>
                    <a:pt x="16" y="16"/>
                  </a:lnTo>
                  <a:lnTo>
                    <a:pt x="26" y="11"/>
                  </a:lnTo>
                  <a:lnTo>
                    <a:pt x="37" y="11"/>
                  </a:lnTo>
                  <a:lnTo>
                    <a:pt x="47" y="5"/>
                  </a:lnTo>
                  <a:lnTo>
                    <a:pt x="58" y="0"/>
                  </a:lnTo>
                  <a:lnTo>
                    <a:pt x="63" y="0"/>
                  </a:lnTo>
                  <a:lnTo>
                    <a:pt x="68" y="5"/>
                  </a:lnTo>
                  <a:lnTo>
                    <a:pt x="74" y="11"/>
                  </a:lnTo>
                  <a:lnTo>
                    <a:pt x="79" y="11"/>
                  </a:lnTo>
                  <a:lnTo>
                    <a:pt x="79" y="16"/>
                  </a:lnTo>
                  <a:lnTo>
                    <a:pt x="84" y="16"/>
                  </a:lnTo>
                  <a:lnTo>
                    <a:pt x="84" y="21"/>
                  </a:lnTo>
                  <a:lnTo>
                    <a:pt x="79" y="21"/>
                  </a:lnTo>
                  <a:lnTo>
                    <a:pt x="74" y="26"/>
                  </a:lnTo>
                  <a:lnTo>
                    <a:pt x="74" y="31"/>
                  </a:lnTo>
                  <a:lnTo>
                    <a:pt x="68" y="31"/>
                  </a:lnTo>
                  <a:lnTo>
                    <a:pt x="68" y="36"/>
                  </a:lnTo>
                  <a:lnTo>
                    <a:pt x="63" y="47"/>
                  </a:lnTo>
                  <a:lnTo>
                    <a:pt x="63" y="52"/>
                  </a:lnTo>
                  <a:lnTo>
                    <a:pt x="58" y="62"/>
                  </a:lnTo>
                  <a:lnTo>
                    <a:pt x="58" y="77"/>
                  </a:lnTo>
                  <a:lnTo>
                    <a:pt x="42" y="77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6" name="Freeform 116"/>
            <p:cNvSpPr/>
            <p:nvPr/>
          </p:nvSpPr>
          <p:spPr>
            <a:xfrm>
              <a:off x="6052183" y="1828798"/>
              <a:ext cx="100013" cy="33338"/>
            </a:xfrm>
            <a:custGeom>
              <a:avLst/>
              <a:gdLst>
                <a:gd name="txL" fmla="*/ 0 w 63"/>
                <a:gd name="txT" fmla="*/ 0 h 21"/>
                <a:gd name="txR" fmla="*/ 63 w 63"/>
                <a:gd name="txB" fmla="*/ 21 h 21"/>
              </a:gdLst>
              <a:ahLst/>
              <a:cxnLst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63" h="21">
                  <a:moveTo>
                    <a:pt x="32" y="5"/>
                  </a:moveTo>
                  <a:lnTo>
                    <a:pt x="42" y="0"/>
                  </a:lnTo>
                  <a:lnTo>
                    <a:pt x="48" y="0"/>
                  </a:lnTo>
                  <a:lnTo>
                    <a:pt x="53" y="0"/>
                  </a:lnTo>
                  <a:lnTo>
                    <a:pt x="58" y="0"/>
                  </a:lnTo>
                  <a:lnTo>
                    <a:pt x="63" y="0"/>
                  </a:lnTo>
                  <a:lnTo>
                    <a:pt x="63" y="5"/>
                  </a:lnTo>
                  <a:lnTo>
                    <a:pt x="63" y="10"/>
                  </a:lnTo>
                  <a:lnTo>
                    <a:pt x="58" y="10"/>
                  </a:lnTo>
                  <a:lnTo>
                    <a:pt x="53" y="15"/>
                  </a:lnTo>
                  <a:lnTo>
                    <a:pt x="48" y="15"/>
                  </a:lnTo>
                  <a:lnTo>
                    <a:pt x="37" y="21"/>
                  </a:lnTo>
                  <a:lnTo>
                    <a:pt x="21" y="21"/>
                  </a:lnTo>
                  <a:lnTo>
                    <a:pt x="0" y="21"/>
                  </a:lnTo>
                  <a:lnTo>
                    <a:pt x="0" y="10"/>
                  </a:lnTo>
                  <a:lnTo>
                    <a:pt x="16" y="10"/>
                  </a:lnTo>
                  <a:lnTo>
                    <a:pt x="32" y="5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7" name="组合 137"/>
          <p:cNvGrpSpPr>
            <a:grpSpLocks noChangeAspect="1"/>
          </p:cNvGrpSpPr>
          <p:nvPr/>
        </p:nvGrpSpPr>
        <p:grpSpPr>
          <a:xfrm>
            <a:off x="7653338" y="5043488"/>
            <a:ext cx="341312" cy="341312"/>
            <a:chOff x="7629933" y="4887460"/>
            <a:chExt cx="449262" cy="450850"/>
          </a:xfrm>
        </p:grpSpPr>
        <p:sp>
          <p:nvSpPr>
            <p:cNvPr id="69668" name="Freeform 127"/>
            <p:cNvSpPr/>
            <p:nvPr/>
          </p:nvSpPr>
          <p:spPr>
            <a:xfrm>
              <a:off x="7837896" y="4887460"/>
              <a:ext cx="200025" cy="139700"/>
            </a:xfrm>
            <a:custGeom>
              <a:avLst/>
              <a:gdLst>
                <a:gd name="txL" fmla="*/ 0 w 126"/>
                <a:gd name="txT" fmla="*/ 0 h 88"/>
                <a:gd name="txR" fmla="*/ 126 w 126"/>
                <a:gd name="txB" fmla="*/ 88 h 88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26" h="88">
                  <a:moveTo>
                    <a:pt x="79" y="5"/>
                  </a:moveTo>
                  <a:lnTo>
                    <a:pt x="89" y="5"/>
                  </a:lnTo>
                  <a:lnTo>
                    <a:pt x="89" y="0"/>
                  </a:lnTo>
                  <a:lnTo>
                    <a:pt x="94" y="5"/>
                  </a:lnTo>
                  <a:lnTo>
                    <a:pt x="99" y="5"/>
                  </a:lnTo>
                  <a:lnTo>
                    <a:pt x="105" y="10"/>
                  </a:lnTo>
                  <a:lnTo>
                    <a:pt x="110" y="10"/>
                  </a:lnTo>
                  <a:lnTo>
                    <a:pt x="115" y="15"/>
                  </a:lnTo>
                  <a:lnTo>
                    <a:pt x="120" y="21"/>
                  </a:lnTo>
                  <a:lnTo>
                    <a:pt x="126" y="21"/>
                  </a:lnTo>
                  <a:lnTo>
                    <a:pt x="126" y="26"/>
                  </a:lnTo>
                  <a:lnTo>
                    <a:pt x="120" y="26"/>
                  </a:lnTo>
                  <a:lnTo>
                    <a:pt x="115" y="31"/>
                  </a:lnTo>
                  <a:lnTo>
                    <a:pt x="110" y="36"/>
                  </a:lnTo>
                  <a:lnTo>
                    <a:pt x="110" y="41"/>
                  </a:lnTo>
                  <a:lnTo>
                    <a:pt x="105" y="46"/>
                  </a:lnTo>
                  <a:lnTo>
                    <a:pt x="105" y="52"/>
                  </a:lnTo>
                  <a:lnTo>
                    <a:pt x="99" y="62"/>
                  </a:lnTo>
                  <a:lnTo>
                    <a:pt x="94" y="72"/>
                  </a:lnTo>
                  <a:lnTo>
                    <a:pt x="89" y="88"/>
                  </a:lnTo>
                  <a:lnTo>
                    <a:pt x="73" y="88"/>
                  </a:lnTo>
                  <a:lnTo>
                    <a:pt x="79" y="72"/>
                  </a:lnTo>
                  <a:lnTo>
                    <a:pt x="79" y="62"/>
                  </a:lnTo>
                  <a:lnTo>
                    <a:pt x="84" y="52"/>
                  </a:lnTo>
                  <a:lnTo>
                    <a:pt x="84" y="46"/>
                  </a:lnTo>
                  <a:lnTo>
                    <a:pt x="84" y="36"/>
                  </a:lnTo>
                  <a:lnTo>
                    <a:pt x="89" y="31"/>
                  </a:lnTo>
                  <a:lnTo>
                    <a:pt x="89" y="26"/>
                  </a:lnTo>
                  <a:lnTo>
                    <a:pt x="84" y="21"/>
                  </a:lnTo>
                  <a:lnTo>
                    <a:pt x="79" y="21"/>
                  </a:lnTo>
                  <a:lnTo>
                    <a:pt x="68" y="21"/>
                  </a:lnTo>
                  <a:lnTo>
                    <a:pt x="58" y="21"/>
                  </a:lnTo>
                  <a:lnTo>
                    <a:pt x="47" y="21"/>
                  </a:lnTo>
                  <a:lnTo>
                    <a:pt x="37" y="26"/>
                  </a:lnTo>
                  <a:lnTo>
                    <a:pt x="21" y="26"/>
                  </a:lnTo>
                  <a:lnTo>
                    <a:pt x="0" y="26"/>
                  </a:lnTo>
                  <a:lnTo>
                    <a:pt x="0" y="21"/>
                  </a:lnTo>
                  <a:lnTo>
                    <a:pt x="11" y="15"/>
                  </a:lnTo>
                  <a:lnTo>
                    <a:pt x="21" y="15"/>
                  </a:lnTo>
                  <a:lnTo>
                    <a:pt x="31" y="15"/>
                  </a:lnTo>
                  <a:lnTo>
                    <a:pt x="47" y="15"/>
                  </a:lnTo>
                  <a:lnTo>
                    <a:pt x="58" y="10"/>
                  </a:lnTo>
                  <a:lnTo>
                    <a:pt x="68" y="10"/>
                  </a:lnTo>
                  <a:lnTo>
                    <a:pt x="79" y="5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9669" name="组合 136"/>
            <p:cNvGrpSpPr/>
            <p:nvPr/>
          </p:nvGrpSpPr>
          <p:grpSpPr>
            <a:xfrm>
              <a:off x="7629933" y="4911273"/>
              <a:ext cx="449262" cy="427037"/>
              <a:chOff x="7629933" y="4911273"/>
              <a:chExt cx="449262" cy="427037"/>
            </a:xfrm>
          </p:grpSpPr>
          <p:sp>
            <p:nvSpPr>
              <p:cNvPr id="69670" name="Freeform 123"/>
              <p:cNvSpPr/>
              <p:nvPr/>
            </p:nvSpPr>
            <p:spPr>
              <a:xfrm>
                <a:off x="7629933" y="5019223"/>
                <a:ext cx="50800" cy="146050"/>
              </a:xfrm>
              <a:custGeom>
                <a:avLst/>
                <a:gdLst>
                  <a:gd name="txL" fmla="*/ 0 w 32"/>
                  <a:gd name="txT" fmla="*/ 0 h 92"/>
                  <a:gd name="txR" fmla="*/ 32 w 32"/>
                  <a:gd name="txB" fmla="*/ 92 h 92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32" h="92">
                    <a:moveTo>
                      <a:pt x="32" y="51"/>
                    </a:moveTo>
                    <a:lnTo>
                      <a:pt x="32" y="61"/>
                    </a:lnTo>
                    <a:lnTo>
                      <a:pt x="32" y="67"/>
                    </a:lnTo>
                    <a:lnTo>
                      <a:pt x="32" y="77"/>
                    </a:lnTo>
                    <a:lnTo>
                      <a:pt x="32" y="82"/>
                    </a:lnTo>
                    <a:lnTo>
                      <a:pt x="32" y="87"/>
                    </a:lnTo>
                    <a:lnTo>
                      <a:pt x="32" y="92"/>
                    </a:lnTo>
                    <a:lnTo>
                      <a:pt x="26" y="92"/>
                    </a:lnTo>
                    <a:lnTo>
                      <a:pt x="26" y="87"/>
                    </a:lnTo>
                    <a:lnTo>
                      <a:pt x="21" y="82"/>
                    </a:lnTo>
                    <a:lnTo>
                      <a:pt x="21" y="77"/>
                    </a:lnTo>
                    <a:lnTo>
                      <a:pt x="16" y="77"/>
                    </a:lnTo>
                    <a:lnTo>
                      <a:pt x="16" y="67"/>
                    </a:lnTo>
                    <a:lnTo>
                      <a:pt x="16" y="56"/>
                    </a:lnTo>
                    <a:lnTo>
                      <a:pt x="16" y="51"/>
                    </a:lnTo>
                    <a:lnTo>
                      <a:pt x="11" y="41"/>
                    </a:lnTo>
                    <a:lnTo>
                      <a:pt x="11" y="30"/>
                    </a:lnTo>
                    <a:lnTo>
                      <a:pt x="11" y="25"/>
                    </a:lnTo>
                    <a:lnTo>
                      <a:pt x="5" y="20"/>
                    </a:lnTo>
                    <a:lnTo>
                      <a:pt x="5" y="15"/>
                    </a:lnTo>
                    <a:lnTo>
                      <a:pt x="0" y="10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5" y="0"/>
                    </a:lnTo>
                    <a:lnTo>
                      <a:pt x="11" y="0"/>
                    </a:lnTo>
                    <a:lnTo>
                      <a:pt x="21" y="5"/>
                    </a:lnTo>
                    <a:lnTo>
                      <a:pt x="26" y="5"/>
                    </a:lnTo>
                    <a:lnTo>
                      <a:pt x="26" y="10"/>
                    </a:lnTo>
                    <a:lnTo>
                      <a:pt x="26" y="20"/>
                    </a:lnTo>
                    <a:lnTo>
                      <a:pt x="26" y="36"/>
                    </a:lnTo>
                    <a:lnTo>
                      <a:pt x="32" y="51"/>
                    </a:ln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5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671" name="Freeform 124"/>
              <p:cNvSpPr/>
              <p:nvPr/>
            </p:nvSpPr>
            <p:spPr>
              <a:xfrm>
                <a:off x="7647396" y="5001760"/>
                <a:ext cx="131762" cy="106363"/>
              </a:xfrm>
              <a:custGeom>
                <a:avLst/>
                <a:gdLst>
                  <a:gd name="txL" fmla="*/ 0 w 83"/>
                  <a:gd name="txT" fmla="*/ 0 h 67"/>
                  <a:gd name="txR" fmla="*/ 83 w 83"/>
                  <a:gd name="txB" fmla="*/ 67 h 67"/>
                </a:gdLst>
                <a:ahLst/>
                <a:cxnLst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</a:cxnLst>
                <a:rect l="txL" t="txT" r="txR" b="txB"/>
                <a:pathLst>
                  <a:path w="83" h="67">
                    <a:moveTo>
                      <a:pt x="57" y="0"/>
                    </a:moveTo>
                    <a:lnTo>
                      <a:pt x="62" y="0"/>
                    </a:lnTo>
                    <a:lnTo>
                      <a:pt x="73" y="5"/>
                    </a:lnTo>
                    <a:lnTo>
                      <a:pt x="78" y="11"/>
                    </a:lnTo>
                    <a:lnTo>
                      <a:pt x="83" y="11"/>
                    </a:lnTo>
                    <a:lnTo>
                      <a:pt x="83" y="16"/>
                    </a:lnTo>
                    <a:lnTo>
                      <a:pt x="83" y="21"/>
                    </a:lnTo>
                    <a:lnTo>
                      <a:pt x="78" y="21"/>
                    </a:lnTo>
                    <a:lnTo>
                      <a:pt x="78" y="26"/>
                    </a:lnTo>
                    <a:lnTo>
                      <a:pt x="73" y="31"/>
                    </a:lnTo>
                    <a:lnTo>
                      <a:pt x="73" y="36"/>
                    </a:lnTo>
                    <a:lnTo>
                      <a:pt x="73" y="41"/>
                    </a:lnTo>
                    <a:lnTo>
                      <a:pt x="68" y="47"/>
                    </a:lnTo>
                    <a:lnTo>
                      <a:pt x="68" y="57"/>
                    </a:lnTo>
                    <a:lnTo>
                      <a:pt x="62" y="67"/>
                    </a:lnTo>
                    <a:lnTo>
                      <a:pt x="47" y="67"/>
                    </a:lnTo>
                    <a:lnTo>
                      <a:pt x="52" y="52"/>
                    </a:lnTo>
                    <a:lnTo>
                      <a:pt x="52" y="41"/>
                    </a:lnTo>
                    <a:lnTo>
                      <a:pt x="57" y="31"/>
                    </a:lnTo>
                    <a:lnTo>
                      <a:pt x="57" y="26"/>
                    </a:lnTo>
                    <a:lnTo>
                      <a:pt x="57" y="21"/>
                    </a:lnTo>
                    <a:lnTo>
                      <a:pt x="52" y="16"/>
                    </a:lnTo>
                    <a:lnTo>
                      <a:pt x="47" y="16"/>
                    </a:lnTo>
                    <a:lnTo>
                      <a:pt x="42" y="16"/>
                    </a:lnTo>
                    <a:lnTo>
                      <a:pt x="36" y="21"/>
                    </a:lnTo>
                    <a:lnTo>
                      <a:pt x="26" y="21"/>
                    </a:lnTo>
                    <a:lnTo>
                      <a:pt x="15" y="26"/>
                    </a:lnTo>
                    <a:lnTo>
                      <a:pt x="0" y="26"/>
                    </a:lnTo>
                    <a:lnTo>
                      <a:pt x="0" y="11"/>
                    </a:lnTo>
                    <a:lnTo>
                      <a:pt x="5" y="11"/>
                    </a:lnTo>
                    <a:lnTo>
                      <a:pt x="10" y="16"/>
                    </a:lnTo>
                    <a:lnTo>
                      <a:pt x="15" y="16"/>
                    </a:lnTo>
                    <a:lnTo>
                      <a:pt x="26" y="11"/>
                    </a:lnTo>
                    <a:lnTo>
                      <a:pt x="31" y="11"/>
                    </a:lnTo>
                    <a:lnTo>
                      <a:pt x="36" y="5"/>
                    </a:lnTo>
                    <a:lnTo>
                      <a:pt x="42" y="5"/>
                    </a:lnTo>
                    <a:lnTo>
                      <a:pt x="47" y="5"/>
                    </a:lnTo>
                    <a:lnTo>
                      <a:pt x="52" y="0"/>
                    </a:lnTo>
                    <a:lnTo>
                      <a:pt x="57" y="0"/>
                    </a:ln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5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672" name="Freeform 125"/>
              <p:cNvSpPr/>
              <p:nvPr/>
            </p:nvSpPr>
            <p:spPr>
              <a:xfrm>
                <a:off x="7671208" y="5100185"/>
                <a:ext cx="92075" cy="33338"/>
              </a:xfrm>
              <a:custGeom>
                <a:avLst/>
                <a:gdLst>
                  <a:gd name="txL" fmla="*/ 0 w 58"/>
                  <a:gd name="txT" fmla="*/ 0 h 21"/>
                  <a:gd name="txR" fmla="*/ 58 w 58"/>
                  <a:gd name="txB" fmla="*/ 21 h 21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58" h="21">
                    <a:moveTo>
                      <a:pt x="58" y="5"/>
                    </a:moveTo>
                    <a:lnTo>
                      <a:pt x="53" y="10"/>
                    </a:lnTo>
                    <a:lnTo>
                      <a:pt x="47" y="16"/>
                    </a:lnTo>
                    <a:lnTo>
                      <a:pt x="42" y="16"/>
                    </a:lnTo>
                    <a:lnTo>
                      <a:pt x="32" y="16"/>
                    </a:lnTo>
                    <a:lnTo>
                      <a:pt x="16" y="16"/>
                    </a:lnTo>
                    <a:lnTo>
                      <a:pt x="0" y="21"/>
                    </a:lnTo>
                    <a:lnTo>
                      <a:pt x="0" y="10"/>
                    </a:lnTo>
                    <a:lnTo>
                      <a:pt x="11" y="5"/>
                    </a:lnTo>
                    <a:lnTo>
                      <a:pt x="21" y="5"/>
                    </a:lnTo>
                    <a:lnTo>
                      <a:pt x="32" y="5"/>
                    </a:lnTo>
                    <a:lnTo>
                      <a:pt x="37" y="5"/>
                    </a:lnTo>
                    <a:lnTo>
                      <a:pt x="47" y="5"/>
                    </a:lnTo>
                    <a:lnTo>
                      <a:pt x="47" y="0"/>
                    </a:lnTo>
                    <a:lnTo>
                      <a:pt x="53" y="0"/>
                    </a:lnTo>
                    <a:lnTo>
                      <a:pt x="53" y="5"/>
                    </a:lnTo>
                    <a:lnTo>
                      <a:pt x="58" y="5"/>
                    </a:ln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5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673" name="Freeform 126"/>
              <p:cNvSpPr/>
              <p:nvPr/>
            </p:nvSpPr>
            <p:spPr>
              <a:xfrm>
                <a:off x="7812496" y="4911273"/>
                <a:ext cx="58737" cy="131763"/>
              </a:xfrm>
              <a:custGeom>
                <a:avLst/>
                <a:gdLst>
                  <a:gd name="txL" fmla="*/ 0 w 37"/>
                  <a:gd name="txT" fmla="*/ 0 h 83"/>
                  <a:gd name="txR" fmla="*/ 37 w 37"/>
                  <a:gd name="txB" fmla="*/ 83 h 83"/>
                </a:gdLst>
                <a:ahLst/>
                <a:cxnLst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37" h="83">
                    <a:moveTo>
                      <a:pt x="6" y="16"/>
                    </a:moveTo>
                    <a:lnTo>
                      <a:pt x="0" y="11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11" y="0"/>
                    </a:lnTo>
                    <a:lnTo>
                      <a:pt x="16" y="0"/>
                    </a:lnTo>
                    <a:lnTo>
                      <a:pt x="27" y="6"/>
                    </a:lnTo>
                    <a:lnTo>
                      <a:pt x="32" y="11"/>
                    </a:lnTo>
                    <a:lnTo>
                      <a:pt x="32" y="21"/>
                    </a:lnTo>
                    <a:lnTo>
                      <a:pt x="32" y="31"/>
                    </a:lnTo>
                    <a:lnTo>
                      <a:pt x="32" y="42"/>
                    </a:lnTo>
                    <a:lnTo>
                      <a:pt x="37" y="52"/>
                    </a:lnTo>
                    <a:lnTo>
                      <a:pt x="37" y="68"/>
                    </a:lnTo>
                    <a:lnTo>
                      <a:pt x="37" y="83"/>
                    </a:lnTo>
                    <a:lnTo>
                      <a:pt x="32" y="78"/>
                    </a:lnTo>
                    <a:lnTo>
                      <a:pt x="27" y="78"/>
                    </a:lnTo>
                    <a:lnTo>
                      <a:pt x="27" y="73"/>
                    </a:lnTo>
                    <a:lnTo>
                      <a:pt x="21" y="68"/>
                    </a:lnTo>
                    <a:lnTo>
                      <a:pt x="21" y="62"/>
                    </a:lnTo>
                    <a:lnTo>
                      <a:pt x="21" y="57"/>
                    </a:lnTo>
                    <a:lnTo>
                      <a:pt x="16" y="52"/>
                    </a:lnTo>
                    <a:lnTo>
                      <a:pt x="16" y="37"/>
                    </a:lnTo>
                    <a:lnTo>
                      <a:pt x="11" y="26"/>
                    </a:lnTo>
                    <a:lnTo>
                      <a:pt x="11" y="21"/>
                    </a:lnTo>
                    <a:lnTo>
                      <a:pt x="6" y="16"/>
                    </a:lnTo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674" name="Freeform 128"/>
              <p:cNvSpPr/>
              <p:nvPr/>
            </p:nvSpPr>
            <p:spPr>
              <a:xfrm>
                <a:off x="7779158" y="5125585"/>
                <a:ext cx="207962" cy="138113"/>
              </a:xfrm>
              <a:custGeom>
                <a:avLst/>
                <a:gdLst>
                  <a:gd name="txL" fmla="*/ 0 w 131"/>
                  <a:gd name="txT" fmla="*/ 0 h 87"/>
                  <a:gd name="txR" fmla="*/ 131 w 131"/>
                  <a:gd name="txB" fmla="*/ 87 h 87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131" h="87">
                    <a:moveTo>
                      <a:pt x="21" y="82"/>
                    </a:moveTo>
                    <a:lnTo>
                      <a:pt x="16" y="82"/>
                    </a:lnTo>
                    <a:lnTo>
                      <a:pt x="16" y="87"/>
                    </a:lnTo>
                    <a:lnTo>
                      <a:pt x="11" y="87"/>
                    </a:lnTo>
                    <a:lnTo>
                      <a:pt x="6" y="87"/>
                    </a:lnTo>
                    <a:lnTo>
                      <a:pt x="6" y="82"/>
                    </a:lnTo>
                    <a:lnTo>
                      <a:pt x="0" y="82"/>
                    </a:lnTo>
                    <a:lnTo>
                      <a:pt x="0" y="77"/>
                    </a:lnTo>
                    <a:lnTo>
                      <a:pt x="0" y="72"/>
                    </a:lnTo>
                    <a:lnTo>
                      <a:pt x="0" y="67"/>
                    </a:lnTo>
                    <a:lnTo>
                      <a:pt x="6" y="67"/>
                    </a:lnTo>
                    <a:lnTo>
                      <a:pt x="6" y="61"/>
                    </a:lnTo>
                    <a:lnTo>
                      <a:pt x="6" y="56"/>
                    </a:lnTo>
                    <a:lnTo>
                      <a:pt x="11" y="51"/>
                    </a:lnTo>
                    <a:lnTo>
                      <a:pt x="11" y="41"/>
                    </a:lnTo>
                    <a:lnTo>
                      <a:pt x="11" y="36"/>
                    </a:lnTo>
                    <a:lnTo>
                      <a:pt x="11" y="25"/>
                    </a:lnTo>
                    <a:lnTo>
                      <a:pt x="6" y="15"/>
                    </a:lnTo>
                    <a:lnTo>
                      <a:pt x="6" y="10"/>
                    </a:lnTo>
                    <a:lnTo>
                      <a:pt x="6" y="5"/>
                    </a:lnTo>
                    <a:lnTo>
                      <a:pt x="6" y="0"/>
                    </a:lnTo>
                    <a:lnTo>
                      <a:pt x="11" y="0"/>
                    </a:lnTo>
                    <a:lnTo>
                      <a:pt x="16" y="5"/>
                    </a:lnTo>
                    <a:lnTo>
                      <a:pt x="21" y="10"/>
                    </a:lnTo>
                    <a:lnTo>
                      <a:pt x="27" y="15"/>
                    </a:lnTo>
                    <a:lnTo>
                      <a:pt x="27" y="20"/>
                    </a:lnTo>
                    <a:lnTo>
                      <a:pt x="27" y="31"/>
                    </a:lnTo>
                    <a:lnTo>
                      <a:pt x="21" y="41"/>
                    </a:lnTo>
                    <a:lnTo>
                      <a:pt x="21" y="51"/>
                    </a:lnTo>
                    <a:lnTo>
                      <a:pt x="21" y="56"/>
                    </a:lnTo>
                    <a:lnTo>
                      <a:pt x="27" y="61"/>
                    </a:lnTo>
                    <a:lnTo>
                      <a:pt x="32" y="61"/>
                    </a:lnTo>
                    <a:lnTo>
                      <a:pt x="37" y="61"/>
                    </a:lnTo>
                    <a:lnTo>
                      <a:pt x="42" y="61"/>
                    </a:lnTo>
                    <a:lnTo>
                      <a:pt x="48" y="61"/>
                    </a:lnTo>
                    <a:lnTo>
                      <a:pt x="58" y="56"/>
                    </a:lnTo>
                    <a:lnTo>
                      <a:pt x="63" y="56"/>
                    </a:lnTo>
                    <a:lnTo>
                      <a:pt x="84" y="56"/>
                    </a:lnTo>
                    <a:lnTo>
                      <a:pt x="95" y="51"/>
                    </a:lnTo>
                    <a:lnTo>
                      <a:pt x="100" y="51"/>
                    </a:lnTo>
                    <a:lnTo>
                      <a:pt x="105" y="51"/>
                    </a:lnTo>
                    <a:lnTo>
                      <a:pt x="110" y="51"/>
                    </a:lnTo>
                    <a:lnTo>
                      <a:pt x="116" y="51"/>
                    </a:lnTo>
                    <a:lnTo>
                      <a:pt x="126" y="51"/>
                    </a:lnTo>
                    <a:lnTo>
                      <a:pt x="131" y="56"/>
                    </a:lnTo>
                    <a:lnTo>
                      <a:pt x="131" y="61"/>
                    </a:lnTo>
                    <a:lnTo>
                      <a:pt x="126" y="61"/>
                    </a:lnTo>
                    <a:lnTo>
                      <a:pt x="126" y="67"/>
                    </a:lnTo>
                    <a:lnTo>
                      <a:pt x="116" y="67"/>
                    </a:lnTo>
                    <a:lnTo>
                      <a:pt x="110" y="67"/>
                    </a:lnTo>
                    <a:lnTo>
                      <a:pt x="100" y="67"/>
                    </a:lnTo>
                    <a:lnTo>
                      <a:pt x="89" y="67"/>
                    </a:lnTo>
                    <a:lnTo>
                      <a:pt x="74" y="67"/>
                    </a:lnTo>
                    <a:lnTo>
                      <a:pt x="58" y="72"/>
                    </a:lnTo>
                    <a:lnTo>
                      <a:pt x="48" y="72"/>
                    </a:lnTo>
                    <a:lnTo>
                      <a:pt x="42" y="72"/>
                    </a:lnTo>
                    <a:lnTo>
                      <a:pt x="37" y="77"/>
                    </a:lnTo>
                    <a:lnTo>
                      <a:pt x="27" y="77"/>
                    </a:lnTo>
                    <a:lnTo>
                      <a:pt x="21" y="82"/>
                    </a:lnTo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675" name="Freeform 129"/>
              <p:cNvSpPr/>
              <p:nvPr/>
            </p:nvSpPr>
            <p:spPr>
              <a:xfrm>
                <a:off x="7837896" y="5100185"/>
                <a:ext cx="92075" cy="98425"/>
              </a:xfrm>
              <a:custGeom>
                <a:avLst/>
                <a:gdLst>
                  <a:gd name="txL" fmla="*/ 0 w 58"/>
                  <a:gd name="txT" fmla="*/ 0 h 62"/>
                  <a:gd name="txR" fmla="*/ 58 w 58"/>
                  <a:gd name="txB" fmla="*/ 62 h 62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58" h="62">
                    <a:moveTo>
                      <a:pt x="47" y="31"/>
                    </a:moveTo>
                    <a:lnTo>
                      <a:pt x="42" y="36"/>
                    </a:lnTo>
                    <a:lnTo>
                      <a:pt x="37" y="41"/>
                    </a:lnTo>
                    <a:lnTo>
                      <a:pt x="21" y="52"/>
                    </a:lnTo>
                    <a:lnTo>
                      <a:pt x="11" y="57"/>
                    </a:lnTo>
                    <a:lnTo>
                      <a:pt x="5" y="62"/>
                    </a:lnTo>
                    <a:lnTo>
                      <a:pt x="0" y="62"/>
                    </a:lnTo>
                    <a:lnTo>
                      <a:pt x="5" y="57"/>
                    </a:lnTo>
                    <a:lnTo>
                      <a:pt x="11" y="52"/>
                    </a:lnTo>
                    <a:lnTo>
                      <a:pt x="16" y="41"/>
                    </a:lnTo>
                    <a:lnTo>
                      <a:pt x="26" y="36"/>
                    </a:lnTo>
                    <a:lnTo>
                      <a:pt x="31" y="31"/>
                    </a:lnTo>
                    <a:lnTo>
                      <a:pt x="31" y="21"/>
                    </a:lnTo>
                    <a:lnTo>
                      <a:pt x="37" y="16"/>
                    </a:lnTo>
                    <a:lnTo>
                      <a:pt x="37" y="10"/>
                    </a:lnTo>
                    <a:lnTo>
                      <a:pt x="37" y="5"/>
                    </a:lnTo>
                    <a:lnTo>
                      <a:pt x="37" y="0"/>
                    </a:lnTo>
                    <a:lnTo>
                      <a:pt x="42" y="0"/>
                    </a:lnTo>
                    <a:lnTo>
                      <a:pt x="47" y="0"/>
                    </a:lnTo>
                    <a:lnTo>
                      <a:pt x="52" y="0"/>
                    </a:lnTo>
                    <a:lnTo>
                      <a:pt x="52" y="5"/>
                    </a:lnTo>
                    <a:lnTo>
                      <a:pt x="58" y="5"/>
                    </a:lnTo>
                    <a:lnTo>
                      <a:pt x="58" y="10"/>
                    </a:lnTo>
                    <a:lnTo>
                      <a:pt x="58" y="16"/>
                    </a:lnTo>
                    <a:lnTo>
                      <a:pt x="58" y="21"/>
                    </a:lnTo>
                    <a:lnTo>
                      <a:pt x="52" y="26"/>
                    </a:lnTo>
                    <a:lnTo>
                      <a:pt x="47" y="31"/>
                    </a:lnTo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676" name="Freeform 130"/>
              <p:cNvSpPr/>
              <p:nvPr/>
            </p:nvSpPr>
            <p:spPr>
              <a:xfrm>
                <a:off x="7912508" y="5141460"/>
                <a:ext cx="74612" cy="41275"/>
              </a:xfrm>
              <a:custGeom>
                <a:avLst/>
                <a:gdLst>
                  <a:gd name="txL" fmla="*/ 0 w 47"/>
                  <a:gd name="txT" fmla="*/ 0 h 26"/>
                  <a:gd name="txR" fmla="*/ 47 w 47"/>
                  <a:gd name="txB" fmla="*/ 26 h 26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47" h="26">
                    <a:moveTo>
                      <a:pt x="47" y="15"/>
                    </a:moveTo>
                    <a:lnTo>
                      <a:pt x="47" y="21"/>
                    </a:lnTo>
                    <a:lnTo>
                      <a:pt x="47" y="26"/>
                    </a:lnTo>
                    <a:lnTo>
                      <a:pt x="42" y="26"/>
                    </a:lnTo>
                    <a:lnTo>
                      <a:pt x="42" y="21"/>
                    </a:lnTo>
                    <a:lnTo>
                      <a:pt x="32" y="21"/>
                    </a:lnTo>
                    <a:lnTo>
                      <a:pt x="21" y="15"/>
                    </a:lnTo>
                    <a:lnTo>
                      <a:pt x="16" y="10"/>
                    </a:lnTo>
                    <a:lnTo>
                      <a:pt x="5" y="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5" y="0"/>
                    </a:lnTo>
                    <a:lnTo>
                      <a:pt x="11" y="0"/>
                    </a:lnTo>
                    <a:lnTo>
                      <a:pt x="16" y="0"/>
                    </a:lnTo>
                    <a:lnTo>
                      <a:pt x="21" y="0"/>
                    </a:lnTo>
                    <a:lnTo>
                      <a:pt x="26" y="0"/>
                    </a:lnTo>
                    <a:lnTo>
                      <a:pt x="37" y="5"/>
                    </a:lnTo>
                    <a:lnTo>
                      <a:pt x="42" y="5"/>
                    </a:lnTo>
                    <a:lnTo>
                      <a:pt x="47" y="10"/>
                    </a:lnTo>
                    <a:lnTo>
                      <a:pt x="47" y="15"/>
                    </a:lnTo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677" name="Freeform 131"/>
              <p:cNvSpPr/>
              <p:nvPr/>
            </p:nvSpPr>
            <p:spPr>
              <a:xfrm>
                <a:off x="7855358" y="4960485"/>
                <a:ext cx="90487" cy="25400"/>
              </a:xfrm>
              <a:custGeom>
                <a:avLst/>
                <a:gdLst>
                  <a:gd name="txL" fmla="*/ 0 w 57"/>
                  <a:gd name="txT" fmla="*/ 0 h 16"/>
                  <a:gd name="txR" fmla="*/ 57 w 57"/>
                  <a:gd name="txB" fmla="*/ 16 h 16"/>
                </a:gdLst>
                <a:ahLst/>
                <a:cxnLst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</a:cxnLst>
                <a:rect l="txL" t="txT" r="txR" b="txB"/>
                <a:pathLst>
                  <a:path w="57" h="16">
                    <a:moveTo>
                      <a:pt x="20" y="0"/>
                    </a:moveTo>
                    <a:lnTo>
                      <a:pt x="26" y="0"/>
                    </a:lnTo>
                    <a:lnTo>
                      <a:pt x="31" y="0"/>
                    </a:lnTo>
                    <a:lnTo>
                      <a:pt x="41" y="0"/>
                    </a:lnTo>
                    <a:lnTo>
                      <a:pt x="47" y="0"/>
                    </a:lnTo>
                    <a:lnTo>
                      <a:pt x="57" y="0"/>
                    </a:lnTo>
                    <a:lnTo>
                      <a:pt x="52" y="6"/>
                    </a:lnTo>
                    <a:lnTo>
                      <a:pt x="52" y="11"/>
                    </a:lnTo>
                    <a:lnTo>
                      <a:pt x="47" y="11"/>
                    </a:lnTo>
                    <a:lnTo>
                      <a:pt x="41" y="11"/>
                    </a:lnTo>
                    <a:lnTo>
                      <a:pt x="36" y="11"/>
                    </a:lnTo>
                    <a:lnTo>
                      <a:pt x="31" y="11"/>
                    </a:lnTo>
                    <a:lnTo>
                      <a:pt x="15" y="16"/>
                    </a:lnTo>
                    <a:lnTo>
                      <a:pt x="0" y="16"/>
                    </a:lnTo>
                    <a:lnTo>
                      <a:pt x="0" y="6"/>
                    </a:lnTo>
                    <a:lnTo>
                      <a:pt x="10" y="6"/>
                    </a:lnTo>
                    <a:lnTo>
                      <a:pt x="20" y="0"/>
                    </a:lnTo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678" name="Freeform 132"/>
              <p:cNvSpPr/>
              <p:nvPr/>
            </p:nvSpPr>
            <p:spPr>
              <a:xfrm>
                <a:off x="7863296" y="5019223"/>
                <a:ext cx="115887" cy="15875"/>
              </a:xfrm>
              <a:custGeom>
                <a:avLst/>
                <a:gdLst>
                  <a:gd name="txL" fmla="*/ 0 w 73"/>
                  <a:gd name="txT" fmla="*/ 0 h 10"/>
                  <a:gd name="txR" fmla="*/ 73 w 73"/>
                  <a:gd name="txB" fmla="*/ 10 h 10"/>
                </a:gdLst>
                <a:ahLst/>
                <a:cxnLst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</a:cxnLst>
                <a:rect l="txL" t="txT" r="txR" b="txB"/>
                <a:pathLst>
                  <a:path w="73" h="10">
                    <a:moveTo>
                      <a:pt x="73" y="0"/>
                    </a:moveTo>
                    <a:lnTo>
                      <a:pt x="73" y="5"/>
                    </a:lnTo>
                    <a:lnTo>
                      <a:pt x="73" y="10"/>
                    </a:lnTo>
                    <a:lnTo>
                      <a:pt x="68" y="10"/>
                    </a:lnTo>
                    <a:lnTo>
                      <a:pt x="63" y="10"/>
                    </a:lnTo>
                    <a:lnTo>
                      <a:pt x="57" y="10"/>
                    </a:lnTo>
                    <a:lnTo>
                      <a:pt x="47" y="10"/>
                    </a:lnTo>
                    <a:lnTo>
                      <a:pt x="36" y="10"/>
                    </a:lnTo>
                    <a:lnTo>
                      <a:pt x="21" y="10"/>
                    </a:lnTo>
                    <a:lnTo>
                      <a:pt x="5" y="10"/>
                    </a:lnTo>
                    <a:lnTo>
                      <a:pt x="0" y="5"/>
                    </a:lnTo>
                    <a:lnTo>
                      <a:pt x="21" y="0"/>
                    </a:lnTo>
                    <a:lnTo>
                      <a:pt x="31" y="0"/>
                    </a:lnTo>
                    <a:lnTo>
                      <a:pt x="47" y="0"/>
                    </a:lnTo>
                    <a:lnTo>
                      <a:pt x="57" y="0"/>
                    </a:lnTo>
                    <a:lnTo>
                      <a:pt x="63" y="0"/>
                    </a:lnTo>
                    <a:lnTo>
                      <a:pt x="73" y="0"/>
                    </a:lnTo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679" name="Freeform 133"/>
              <p:cNvSpPr/>
              <p:nvPr/>
            </p:nvSpPr>
            <p:spPr>
              <a:xfrm>
                <a:off x="7804558" y="5043035"/>
                <a:ext cx="82550" cy="73025"/>
              </a:xfrm>
              <a:custGeom>
                <a:avLst/>
                <a:gdLst>
                  <a:gd name="txL" fmla="*/ 0 w 52"/>
                  <a:gd name="txT" fmla="*/ 0 h 46"/>
                  <a:gd name="txR" fmla="*/ 52 w 52"/>
                  <a:gd name="txB" fmla="*/ 46 h 46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52" h="46">
                    <a:moveTo>
                      <a:pt x="26" y="21"/>
                    </a:moveTo>
                    <a:lnTo>
                      <a:pt x="32" y="15"/>
                    </a:lnTo>
                    <a:lnTo>
                      <a:pt x="32" y="10"/>
                    </a:lnTo>
                    <a:lnTo>
                      <a:pt x="32" y="5"/>
                    </a:lnTo>
                    <a:lnTo>
                      <a:pt x="37" y="0"/>
                    </a:lnTo>
                    <a:lnTo>
                      <a:pt x="42" y="0"/>
                    </a:lnTo>
                    <a:lnTo>
                      <a:pt x="42" y="5"/>
                    </a:lnTo>
                    <a:lnTo>
                      <a:pt x="47" y="5"/>
                    </a:lnTo>
                    <a:lnTo>
                      <a:pt x="52" y="10"/>
                    </a:lnTo>
                    <a:lnTo>
                      <a:pt x="52" y="15"/>
                    </a:lnTo>
                    <a:lnTo>
                      <a:pt x="52" y="21"/>
                    </a:lnTo>
                    <a:lnTo>
                      <a:pt x="47" y="21"/>
                    </a:lnTo>
                    <a:lnTo>
                      <a:pt x="47" y="26"/>
                    </a:lnTo>
                    <a:lnTo>
                      <a:pt x="42" y="26"/>
                    </a:lnTo>
                    <a:lnTo>
                      <a:pt x="37" y="31"/>
                    </a:lnTo>
                    <a:lnTo>
                      <a:pt x="32" y="36"/>
                    </a:lnTo>
                    <a:lnTo>
                      <a:pt x="21" y="41"/>
                    </a:lnTo>
                    <a:lnTo>
                      <a:pt x="11" y="46"/>
                    </a:lnTo>
                    <a:lnTo>
                      <a:pt x="5" y="46"/>
                    </a:lnTo>
                    <a:lnTo>
                      <a:pt x="0" y="46"/>
                    </a:lnTo>
                    <a:lnTo>
                      <a:pt x="0" y="41"/>
                    </a:lnTo>
                    <a:lnTo>
                      <a:pt x="5" y="41"/>
                    </a:lnTo>
                    <a:lnTo>
                      <a:pt x="11" y="36"/>
                    </a:lnTo>
                    <a:lnTo>
                      <a:pt x="16" y="31"/>
                    </a:lnTo>
                    <a:lnTo>
                      <a:pt x="21" y="26"/>
                    </a:lnTo>
                    <a:lnTo>
                      <a:pt x="26" y="21"/>
                    </a:lnTo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680" name="Freeform 134"/>
              <p:cNvSpPr/>
              <p:nvPr/>
            </p:nvSpPr>
            <p:spPr>
              <a:xfrm>
                <a:off x="7845833" y="5058910"/>
                <a:ext cx="233362" cy="279400"/>
              </a:xfrm>
              <a:custGeom>
                <a:avLst/>
                <a:gdLst>
                  <a:gd name="txL" fmla="*/ 0 w 147"/>
                  <a:gd name="txT" fmla="*/ 0 h 176"/>
                  <a:gd name="txR" fmla="*/ 147 w 147"/>
                  <a:gd name="txB" fmla="*/ 176 h 176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147" h="176">
                    <a:moveTo>
                      <a:pt x="100" y="140"/>
                    </a:moveTo>
                    <a:lnTo>
                      <a:pt x="100" y="140"/>
                    </a:lnTo>
                    <a:lnTo>
                      <a:pt x="105" y="134"/>
                    </a:lnTo>
                    <a:lnTo>
                      <a:pt x="105" y="124"/>
                    </a:lnTo>
                    <a:lnTo>
                      <a:pt x="110" y="114"/>
                    </a:lnTo>
                    <a:lnTo>
                      <a:pt x="115" y="98"/>
                    </a:lnTo>
                    <a:lnTo>
                      <a:pt x="115" y="88"/>
                    </a:lnTo>
                    <a:lnTo>
                      <a:pt x="115" y="78"/>
                    </a:lnTo>
                    <a:lnTo>
                      <a:pt x="115" y="62"/>
                    </a:lnTo>
                    <a:lnTo>
                      <a:pt x="115" y="52"/>
                    </a:lnTo>
                    <a:lnTo>
                      <a:pt x="115" y="36"/>
                    </a:lnTo>
                    <a:lnTo>
                      <a:pt x="115" y="26"/>
                    </a:lnTo>
                    <a:lnTo>
                      <a:pt x="115" y="21"/>
                    </a:lnTo>
                    <a:lnTo>
                      <a:pt x="110" y="21"/>
                    </a:lnTo>
                    <a:lnTo>
                      <a:pt x="105" y="21"/>
                    </a:lnTo>
                    <a:lnTo>
                      <a:pt x="100" y="21"/>
                    </a:lnTo>
                    <a:lnTo>
                      <a:pt x="94" y="21"/>
                    </a:lnTo>
                    <a:lnTo>
                      <a:pt x="79" y="21"/>
                    </a:lnTo>
                    <a:lnTo>
                      <a:pt x="74" y="21"/>
                    </a:lnTo>
                    <a:lnTo>
                      <a:pt x="68" y="21"/>
                    </a:lnTo>
                    <a:lnTo>
                      <a:pt x="63" y="21"/>
                    </a:lnTo>
                    <a:lnTo>
                      <a:pt x="58" y="26"/>
                    </a:lnTo>
                    <a:lnTo>
                      <a:pt x="47" y="26"/>
                    </a:lnTo>
                    <a:lnTo>
                      <a:pt x="37" y="26"/>
                    </a:lnTo>
                    <a:lnTo>
                      <a:pt x="26" y="26"/>
                    </a:lnTo>
                    <a:lnTo>
                      <a:pt x="21" y="31"/>
                    </a:lnTo>
                    <a:lnTo>
                      <a:pt x="11" y="26"/>
                    </a:lnTo>
                    <a:lnTo>
                      <a:pt x="0" y="26"/>
                    </a:lnTo>
                    <a:lnTo>
                      <a:pt x="0" y="21"/>
                    </a:lnTo>
                    <a:lnTo>
                      <a:pt x="11" y="16"/>
                    </a:lnTo>
                    <a:lnTo>
                      <a:pt x="26" y="16"/>
                    </a:lnTo>
                    <a:lnTo>
                      <a:pt x="42" y="16"/>
                    </a:lnTo>
                    <a:lnTo>
                      <a:pt x="63" y="11"/>
                    </a:lnTo>
                    <a:lnTo>
                      <a:pt x="74" y="11"/>
                    </a:lnTo>
                    <a:lnTo>
                      <a:pt x="79" y="11"/>
                    </a:lnTo>
                    <a:lnTo>
                      <a:pt x="89" y="11"/>
                    </a:lnTo>
                    <a:lnTo>
                      <a:pt x="94" y="5"/>
                    </a:lnTo>
                    <a:lnTo>
                      <a:pt x="100" y="5"/>
                    </a:lnTo>
                    <a:lnTo>
                      <a:pt x="105" y="5"/>
                    </a:lnTo>
                    <a:lnTo>
                      <a:pt x="110" y="0"/>
                    </a:lnTo>
                    <a:lnTo>
                      <a:pt x="115" y="0"/>
                    </a:lnTo>
                    <a:lnTo>
                      <a:pt x="121" y="5"/>
                    </a:lnTo>
                    <a:lnTo>
                      <a:pt x="126" y="5"/>
                    </a:lnTo>
                    <a:lnTo>
                      <a:pt x="131" y="11"/>
                    </a:lnTo>
                    <a:lnTo>
                      <a:pt x="136" y="11"/>
                    </a:lnTo>
                    <a:lnTo>
                      <a:pt x="142" y="16"/>
                    </a:lnTo>
                    <a:lnTo>
                      <a:pt x="147" y="21"/>
                    </a:lnTo>
                    <a:lnTo>
                      <a:pt x="142" y="21"/>
                    </a:lnTo>
                    <a:lnTo>
                      <a:pt x="142" y="26"/>
                    </a:lnTo>
                    <a:lnTo>
                      <a:pt x="136" y="26"/>
                    </a:lnTo>
                    <a:lnTo>
                      <a:pt x="136" y="31"/>
                    </a:lnTo>
                    <a:lnTo>
                      <a:pt x="136" y="36"/>
                    </a:lnTo>
                    <a:lnTo>
                      <a:pt x="136" y="42"/>
                    </a:lnTo>
                    <a:lnTo>
                      <a:pt x="136" y="47"/>
                    </a:lnTo>
                    <a:lnTo>
                      <a:pt x="136" y="57"/>
                    </a:lnTo>
                    <a:lnTo>
                      <a:pt x="136" y="62"/>
                    </a:lnTo>
                    <a:lnTo>
                      <a:pt x="136" y="83"/>
                    </a:lnTo>
                    <a:lnTo>
                      <a:pt x="136" y="98"/>
                    </a:lnTo>
                    <a:lnTo>
                      <a:pt x="131" y="109"/>
                    </a:lnTo>
                    <a:lnTo>
                      <a:pt x="131" y="124"/>
                    </a:lnTo>
                    <a:lnTo>
                      <a:pt x="131" y="134"/>
                    </a:lnTo>
                    <a:lnTo>
                      <a:pt x="126" y="145"/>
                    </a:lnTo>
                    <a:lnTo>
                      <a:pt x="121" y="150"/>
                    </a:lnTo>
                    <a:lnTo>
                      <a:pt x="115" y="160"/>
                    </a:lnTo>
                    <a:lnTo>
                      <a:pt x="110" y="165"/>
                    </a:lnTo>
                    <a:lnTo>
                      <a:pt x="105" y="171"/>
                    </a:lnTo>
                    <a:lnTo>
                      <a:pt x="100" y="176"/>
                    </a:lnTo>
                    <a:lnTo>
                      <a:pt x="94" y="176"/>
                    </a:lnTo>
                    <a:lnTo>
                      <a:pt x="94" y="171"/>
                    </a:lnTo>
                    <a:lnTo>
                      <a:pt x="89" y="171"/>
                    </a:lnTo>
                    <a:lnTo>
                      <a:pt x="89" y="165"/>
                    </a:lnTo>
                    <a:lnTo>
                      <a:pt x="89" y="160"/>
                    </a:lnTo>
                    <a:lnTo>
                      <a:pt x="84" y="155"/>
                    </a:lnTo>
                    <a:lnTo>
                      <a:pt x="79" y="155"/>
                    </a:lnTo>
                    <a:lnTo>
                      <a:pt x="74" y="150"/>
                    </a:lnTo>
                    <a:lnTo>
                      <a:pt x="68" y="145"/>
                    </a:lnTo>
                    <a:lnTo>
                      <a:pt x="63" y="145"/>
                    </a:lnTo>
                    <a:lnTo>
                      <a:pt x="63" y="140"/>
                    </a:lnTo>
                    <a:lnTo>
                      <a:pt x="68" y="140"/>
                    </a:lnTo>
                    <a:lnTo>
                      <a:pt x="79" y="140"/>
                    </a:lnTo>
                    <a:lnTo>
                      <a:pt x="84" y="140"/>
                    </a:lnTo>
                    <a:lnTo>
                      <a:pt x="89" y="140"/>
                    </a:lnTo>
                    <a:lnTo>
                      <a:pt x="94" y="140"/>
                    </a:lnTo>
                    <a:lnTo>
                      <a:pt x="100" y="140"/>
                    </a:lnTo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1" name="组合 135"/>
          <p:cNvGrpSpPr>
            <a:grpSpLocks noChangeAspect="1"/>
          </p:cNvGrpSpPr>
          <p:nvPr/>
        </p:nvGrpSpPr>
        <p:grpSpPr>
          <a:xfrm>
            <a:off x="1446930" y="4824379"/>
            <a:ext cx="216000" cy="236682"/>
            <a:chOff x="6408902" y="5886739"/>
            <a:chExt cx="149225" cy="163513"/>
          </a:xfrm>
          <a:solidFill>
            <a:srgbClr val="C00000"/>
          </a:solidFill>
        </p:grpSpPr>
        <p:sp>
          <p:nvSpPr>
            <p:cNvPr id="133" name="Freeform 123"/>
            <p:cNvSpPr/>
            <p:nvPr/>
          </p:nvSpPr>
          <p:spPr bwMode="auto">
            <a:xfrm>
              <a:off x="6408902" y="5904202"/>
              <a:ext cx="50800" cy="146050"/>
            </a:xfrm>
            <a:custGeom>
              <a:avLst/>
              <a:gdLst/>
              <a:ahLst/>
              <a:cxnLst>
                <a:cxn ang="0">
                  <a:pos x="32" y="51"/>
                </a:cxn>
                <a:cxn ang="0">
                  <a:pos x="32" y="61"/>
                </a:cxn>
                <a:cxn ang="0">
                  <a:pos x="32" y="67"/>
                </a:cxn>
                <a:cxn ang="0">
                  <a:pos x="32" y="77"/>
                </a:cxn>
                <a:cxn ang="0">
                  <a:pos x="32" y="82"/>
                </a:cxn>
                <a:cxn ang="0">
                  <a:pos x="32" y="87"/>
                </a:cxn>
                <a:cxn ang="0">
                  <a:pos x="32" y="87"/>
                </a:cxn>
                <a:cxn ang="0">
                  <a:pos x="32" y="92"/>
                </a:cxn>
                <a:cxn ang="0">
                  <a:pos x="32" y="92"/>
                </a:cxn>
                <a:cxn ang="0">
                  <a:pos x="26" y="92"/>
                </a:cxn>
                <a:cxn ang="0">
                  <a:pos x="26" y="92"/>
                </a:cxn>
                <a:cxn ang="0">
                  <a:pos x="26" y="87"/>
                </a:cxn>
                <a:cxn ang="0">
                  <a:pos x="21" y="82"/>
                </a:cxn>
                <a:cxn ang="0">
                  <a:pos x="21" y="77"/>
                </a:cxn>
                <a:cxn ang="0">
                  <a:pos x="16" y="77"/>
                </a:cxn>
                <a:cxn ang="0">
                  <a:pos x="16" y="67"/>
                </a:cxn>
                <a:cxn ang="0">
                  <a:pos x="16" y="67"/>
                </a:cxn>
                <a:cxn ang="0">
                  <a:pos x="16" y="56"/>
                </a:cxn>
                <a:cxn ang="0">
                  <a:pos x="16" y="51"/>
                </a:cxn>
                <a:cxn ang="0">
                  <a:pos x="11" y="41"/>
                </a:cxn>
                <a:cxn ang="0">
                  <a:pos x="11" y="30"/>
                </a:cxn>
                <a:cxn ang="0">
                  <a:pos x="11" y="25"/>
                </a:cxn>
                <a:cxn ang="0">
                  <a:pos x="5" y="20"/>
                </a:cxn>
                <a:cxn ang="0">
                  <a:pos x="5" y="15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11" y="0"/>
                </a:cxn>
                <a:cxn ang="0">
                  <a:pos x="21" y="5"/>
                </a:cxn>
                <a:cxn ang="0">
                  <a:pos x="26" y="5"/>
                </a:cxn>
                <a:cxn ang="0">
                  <a:pos x="26" y="10"/>
                </a:cxn>
                <a:cxn ang="0">
                  <a:pos x="26" y="20"/>
                </a:cxn>
                <a:cxn ang="0">
                  <a:pos x="26" y="36"/>
                </a:cxn>
                <a:cxn ang="0">
                  <a:pos x="32" y="51"/>
                </a:cxn>
                <a:cxn ang="0">
                  <a:pos x="32" y="51"/>
                </a:cxn>
              </a:cxnLst>
              <a:rect l="0" t="0" r="r" b="b"/>
              <a:pathLst>
                <a:path w="32" h="92">
                  <a:moveTo>
                    <a:pt x="32" y="51"/>
                  </a:moveTo>
                  <a:lnTo>
                    <a:pt x="32" y="61"/>
                  </a:lnTo>
                  <a:lnTo>
                    <a:pt x="32" y="67"/>
                  </a:lnTo>
                  <a:lnTo>
                    <a:pt x="32" y="77"/>
                  </a:lnTo>
                  <a:lnTo>
                    <a:pt x="32" y="82"/>
                  </a:lnTo>
                  <a:lnTo>
                    <a:pt x="32" y="87"/>
                  </a:lnTo>
                  <a:lnTo>
                    <a:pt x="32" y="87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26" y="92"/>
                  </a:lnTo>
                  <a:lnTo>
                    <a:pt x="26" y="92"/>
                  </a:lnTo>
                  <a:lnTo>
                    <a:pt x="26" y="87"/>
                  </a:lnTo>
                  <a:lnTo>
                    <a:pt x="21" y="82"/>
                  </a:lnTo>
                  <a:lnTo>
                    <a:pt x="21" y="77"/>
                  </a:lnTo>
                  <a:lnTo>
                    <a:pt x="16" y="77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16" y="56"/>
                  </a:lnTo>
                  <a:lnTo>
                    <a:pt x="16" y="51"/>
                  </a:lnTo>
                  <a:lnTo>
                    <a:pt x="11" y="41"/>
                  </a:lnTo>
                  <a:lnTo>
                    <a:pt x="11" y="30"/>
                  </a:lnTo>
                  <a:lnTo>
                    <a:pt x="11" y="25"/>
                  </a:lnTo>
                  <a:lnTo>
                    <a:pt x="5" y="20"/>
                  </a:lnTo>
                  <a:lnTo>
                    <a:pt x="5" y="15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11" y="0"/>
                  </a:lnTo>
                  <a:lnTo>
                    <a:pt x="21" y="5"/>
                  </a:lnTo>
                  <a:lnTo>
                    <a:pt x="26" y="5"/>
                  </a:lnTo>
                  <a:lnTo>
                    <a:pt x="26" y="10"/>
                  </a:lnTo>
                  <a:lnTo>
                    <a:pt x="26" y="20"/>
                  </a:lnTo>
                  <a:lnTo>
                    <a:pt x="26" y="36"/>
                  </a:lnTo>
                  <a:lnTo>
                    <a:pt x="32" y="51"/>
                  </a:lnTo>
                  <a:lnTo>
                    <a:pt x="32" y="51"/>
                  </a:lnTo>
                </a:path>
              </a:pathLst>
            </a:custGeom>
            <a:grpFill/>
            <a:ln w="5">
              <a:solidFill>
                <a:srgbClr val="C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" name="Freeform 124"/>
            <p:cNvSpPr/>
            <p:nvPr/>
          </p:nvSpPr>
          <p:spPr bwMode="auto">
            <a:xfrm>
              <a:off x="6426365" y="5886739"/>
              <a:ext cx="131762" cy="106363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62" y="0"/>
                </a:cxn>
                <a:cxn ang="0">
                  <a:pos x="62" y="0"/>
                </a:cxn>
                <a:cxn ang="0">
                  <a:pos x="73" y="5"/>
                </a:cxn>
                <a:cxn ang="0">
                  <a:pos x="78" y="11"/>
                </a:cxn>
                <a:cxn ang="0">
                  <a:pos x="83" y="11"/>
                </a:cxn>
                <a:cxn ang="0">
                  <a:pos x="83" y="16"/>
                </a:cxn>
                <a:cxn ang="0">
                  <a:pos x="83" y="16"/>
                </a:cxn>
                <a:cxn ang="0">
                  <a:pos x="83" y="21"/>
                </a:cxn>
                <a:cxn ang="0">
                  <a:pos x="78" y="21"/>
                </a:cxn>
                <a:cxn ang="0">
                  <a:pos x="78" y="21"/>
                </a:cxn>
                <a:cxn ang="0">
                  <a:pos x="78" y="26"/>
                </a:cxn>
                <a:cxn ang="0">
                  <a:pos x="73" y="31"/>
                </a:cxn>
                <a:cxn ang="0">
                  <a:pos x="73" y="36"/>
                </a:cxn>
                <a:cxn ang="0">
                  <a:pos x="73" y="41"/>
                </a:cxn>
                <a:cxn ang="0">
                  <a:pos x="68" y="47"/>
                </a:cxn>
                <a:cxn ang="0">
                  <a:pos x="68" y="57"/>
                </a:cxn>
                <a:cxn ang="0">
                  <a:pos x="62" y="67"/>
                </a:cxn>
                <a:cxn ang="0">
                  <a:pos x="47" y="67"/>
                </a:cxn>
                <a:cxn ang="0">
                  <a:pos x="52" y="52"/>
                </a:cxn>
                <a:cxn ang="0">
                  <a:pos x="52" y="41"/>
                </a:cxn>
                <a:cxn ang="0">
                  <a:pos x="57" y="31"/>
                </a:cxn>
                <a:cxn ang="0">
                  <a:pos x="57" y="26"/>
                </a:cxn>
                <a:cxn ang="0">
                  <a:pos x="57" y="21"/>
                </a:cxn>
                <a:cxn ang="0">
                  <a:pos x="52" y="16"/>
                </a:cxn>
                <a:cxn ang="0">
                  <a:pos x="52" y="16"/>
                </a:cxn>
                <a:cxn ang="0">
                  <a:pos x="47" y="16"/>
                </a:cxn>
                <a:cxn ang="0">
                  <a:pos x="42" y="16"/>
                </a:cxn>
                <a:cxn ang="0">
                  <a:pos x="36" y="21"/>
                </a:cxn>
                <a:cxn ang="0">
                  <a:pos x="26" y="21"/>
                </a:cxn>
                <a:cxn ang="0">
                  <a:pos x="15" y="26"/>
                </a:cxn>
                <a:cxn ang="0">
                  <a:pos x="0" y="26"/>
                </a:cxn>
                <a:cxn ang="0">
                  <a:pos x="0" y="11"/>
                </a:cxn>
                <a:cxn ang="0">
                  <a:pos x="5" y="11"/>
                </a:cxn>
                <a:cxn ang="0">
                  <a:pos x="10" y="16"/>
                </a:cxn>
                <a:cxn ang="0">
                  <a:pos x="15" y="16"/>
                </a:cxn>
                <a:cxn ang="0">
                  <a:pos x="15" y="16"/>
                </a:cxn>
                <a:cxn ang="0">
                  <a:pos x="26" y="11"/>
                </a:cxn>
                <a:cxn ang="0">
                  <a:pos x="31" y="11"/>
                </a:cxn>
                <a:cxn ang="0">
                  <a:pos x="36" y="5"/>
                </a:cxn>
                <a:cxn ang="0">
                  <a:pos x="42" y="5"/>
                </a:cxn>
                <a:cxn ang="0">
                  <a:pos x="47" y="5"/>
                </a:cxn>
                <a:cxn ang="0">
                  <a:pos x="52" y="0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57" y="0"/>
                </a:cxn>
              </a:cxnLst>
              <a:rect l="0" t="0" r="r" b="b"/>
              <a:pathLst>
                <a:path w="83" h="67">
                  <a:moveTo>
                    <a:pt x="57" y="0"/>
                  </a:moveTo>
                  <a:lnTo>
                    <a:pt x="62" y="0"/>
                  </a:lnTo>
                  <a:lnTo>
                    <a:pt x="62" y="0"/>
                  </a:lnTo>
                  <a:lnTo>
                    <a:pt x="73" y="5"/>
                  </a:lnTo>
                  <a:lnTo>
                    <a:pt x="78" y="11"/>
                  </a:lnTo>
                  <a:lnTo>
                    <a:pt x="83" y="11"/>
                  </a:lnTo>
                  <a:lnTo>
                    <a:pt x="83" y="16"/>
                  </a:lnTo>
                  <a:lnTo>
                    <a:pt x="83" y="16"/>
                  </a:lnTo>
                  <a:lnTo>
                    <a:pt x="83" y="21"/>
                  </a:lnTo>
                  <a:lnTo>
                    <a:pt x="78" y="21"/>
                  </a:lnTo>
                  <a:lnTo>
                    <a:pt x="78" y="21"/>
                  </a:lnTo>
                  <a:lnTo>
                    <a:pt x="78" y="26"/>
                  </a:lnTo>
                  <a:lnTo>
                    <a:pt x="73" y="31"/>
                  </a:lnTo>
                  <a:lnTo>
                    <a:pt x="73" y="36"/>
                  </a:lnTo>
                  <a:lnTo>
                    <a:pt x="73" y="41"/>
                  </a:lnTo>
                  <a:lnTo>
                    <a:pt x="68" y="47"/>
                  </a:lnTo>
                  <a:lnTo>
                    <a:pt x="68" y="57"/>
                  </a:lnTo>
                  <a:lnTo>
                    <a:pt x="62" y="67"/>
                  </a:lnTo>
                  <a:lnTo>
                    <a:pt x="47" y="67"/>
                  </a:lnTo>
                  <a:lnTo>
                    <a:pt x="52" y="52"/>
                  </a:lnTo>
                  <a:lnTo>
                    <a:pt x="52" y="41"/>
                  </a:lnTo>
                  <a:lnTo>
                    <a:pt x="57" y="31"/>
                  </a:lnTo>
                  <a:lnTo>
                    <a:pt x="57" y="26"/>
                  </a:lnTo>
                  <a:lnTo>
                    <a:pt x="57" y="21"/>
                  </a:lnTo>
                  <a:lnTo>
                    <a:pt x="52" y="16"/>
                  </a:lnTo>
                  <a:lnTo>
                    <a:pt x="52" y="16"/>
                  </a:lnTo>
                  <a:lnTo>
                    <a:pt x="47" y="16"/>
                  </a:lnTo>
                  <a:lnTo>
                    <a:pt x="42" y="16"/>
                  </a:lnTo>
                  <a:lnTo>
                    <a:pt x="36" y="21"/>
                  </a:lnTo>
                  <a:lnTo>
                    <a:pt x="26" y="21"/>
                  </a:lnTo>
                  <a:lnTo>
                    <a:pt x="15" y="26"/>
                  </a:lnTo>
                  <a:lnTo>
                    <a:pt x="0" y="26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10" y="16"/>
                  </a:lnTo>
                  <a:lnTo>
                    <a:pt x="15" y="16"/>
                  </a:lnTo>
                  <a:lnTo>
                    <a:pt x="15" y="16"/>
                  </a:lnTo>
                  <a:lnTo>
                    <a:pt x="26" y="11"/>
                  </a:lnTo>
                  <a:lnTo>
                    <a:pt x="31" y="11"/>
                  </a:lnTo>
                  <a:lnTo>
                    <a:pt x="36" y="5"/>
                  </a:lnTo>
                  <a:lnTo>
                    <a:pt x="42" y="5"/>
                  </a:lnTo>
                  <a:lnTo>
                    <a:pt x="47" y="5"/>
                  </a:lnTo>
                  <a:lnTo>
                    <a:pt x="52" y="0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57" y="0"/>
                  </a:lnTo>
                </a:path>
              </a:pathLst>
            </a:custGeom>
            <a:grpFill/>
            <a:ln w="5">
              <a:solidFill>
                <a:srgbClr val="C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5" name="Freeform 125"/>
            <p:cNvSpPr/>
            <p:nvPr/>
          </p:nvSpPr>
          <p:spPr bwMode="auto">
            <a:xfrm>
              <a:off x="6450177" y="5985164"/>
              <a:ext cx="92075" cy="33338"/>
            </a:xfrm>
            <a:custGeom>
              <a:avLst/>
              <a:gdLst/>
              <a:ahLst/>
              <a:cxnLst>
                <a:cxn ang="0">
                  <a:pos x="58" y="5"/>
                </a:cxn>
                <a:cxn ang="0">
                  <a:pos x="53" y="10"/>
                </a:cxn>
                <a:cxn ang="0">
                  <a:pos x="53" y="10"/>
                </a:cxn>
                <a:cxn ang="0">
                  <a:pos x="53" y="10"/>
                </a:cxn>
                <a:cxn ang="0">
                  <a:pos x="47" y="16"/>
                </a:cxn>
                <a:cxn ang="0">
                  <a:pos x="42" y="16"/>
                </a:cxn>
                <a:cxn ang="0">
                  <a:pos x="32" y="16"/>
                </a:cxn>
                <a:cxn ang="0">
                  <a:pos x="16" y="16"/>
                </a:cxn>
                <a:cxn ang="0">
                  <a:pos x="0" y="21"/>
                </a:cxn>
                <a:cxn ang="0">
                  <a:pos x="0" y="10"/>
                </a:cxn>
                <a:cxn ang="0">
                  <a:pos x="11" y="5"/>
                </a:cxn>
                <a:cxn ang="0">
                  <a:pos x="21" y="5"/>
                </a:cxn>
                <a:cxn ang="0">
                  <a:pos x="32" y="5"/>
                </a:cxn>
                <a:cxn ang="0">
                  <a:pos x="37" y="5"/>
                </a:cxn>
                <a:cxn ang="0">
                  <a:pos x="47" y="5"/>
                </a:cxn>
                <a:cxn ang="0">
                  <a:pos x="47" y="0"/>
                </a:cxn>
                <a:cxn ang="0">
                  <a:pos x="53" y="0"/>
                </a:cxn>
                <a:cxn ang="0">
                  <a:pos x="53" y="0"/>
                </a:cxn>
                <a:cxn ang="0">
                  <a:pos x="53" y="5"/>
                </a:cxn>
                <a:cxn ang="0">
                  <a:pos x="58" y="5"/>
                </a:cxn>
                <a:cxn ang="0">
                  <a:pos x="58" y="5"/>
                </a:cxn>
              </a:cxnLst>
              <a:rect l="0" t="0" r="r" b="b"/>
              <a:pathLst>
                <a:path w="58" h="21">
                  <a:moveTo>
                    <a:pt x="58" y="5"/>
                  </a:moveTo>
                  <a:lnTo>
                    <a:pt x="53" y="10"/>
                  </a:lnTo>
                  <a:lnTo>
                    <a:pt x="53" y="10"/>
                  </a:lnTo>
                  <a:lnTo>
                    <a:pt x="53" y="10"/>
                  </a:lnTo>
                  <a:lnTo>
                    <a:pt x="47" y="16"/>
                  </a:lnTo>
                  <a:lnTo>
                    <a:pt x="42" y="16"/>
                  </a:lnTo>
                  <a:lnTo>
                    <a:pt x="32" y="16"/>
                  </a:lnTo>
                  <a:lnTo>
                    <a:pt x="16" y="16"/>
                  </a:lnTo>
                  <a:lnTo>
                    <a:pt x="0" y="21"/>
                  </a:lnTo>
                  <a:lnTo>
                    <a:pt x="0" y="10"/>
                  </a:lnTo>
                  <a:lnTo>
                    <a:pt x="11" y="5"/>
                  </a:lnTo>
                  <a:lnTo>
                    <a:pt x="21" y="5"/>
                  </a:lnTo>
                  <a:lnTo>
                    <a:pt x="32" y="5"/>
                  </a:lnTo>
                  <a:lnTo>
                    <a:pt x="37" y="5"/>
                  </a:lnTo>
                  <a:lnTo>
                    <a:pt x="47" y="5"/>
                  </a:lnTo>
                  <a:lnTo>
                    <a:pt x="47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5"/>
                  </a:lnTo>
                  <a:lnTo>
                    <a:pt x="58" y="5"/>
                  </a:lnTo>
                  <a:lnTo>
                    <a:pt x="58" y="5"/>
                  </a:lnTo>
                </a:path>
              </a:pathLst>
            </a:custGeom>
            <a:grpFill/>
            <a:ln w="5">
              <a:solidFill>
                <a:srgbClr val="C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2" name="组合 143"/>
          <p:cNvGrpSpPr>
            <a:grpSpLocks noChangeAspect="1"/>
          </p:cNvGrpSpPr>
          <p:nvPr/>
        </p:nvGrpSpPr>
        <p:grpSpPr>
          <a:xfrm>
            <a:off x="1377918" y="3609119"/>
            <a:ext cx="252000" cy="426746"/>
            <a:chOff x="8976378" y="3038019"/>
            <a:chExt cx="217487" cy="368300"/>
          </a:xfrm>
          <a:solidFill>
            <a:srgbClr val="C00000"/>
          </a:solidFill>
        </p:grpSpPr>
        <p:sp>
          <p:nvSpPr>
            <p:cNvPr id="139" name="Freeform 80"/>
            <p:cNvSpPr/>
            <p:nvPr/>
          </p:nvSpPr>
          <p:spPr bwMode="auto">
            <a:xfrm>
              <a:off x="8976378" y="3038019"/>
              <a:ext cx="158750" cy="238125"/>
            </a:xfrm>
            <a:custGeom>
              <a:avLst/>
              <a:gdLst/>
              <a:ahLst/>
              <a:cxnLst>
                <a:cxn ang="0">
                  <a:pos x="42" y="114"/>
                </a:cxn>
                <a:cxn ang="0">
                  <a:pos x="32" y="124"/>
                </a:cxn>
                <a:cxn ang="0">
                  <a:pos x="27" y="129"/>
                </a:cxn>
                <a:cxn ang="0">
                  <a:pos x="16" y="139"/>
                </a:cxn>
                <a:cxn ang="0">
                  <a:pos x="11" y="145"/>
                </a:cxn>
                <a:cxn ang="0">
                  <a:pos x="6" y="145"/>
                </a:cxn>
                <a:cxn ang="0">
                  <a:pos x="6" y="150"/>
                </a:cxn>
                <a:cxn ang="0">
                  <a:pos x="0" y="150"/>
                </a:cxn>
                <a:cxn ang="0">
                  <a:pos x="0" y="150"/>
                </a:cxn>
                <a:cxn ang="0">
                  <a:pos x="0" y="150"/>
                </a:cxn>
                <a:cxn ang="0">
                  <a:pos x="0" y="145"/>
                </a:cxn>
                <a:cxn ang="0">
                  <a:pos x="6" y="134"/>
                </a:cxn>
                <a:cxn ang="0">
                  <a:pos x="16" y="129"/>
                </a:cxn>
                <a:cxn ang="0">
                  <a:pos x="32" y="103"/>
                </a:cxn>
                <a:cxn ang="0">
                  <a:pos x="48" y="83"/>
                </a:cxn>
                <a:cxn ang="0">
                  <a:pos x="58" y="57"/>
                </a:cxn>
                <a:cxn ang="0">
                  <a:pos x="69" y="47"/>
                </a:cxn>
                <a:cxn ang="0">
                  <a:pos x="69" y="31"/>
                </a:cxn>
                <a:cxn ang="0">
                  <a:pos x="74" y="21"/>
                </a:cxn>
                <a:cxn ang="0">
                  <a:pos x="74" y="10"/>
                </a:cxn>
                <a:cxn ang="0">
                  <a:pos x="74" y="5"/>
                </a:cxn>
                <a:cxn ang="0">
                  <a:pos x="74" y="5"/>
                </a:cxn>
                <a:cxn ang="0">
                  <a:pos x="74" y="5"/>
                </a:cxn>
                <a:cxn ang="0">
                  <a:pos x="74" y="0"/>
                </a:cxn>
                <a:cxn ang="0">
                  <a:pos x="74" y="0"/>
                </a:cxn>
                <a:cxn ang="0">
                  <a:pos x="74" y="0"/>
                </a:cxn>
                <a:cxn ang="0">
                  <a:pos x="79" y="0"/>
                </a:cxn>
                <a:cxn ang="0">
                  <a:pos x="84" y="0"/>
                </a:cxn>
                <a:cxn ang="0">
                  <a:pos x="90" y="0"/>
                </a:cxn>
                <a:cxn ang="0">
                  <a:pos x="95" y="5"/>
                </a:cxn>
                <a:cxn ang="0">
                  <a:pos x="100" y="10"/>
                </a:cxn>
                <a:cxn ang="0">
                  <a:pos x="100" y="10"/>
                </a:cxn>
                <a:cxn ang="0">
                  <a:pos x="95" y="16"/>
                </a:cxn>
                <a:cxn ang="0">
                  <a:pos x="95" y="21"/>
                </a:cxn>
                <a:cxn ang="0">
                  <a:pos x="95" y="26"/>
                </a:cxn>
                <a:cxn ang="0">
                  <a:pos x="90" y="31"/>
                </a:cxn>
                <a:cxn ang="0">
                  <a:pos x="90" y="36"/>
                </a:cxn>
                <a:cxn ang="0">
                  <a:pos x="84" y="41"/>
                </a:cxn>
                <a:cxn ang="0">
                  <a:pos x="79" y="52"/>
                </a:cxn>
                <a:cxn ang="0">
                  <a:pos x="74" y="72"/>
                </a:cxn>
                <a:cxn ang="0">
                  <a:pos x="63" y="88"/>
                </a:cxn>
                <a:cxn ang="0">
                  <a:pos x="53" y="103"/>
                </a:cxn>
                <a:cxn ang="0">
                  <a:pos x="42" y="114"/>
                </a:cxn>
                <a:cxn ang="0">
                  <a:pos x="42" y="114"/>
                </a:cxn>
              </a:cxnLst>
              <a:rect l="0" t="0" r="r" b="b"/>
              <a:pathLst>
                <a:path w="100" h="150">
                  <a:moveTo>
                    <a:pt x="42" y="114"/>
                  </a:moveTo>
                  <a:lnTo>
                    <a:pt x="32" y="124"/>
                  </a:lnTo>
                  <a:lnTo>
                    <a:pt x="27" y="129"/>
                  </a:lnTo>
                  <a:lnTo>
                    <a:pt x="16" y="139"/>
                  </a:lnTo>
                  <a:lnTo>
                    <a:pt x="11" y="145"/>
                  </a:lnTo>
                  <a:lnTo>
                    <a:pt x="6" y="145"/>
                  </a:lnTo>
                  <a:lnTo>
                    <a:pt x="6" y="150"/>
                  </a:lnTo>
                  <a:lnTo>
                    <a:pt x="0" y="150"/>
                  </a:lnTo>
                  <a:lnTo>
                    <a:pt x="0" y="150"/>
                  </a:lnTo>
                  <a:lnTo>
                    <a:pt x="0" y="150"/>
                  </a:lnTo>
                  <a:lnTo>
                    <a:pt x="0" y="145"/>
                  </a:lnTo>
                  <a:lnTo>
                    <a:pt x="6" y="134"/>
                  </a:lnTo>
                  <a:lnTo>
                    <a:pt x="16" y="129"/>
                  </a:lnTo>
                  <a:lnTo>
                    <a:pt x="32" y="103"/>
                  </a:lnTo>
                  <a:lnTo>
                    <a:pt x="48" y="83"/>
                  </a:lnTo>
                  <a:lnTo>
                    <a:pt x="58" y="57"/>
                  </a:lnTo>
                  <a:lnTo>
                    <a:pt x="69" y="47"/>
                  </a:lnTo>
                  <a:lnTo>
                    <a:pt x="69" y="31"/>
                  </a:lnTo>
                  <a:lnTo>
                    <a:pt x="74" y="21"/>
                  </a:lnTo>
                  <a:lnTo>
                    <a:pt x="74" y="10"/>
                  </a:lnTo>
                  <a:lnTo>
                    <a:pt x="74" y="5"/>
                  </a:lnTo>
                  <a:lnTo>
                    <a:pt x="74" y="5"/>
                  </a:lnTo>
                  <a:lnTo>
                    <a:pt x="74" y="5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84" y="0"/>
                  </a:lnTo>
                  <a:lnTo>
                    <a:pt x="90" y="0"/>
                  </a:lnTo>
                  <a:lnTo>
                    <a:pt x="95" y="5"/>
                  </a:lnTo>
                  <a:lnTo>
                    <a:pt x="100" y="10"/>
                  </a:lnTo>
                  <a:lnTo>
                    <a:pt x="100" y="10"/>
                  </a:lnTo>
                  <a:lnTo>
                    <a:pt x="95" y="16"/>
                  </a:lnTo>
                  <a:lnTo>
                    <a:pt x="95" y="21"/>
                  </a:lnTo>
                  <a:lnTo>
                    <a:pt x="95" y="26"/>
                  </a:lnTo>
                  <a:lnTo>
                    <a:pt x="90" y="31"/>
                  </a:lnTo>
                  <a:lnTo>
                    <a:pt x="90" y="36"/>
                  </a:lnTo>
                  <a:lnTo>
                    <a:pt x="84" y="41"/>
                  </a:lnTo>
                  <a:lnTo>
                    <a:pt x="79" y="52"/>
                  </a:lnTo>
                  <a:lnTo>
                    <a:pt x="74" y="72"/>
                  </a:lnTo>
                  <a:lnTo>
                    <a:pt x="63" y="88"/>
                  </a:lnTo>
                  <a:lnTo>
                    <a:pt x="53" y="103"/>
                  </a:lnTo>
                  <a:lnTo>
                    <a:pt x="42" y="114"/>
                  </a:lnTo>
                  <a:lnTo>
                    <a:pt x="42" y="114"/>
                  </a:lnTo>
                </a:path>
              </a:pathLst>
            </a:custGeom>
            <a:grpFill/>
            <a:ln w="5">
              <a:solidFill>
                <a:srgbClr val="C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Freeform 81"/>
            <p:cNvSpPr/>
            <p:nvPr/>
          </p:nvSpPr>
          <p:spPr bwMode="auto">
            <a:xfrm>
              <a:off x="9085915" y="3112631"/>
              <a:ext cx="107950" cy="31750"/>
            </a:xfrm>
            <a:custGeom>
              <a:avLst/>
              <a:gdLst/>
              <a:ahLst/>
              <a:cxnLst>
                <a:cxn ang="0">
                  <a:pos x="31" y="5"/>
                </a:cxn>
                <a:cxn ang="0">
                  <a:pos x="36" y="5"/>
                </a:cxn>
                <a:cxn ang="0">
                  <a:pos x="42" y="0"/>
                </a:cxn>
                <a:cxn ang="0">
                  <a:pos x="52" y="0"/>
                </a:cxn>
                <a:cxn ang="0">
                  <a:pos x="57" y="0"/>
                </a:cxn>
                <a:cxn ang="0">
                  <a:pos x="63" y="0"/>
                </a:cxn>
                <a:cxn ang="0">
                  <a:pos x="63" y="0"/>
                </a:cxn>
                <a:cxn ang="0">
                  <a:pos x="68" y="5"/>
                </a:cxn>
                <a:cxn ang="0">
                  <a:pos x="68" y="5"/>
                </a:cxn>
                <a:cxn ang="0">
                  <a:pos x="63" y="5"/>
                </a:cxn>
                <a:cxn ang="0">
                  <a:pos x="63" y="10"/>
                </a:cxn>
                <a:cxn ang="0">
                  <a:pos x="63" y="10"/>
                </a:cxn>
                <a:cxn ang="0">
                  <a:pos x="57" y="15"/>
                </a:cxn>
                <a:cxn ang="0">
                  <a:pos x="47" y="15"/>
                </a:cxn>
                <a:cxn ang="0">
                  <a:pos x="36" y="15"/>
                </a:cxn>
                <a:cxn ang="0">
                  <a:pos x="26" y="20"/>
                </a:cxn>
                <a:cxn ang="0">
                  <a:pos x="15" y="20"/>
                </a:cxn>
                <a:cxn ang="0">
                  <a:pos x="0" y="20"/>
                </a:cxn>
                <a:cxn ang="0">
                  <a:pos x="0" y="15"/>
                </a:cxn>
                <a:cxn ang="0">
                  <a:pos x="15" y="10"/>
                </a:cxn>
                <a:cxn ang="0">
                  <a:pos x="31" y="5"/>
                </a:cxn>
                <a:cxn ang="0">
                  <a:pos x="31" y="5"/>
                </a:cxn>
              </a:cxnLst>
              <a:rect l="0" t="0" r="r" b="b"/>
              <a:pathLst>
                <a:path w="68" h="20">
                  <a:moveTo>
                    <a:pt x="31" y="5"/>
                  </a:moveTo>
                  <a:lnTo>
                    <a:pt x="36" y="5"/>
                  </a:lnTo>
                  <a:lnTo>
                    <a:pt x="42" y="0"/>
                  </a:lnTo>
                  <a:lnTo>
                    <a:pt x="52" y="0"/>
                  </a:lnTo>
                  <a:lnTo>
                    <a:pt x="57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8" y="5"/>
                  </a:lnTo>
                  <a:lnTo>
                    <a:pt x="68" y="5"/>
                  </a:lnTo>
                  <a:lnTo>
                    <a:pt x="63" y="5"/>
                  </a:lnTo>
                  <a:lnTo>
                    <a:pt x="63" y="10"/>
                  </a:lnTo>
                  <a:lnTo>
                    <a:pt x="63" y="10"/>
                  </a:lnTo>
                  <a:lnTo>
                    <a:pt x="57" y="15"/>
                  </a:lnTo>
                  <a:lnTo>
                    <a:pt x="47" y="15"/>
                  </a:lnTo>
                  <a:lnTo>
                    <a:pt x="36" y="15"/>
                  </a:lnTo>
                  <a:lnTo>
                    <a:pt x="26" y="20"/>
                  </a:lnTo>
                  <a:lnTo>
                    <a:pt x="15" y="20"/>
                  </a:lnTo>
                  <a:lnTo>
                    <a:pt x="0" y="20"/>
                  </a:lnTo>
                  <a:lnTo>
                    <a:pt x="0" y="15"/>
                  </a:lnTo>
                  <a:lnTo>
                    <a:pt x="15" y="10"/>
                  </a:lnTo>
                  <a:lnTo>
                    <a:pt x="31" y="5"/>
                  </a:lnTo>
                  <a:lnTo>
                    <a:pt x="31" y="5"/>
                  </a:lnTo>
                </a:path>
              </a:pathLst>
            </a:custGeom>
            <a:grpFill/>
            <a:ln w="5">
              <a:solidFill>
                <a:srgbClr val="C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1" name="Freeform 86"/>
            <p:cNvSpPr/>
            <p:nvPr/>
          </p:nvSpPr>
          <p:spPr bwMode="auto">
            <a:xfrm>
              <a:off x="9076390" y="3201531"/>
              <a:ext cx="117475" cy="204788"/>
            </a:xfrm>
            <a:custGeom>
              <a:avLst/>
              <a:gdLst/>
              <a:ahLst/>
              <a:cxnLst>
                <a:cxn ang="0">
                  <a:pos x="27" y="36"/>
                </a:cxn>
                <a:cxn ang="0">
                  <a:pos x="27" y="47"/>
                </a:cxn>
                <a:cxn ang="0">
                  <a:pos x="27" y="57"/>
                </a:cxn>
                <a:cxn ang="0">
                  <a:pos x="27" y="67"/>
                </a:cxn>
                <a:cxn ang="0">
                  <a:pos x="27" y="78"/>
                </a:cxn>
                <a:cxn ang="0">
                  <a:pos x="27" y="88"/>
                </a:cxn>
                <a:cxn ang="0">
                  <a:pos x="27" y="88"/>
                </a:cxn>
                <a:cxn ang="0">
                  <a:pos x="27" y="88"/>
                </a:cxn>
                <a:cxn ang="0">
                  <a:pos x="32" y="88"/>
                </a:cxn>
                <a:cxn ang="0">
                  <a:pos x="42" y="83"/>
                </a:cxn>
                <a:cxn ang="0">
                  <a:pos x="53" y="78"/>
                </a:cxn>
                <a:cxn ang="0">
                  <a:pos x="63" y="73"/>
                </a:cxn>
                <a:cxn ang="0">
                  <a:pos x="69" y="73"/>
                </a:cxn>
                <a:cxn ang="0">
                  <a:pos x="74" y="67"/>
                </a:cxn>
                <a:cxn ang="0">
                  <a:pos x="74" y="67"/>
                </a:cxn>
                <a:cxn ang="0">
                  <a:pos x="74" y="73"/>
                </a:cxn>
                <a:cxn ang="0">
                  <a:pos x="74" y="73"/>
                </a:cxn>
                <a:cxn ang="0">
                  <a:pos x="69" y="78"/>
                </a:cxn>
                <a:cxn ang="0">
                  <a:pos x="69" y="78"/>
                </a:cxn>
                <a:cxn ang="0">
                  <a:pos x="63" y="83"/>
                </a:cxn>
                <a:cxn ang="0">
                  <a:pos x="53" y="88"/>
                </a:cxn>
                <a:cxn ang="0">
                  <a:pos x="48" y="93"/>
                </a:cxn>
                <a:cxn ang="0">
                  <a:pos x="37" y="103"/>
                </a:cxn>
                <a:cxn ang="0">
                  <a:pos x="32" y="109"/>
                </a:cxn>
                <a:cxn ang="0">
                  <a:pos x="27" y="114"/>
                </a:cxn>
                <a:cxn ang="0">
                  <a:pos x="21" y="119"/>
                </a:cxn>
                <a:cxn ang="0">
                  <a:pos x="16" y="124"/>
                </a:cxn>
                <a:cxn ang="0">
                  <a:pos x="16" y="129"/>
                </a:cxn>
                <a:cxn ang="0">
                  <a:pos x="11" y="129"/>
                </a:cxn>
                <a:cxn ang="0">
                  <a:pos x="11" y="129"/>
                </a:cxn>
                <a:cxn ang="0">
                  <a:pos x="6" y="129"/>
                </a:cxn>
                <a:cxn ang="0">
                  <a:pos x="6" y="129"/>
                </a:cxn>
                <a:cxn ang="0">
                  <a:pos x="6" y="124"/>
                </a:cxn>
                <a:cxn ang="0">
                  <a:pos x="0" y="119"/>
                </a:cxn>
                <a:cxn ang="0">
                  <a:pos x="0" y="114"/>
                </a:cxn>
                <a:cxn ang="0">
                  <a:pos x="0" y="109"/>
                </a:cxn>
                <a:cxn ang="0">
                  <a:pos x="6" y="98"/>
                </a:cxn>
                <a:cxn ang="0">
                  <a:pos x="11" y="98"/>
                </a:cxn>
                <a:cxn ang="0">
                  <a:pos x="11" y="88"/>
                </a:cxn>
                <a:cxn ang="0">
                  <a:pos x="11" y="78"/>
                </a:cxn>
                <a:cxn ang="0">
                  <a:pos x="16" y="62"/>
                </a:cxn>
                <a:cxn ang="0">
                  <a:pos x="11" y="31"/>
                </a:cxn>
                <a:cxn ang="0">
                  <a:pos x="11" y="0"/>
                </a:cxn>
                <a:cxn ang="0">
                  <a:pos x="21" y="5"/>
                </a:cxn>
                <a:cxn ang="0">
                  <a:pos x="27" y="11"/>
                </a:cxn>
                <a:cxn ang="0">
                  <a:pos x="32" y="11"/>
                </a:cxn>
                <a:cxn ang="0">
                  <a:pos x="32" y="11"/>
                </a:cxn>
                <a:cxn ang="0">
                  <a:pos x="32" y="16"/>
                </a:cxn>
                <a:cxn ang="0">
                  <a:pos x="32" y="21"/>
                </a:cxn>
                <a:cxn ang="0">
                  <a:pos x="27" y="26"/>
                </a:cxn>
                <a:cxn ang="0">
                  <a:pos x="27" y="36"/>
                </a:cxn>
                <a:cxn ang="0">
                  <a:pos x="27" y="36"/>
                </a:cxn>
              </a:cxnLst>
              <a:rect l="0" t="0" r="r" b="b"/>
              <a:pathLst>
                <a:path w="74" h="129">
                  <a:moveTo>
                    <a:pt x="27" y="36"/>
                  </a:moveTo>
                  <a:lnTo>
                    <a:pt x="27" y="47"/>
                  </a:lnTo>
                  <a:lnTo>
                    <a:pt x="27" y="57"/>
                  </a:lnTo>
                  <a:lnTo>
                    <a:pt x="27" y="67"/>
                  </a:lnTo>
                  <a:lnTo>
                    <a:pt x="27" y="78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32" y="88"/>
                  </a:lnTo>
                  <a:lnTo>
                    <a:pt x="42" y="83"/>
                  </a:lnTo>
                  <a:lnTo>
                    <a:pt x="53" y="78"/>
                  </a:lnTo>
                  <a:lnTo>
                    <a:pt x="63" y="73"/>
                  </a:lnTo>
                  <a:lnTo>
                    <a:pt x="69" y="73"/>
                  </a:lnTo>
                  <a:lnTo>
                    <a:pt x="74" y="67"/>
                  </a:lnTo>
                  <a:lnTo>
                    <a:pt x="74" y="67"/>
                  </a:lnTo>
                  <a:lnTo>
                    <a:pt x="74" y="73"/>
                  </a:lnTo>
                  <a:lnTo>
                    <a:pt x="74" y="73"/>
                  </a:lnTo>
                  <a:lnTo>
                    <a:pt x="69" y="78"/>
                  </a:lnTo>
                  <a:lnTo>
                    <a:pt x="69" y="78"/>
                  </a:lnTo>
                  <a:lnTo>
                    <a:pt x="63" y="83"/>
                  </a:lnTo>
                  <a:lnTo>
                    <a:pt x="53" y="88"/>
                  </a:lnTo>
                  <a:lnTo>
                    <a:pt x="48" y="93"/>
                  </a:lnTo>
                  <a:lnTo>
                    <a:pt x="37" y="103"/>
                  </a:lnTo>
                  <a:lnTo>
                    <a:pt x="32" y="109"/>
                  </a:lnTo>
                  <a:lnTo>
                    <a:pt x="27" y="114"/>
                  </a:lnTo>
                  <a:lnTo>
                    <a:pt x="21" y="119"/>
                  </a:lnTo>
                  <a:lnTo>
                    <a:pt x="16" y="124"/>
                  </a:lnTo>
                  <a:lnTo>
                    <a:pt x="16" y="129"/>
                  </a:lnTo>
                  <a:lnTo>
                    <a:pt x="11" y="129"/>
                  </a:lnTo>
                  <a:lnTo>
                    <a:pt x="11" y="129"/>
                  </a:lnTo>
                  <a:lnTo>
                    <a:pt x="6" y="129"/>
                  </a:lnTo>
                  <a:lnTo>
                    <a:pt x="6" y="129"/>
                  </a:lnTo>
                  <a:lnTo>
                    <a:pt x="6" y="124"/>
                  </a:lnTo>
                  <a:lnTo>
                    <a:pt x="0" y="119"/>
                  </a:lnTo>
                  <a:lnTo>
                    <a:pt x="0" y="114"/>
                  </a:lnTo>
                  <a:lnTo>
                    <a:pt x="0" y="109"/>
                  </a:lnTo>
                  <a:lnTo>
                    <a:pt x="6" y="98"/>
                  </a:lnTo>
                  <a:lnTo>
                    <a:pt x="11" y="98"/>
                  </a:lnTo>
                  <a:lnTo>
                    <a:pt x="11" y="88"/>
                  </a:lnTo>
                  <a:lnTo>
                    <a:pt x="11" y="78"/>
                  </a:lnTo>
                  <a:lnTo>
                    <a:pt x="16" y="62"/>
                  </a:lnTo>
                  <a:lnTo>
                    <a:pt x="11" y="31"/>
                  </a:lnTo>
                  <a:lnTo>
                    <a:pt x="11" y="0"/>
                  </a:lnTo>
                  <a:lnTo>
                    <a:pt x="21" y="5"/>
                  </a:lnTo>
                  <a:lnTo>
                    <a:pt x="27" y="11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32" y="16"/>
                  </a:lnTo>
                  <a:lnTo>
                    <a:pt x="32" y="21"/>
                  </a:lnTo>
                  <a:lnTo>
                    <a:pt x="27" y="26"/>
                  </a:lnTo>
                  <a:lnTo>
                    <a:pt x="27" y="36"/>
                  </a:lnTo>
                  <a:lnTo>
                    <a:pt x="27" y="36"/>
                  </a:lnTo>
                </a:path>
              </a:pathLst>
            </a:custGeom>
            <a:grpFill/>
            <a:ln w="5">
              <a:solidFill>
                <a:srgbClr val="C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2" name="Freeform 87"/>
            <p:cNvSpPr/>
            <p:nvPr/>
          </p:nvSpPr>
          <p:spPr bwMode="auto">
            <a:xfrm>
              <a:off x="9043053" y="3185656"/>
              <a:ext cx="125413" cy="33338"/>
            </a:xfrm>
            <a:custGeom>
              <a:avLst/>
              <a:gdLst/>
              <a:ahLst/>
              <a:cxnLst>
                <a:cxn ang="0">
                  <a:pos x="32" y="5"/>
                </a:cxn>
                <a:cxn ang="0">
                  <a:pos x="48" y="5"/>
                </a:cxn>
                <a:cxn ang="0">
                  <a:pos x="58" y="0"/>
                </a:cxn>
                <a:cxn ang="0">
                  <a:pos x="63" y="0"/>
                </a:cxn>
                <a:cxn ang="0">
                  <a:pos x="69" y="0"/>
                </a:cxn>
                <a:cxn ang="0">
                  <a:pos x="74" y="0"/>
                </a:cxn>
                <a:cxn ang="0">
                  <a:pos x="79" y="0"/>
                </a:cxn>
                <a:cxn ang="0">
                  <a:pos x="79" y="0"/>
                </a:cxn>
                <a:cxn ang="0">
                  <a:pos x="79" y="0"/>
                </a:cxn>
                <a:cxn ang="0">
                  <a:pos x="79" y="5"/>
                </a:cxn>
                <a:cxn ang="0">
                  <a:pos x="74" y="5"/>
                </a:cxn>
                <a:cxn ang="0">
                  <a:pos x="69" y="10"/>
                </a:cxn>
                <a:cxn ang="0">
                  <a:pos x="58" y="10"/>
                </a:cxn>
                <a:cxn ang="0">
                  <a:pos x="42" y="15"/>
                </a:cxn>
                <a:cxn ang="0">
                  <a:pos x="32" y="21"/>
                </a:cxn>
                <a:cxn ang="0">
                  <a:pos x="16" y="21"/>
                </a:cxn>
                <a:cxn ang="0">
                  <a:pos x="0" y="21"/>
                </a:cxn>
                <a:cxn ang="0">
                  <a:pos x="0" y="15"/>
                </a:cxn>
                <a:cxn ang="0">
                  <a:pos x="6" y="15"/>
                </a:cxn>
                <a:cxn ang="0">
                  <a:pos x="11" y="10"/>
                </a:cxn>
                <a:cxn ang="0">
                  <a:pos x="21" y="10"/>
                </a:cxn>
                <a:cxn ang="0">
                  <a:pos x="32" y="5"/>
                </a:cxn>
                <a:cxn ang="0">
                  <a:pos x="32" y="5"/>
                </a:cxn>
              </a:cxnLst>
              <a:rect l="0" t="0" r="r" b="b"/>
              <a:pathLst>
                <a:path w="79" h="21">
                  <a:moveTo>
                    <a:pt x="32" y="5"/>
                  </a:moveTo>
                  <a:lnTo>
                    <a:pt x="48" y="5"/>
                  </a:lnTo>
                  <a:lnTo>
                    <a:pt x="58" y="0"/>
                  </a:lnTo>
                  <a:lnTo>
                    <a:pt x="63" y="0"/>
                  </a:lnTo>
                  <a:lnTo>
                    <a:pt x="69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79" y="0"/>
                  </a:lnTo>
                  <a:lnTo>
                    <a:pt x="79" y="0"/>
                  </a:lnTo>
                  <a:lnTo>
                    <a:pt x="79" y="5"/>
                  </a:lnTo>
                  <a:lnTo>
                    <a:pt x="74" y="5"/>
                  </a:lnTo>
                  <a:lnTo>
                    <a:pt x="69" y="10"/>
                  </a:lnTo>
                  <a:lnTo>
                    <a:pt x="58" y="10"/>
                  </a:lnTo>
                  <a:lnTo>
                    <a:pt x="42" y="15"/>
                  </a:lnTo>
                  <a:lnTo>
                    <a:pt x="32" y="21"/>
                  </a:lnTo>
                  <a:lnTo>
                    <a:pt x="16" y="21"/>
                  </a:lnTo>
                  <a:lnTo>
                    <a:pt x="0" y="21"/>
                  </a:lnTo>
                  <a:lnTo>
                    <a:pt x="0" y="15"/>
                  </a:lnTo>
                  <a:lnTo>
                    <a:pt x="6" y="15"/>
                  </a:lnTo>
                  <a:lnTo>
                    <a:pt x="11" y="10"/>
                  </a:lnTo>
                  <a:lnTo>
                    <a:pt x="21" y="10"/>
                  </a:lnTo>
                  <a:lnTo>
                    <a:pt x="32" y="5"/>
                  </a:lnTo>
                  <a:lnTo>
                    <a:pt x="32" y="5"/>
                  </a:lnTo>
                </a:path>
              </a:pathLst>
            </a:custGeom>
            <a:grpFill/>
            <a:ln w="5">
              <a:solidFill>
                <a:srgbClr val="C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" name="Freeform 88"/>
            <p:cNvSpPr/>
            <p:nvPr/>
          </p:nvSpPr>
          <p:spPr bwMode="auto">
            <a:xfrm>
              <a:off x="9027178" y="3242806"/>
              <a:ext cx="149225" cy="49213"/>
            </a:xfrm>
            <a:custGeom>
              <a:avLst/>
              <a:gdLst/>
              <a:ahLst/>
              <a:cxnLst>
                <a:cxn ang="0">
                  <a:pos x="94" y="10"/>
                </a:cxn>
                <a:cxn ang="0">
                  <a:pos x="94" y="10"/>
                </a:cxn>
                <a:cxn ang="0">
                  <a:pos x="94" y="10"/>
                </a:cxn>
                <a:cxn ang="0">
                  <a:pos x="94" y="10"/>
                </a:cxn>
                <a:cxn ang="0">
                  <a:pos x="89" y="10"/>
                </a:cxn>
                <a:cxn ang="0">
                  <a:pos x="84" y="16"/>
                </a:cxn>
                <a:cxn ang="0">
                  <a:pos x="79" y="16"/>
                </a:cxn>
                <a:cxn ang="0">
                  <a:pos x="73" y="16"/>
                </a:cxn>
                <a:cxn ang="0">
                  <a:pos x="63" y="21"/>
                </a:cxn>
                <a:cxn ang="0">
                  <a:pos x="47" y="26"/>
                </a:cxn>
                <a:cxn ang="0">
                  <a:pos x="37" y="26"/>
                </a:cxn>
                <a:cxn ang="0">
                  <a:pos x="26" y="31"/>
                </a:cxn>
                <a:cxn ang="0">
                  <a:pos x="21" y="31"/>
                </a:cxn>
                <a:cxn ang="0">
                  <a:pos x="10" y="26"/>
                </a:cxn>
                <a:cxn ang="0">
                  <a:pos x="0" y="26"/>
                </a:cxn>
                <a:cxn ang="0">
                  <a:pos x="16" y="21"/>
                </a:cxn>
                <a:cxn ang="0">
                  <a:pos x="31" y="16"/>
                </a:cxn>
                <a:cxn ang="0">
                  <a:pos x="42" y="16"/>
                </a:cxn>
                <a:cxn ang="0">
                  <a:pos x="52" y="10"/>
                </a:cxn>
                <a:cxn ang="0">
                  <a:pos x="58" y="10"/>
                </a:cxn>
                <a:cxn ang="0">
                  <a:pos x="68" y="5"/>
                </a:cxn>
                <a:cxn ang="0">
                  <a:pos x="73" y="5"/>
                </a:cxn>
                <a:cxn ang="0">
                  <a:pos x="73" y="5"/>
                </a:cxn>
                <a:cxn ang="0">
                  <a:pos x="79" y="0"/>
                </a:cxn>
                <a:cxn ang="0">
                  <a:pos x="84" y="0"/>
                </a:cxn>
                <a:cxn ang="0">
                  <a:pos x="94" y="0"/>
                </a:cxn>
                <a:cxn ang="0">
                  <a:pos x="94" y="5"/>
                </a:cxn>
                <a:cxn ang="0">
                  <a:pos x="94" y="10"/>
                </a:cxn>
                <a:cxn ang="0">
                  <a:pos x="94" y="10"/>
                </a:cxn>
              </a:cxnLst>
              <a:rect l="0" t="0" r="r" b="b"/>
              <a:pathLst>
                <a:path w="94" h="31">
                  <a:moveTo>
                    <a:pt x="94" y="10"/>
                  </a:moveTo>
                  <a:lnTo>
                    <a:pt x="94" y="10"/>
                  </a:lnTo>
                  <a:lnTo>
                    <a:pt x="94" y="10"/>
                  </a:lnTo>
                  <a:lnTo>
                    <a:pt x="94" y="10"/>
                  </a:lnTo>
                  <a:lnTo>
                    <a:pt x="89" y="10"/>
                  </a:lnTo>
                  <a:lnTo>
                    <a:pt x="84" y="16"/>
                  </a:lnTo>
                  <a:lnTo>
                    <a:pt x="79" y="16"/>
                  </a:lnTo>
                  <a:lnTo>
                    <a:pt x="73" y="16"/>
                  </a:lnTo>
                  <a:lnTo>
                    <a:pt x="63" y="21"/>
                  </a:lnTo>
                  <a:lnTo>
                    <a:pt x="47" y="26"/>
                  </a:lnTo>
                  <a:lnTo>
                    <a:pt x="37" y="26"/>
                  </a:lnTo>
                  <a:lnTo>
                    <a:pt x="26" y="31"/>
                  </a:lnTo>
                  <a:lnTo>
                    <a:pt x="21" y="31"/>
                  </a:lnTo>
                  <a:lnTo>
                    <a:pt x="10" y="26"/>
                  </a:lnTo>
                  <a:lnTo>
                    <a:pt x="0" y="26"/>
                  </a:lnTo>
                  <a:lnTo>
                    <a:pt x="16" y="21"/>
                  </a:lnTo>
                  <a:lnTo>
                    <a:pt x="31" y="16"/>
                  </a:lnTo>
                  <a:lnTo>
                    <a:pt x="42" y="16"/>
                  </a:lnTo>
                  <a:lnTo>
                    <a:pt x="52" y="10"/>
                  </a:lnTo>
                  <a:lnTo>
                    <a:pt x="58" y="10"/>
                  </a:lnTo>
                  <a:lnTo>
                    <a:pt x="68" y="5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9" y="0"/>
                  </a:lnTo>
                  <a:lnTo>
                    <a:pt x="84" y="0"/>
                  </a:lnTo>
                  <a:lnTo>
                    <a:pt x="94" y="0"/>
                  </a:lnTo>
                  <a:lnTo>
                    <a:pt x="94" y="5"/>
                  </a:lnTo>
                  <a:lnTo>
                    <a:pt x="94" y="10"/>
                  </a:lnTo>
                  <a:lnTo>
                    <a:pt x="94" y="10"/>
                  </a:lnTo>
                </a:path>
              </a:pathLst>
            </a:custGeom>
            <a:grpFill/>
            <a:ln w="5">
              <a:solidFill>
                <a:srgbClr val="C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9660" name="组合 186"/>
          <p:cNvGrpSpPr/>
          <p:nvPr/>
        </p:nvGrpSpPr>
        <p:grpSpPr>
          <a:xfrm>
            <a:off x="474663" y="914400"/>
            <a:ext cx="9928225" cy="523875"/>
            <a:chOff x="474663" y="914400"/>
            <a:chExt cx="9928225" cy="523875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474663" y="914400"/>
              <a:ext cx="9928225" cy="5238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 eaLnBrk="0" hangingPunct="0">
                <a:buClrTx/>
                <a:buSzTx/>
                <a:buFontTx/>
                <a:buNone/>
                <a:defRPr/>
              </a:pPr>
              <a:r>
                <a:rPr kumimoji="0" lang="en-US" altLang="zh-CN" sz="2800" b="1" kern="1200" cap="none" spc="0" normalizeH="0" baseline="0" noProof="0" dirty="0"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3. </a:t>
              </a:r>
              <a:r>
                <a:rPr kumimoji="0" lang="zh-CN" altLang="en-US" sz="2800" b="1" kern="1200" cap="none" spc="0" normalizeH="0" baseline="0" noProof="0" dirty="0"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汉字偏旁“  ”和“  ”</a:t>
              </a:r>
              <a:r>
                <a:rPr kumimoji="0" lang="en-US" altLang="zh-CN" kern="1200" cap="none" spc="0" normalizeH="0" baseline="0" noProof="0" dirty="0">
                  <a:latin typeface="+mn-ea"/>
                  <a:ea typeface="+mn-ea"/>
                  <a:cs typeface="+mn-cs"/>
                </a:rPr>
                <a:t>Chinese Radicals</a:t>
              </a:r>
              <a:r>
                <a:rPr kumimoji="0" lang="zh-CN" altLang="en-US" kern="1200" cap="none" spc="0" normalizeH="0" baseline="0" noProof="0" dirty="0">
                  <a:latin typeface="+mn-ea"/>
                  <a:ea typeface="+mn-ea"/>
                  <a:cs typeface="+mn-cs"/>
                </a:rPr>
                <a:t>“ ”</a:t>
              </a:r>
              <a:r>
                <a:rPr kumimoji="0" lang="en-US" altLang="zh-CN" kern="1200" cap="none" spc="0" normalizeH="0" baseline="0" noProof="0" dirty="0">
                  <a:latin typeface="+mn-ea"/>
                  <a:ea typeface="+mn-ea"/>
                  <a:cs typeface="+mn-cs"/>
                </a:rPr>
                <a:t>and</a:t>
              </a:r>
              <a:r>
                <a:rPr kumimoji="0" lang="zh-CN" altLang="en-US" kern="1200" cap="none" spc="0" normalizeH="0" baseline="0" noProof="0" dirty="0">
                  <a:latin typeface="+mn-ea"/>
                  <a:ea typeface="+mn-ea"/>
                  <a:cs typeface="+mn-cs"/>
                </a:rPr>
                <a:t>“ ”</a:t>
              </a:r>
              <a:endParaRPr kumimoji="0" lang="zh-CN" altLang="en-US" sz="2800" kern="1200" cap="none" spc="0" normalizeH="0" baseline="0" noProof="0" dirty="0">
                <a:latin typeface="+mn-ea"/>
                <a:ea typeface="+mn-ea"/>
                <a:cs typeface="+mn-cs"/>
              </a:endParaRPr>
            </a:p>
          </p:txBody>
        </p:sp>
        <p:grpSp>
          <p:nvGrpSpPr>
            <p:cNvPr id="14" name="组合 145"/>
            <p:cNvGrpSpPr>
              <a:grpSpLocks noChangeAspect="1"/>
            </p:cNvGrpSpPr>
            <p:nvPr/>
          </p:nvGrpSpPr>
          <p:grpSpPr>
            <a:xfrm>
              <a:off x="4014276" y="1123108"/>
              <a:ext cx="180000" cy="197235"/>
              <a:chOff x="6408902" y="5886739"/>
              <a:chExt cx="149225" cy="163513"/>
            </a:xfrm>
            <a:solidFill>
              <a:schemeClr val="tx1"/>
            </a:solidFill>
          </p:grpSpPr>
          <p:sp>
            <p:nvSpPr>
              <p:cNvPr id="147" name="Freeform 123"/>
              <p:cNvSpPr/>
              <p:nvPr/>
            </p:nvSpPr>
            <p:spPr bwMode="auto">
              <a:xfrm>
                <a:off x="6408902" y="5904202"/>
                <a:ext cx="50800" cy="146050"/>
              </a:xfrm>
              <a:custGeom>
                <a:avLst/>
                <a:gdLst/>
                <a:ahLst/>
                <a:cxnLst>
                  <a:cxn ang="0">
                    <a:pos x="32" y="51"/>
                  </a:cxn>
                  <a:cxn ang="0">
                    <a:pos x="32" y="61"/>
                  </a:cxn>
                  <a:cxn ang="0">
                    <a:pos x="32" y="67"/>
                  </a:cxn>
                  <a:cxn ang="0">
                    <a:pos x="32" y="77"/>
                  </a:cxn>
                  <a:cxn ang="0">
                    <a:pos x="32" y="82"/>
                  </a:cxn>
                  <a:cxn ang="0">
                    <a:pos x="32" y="87"/>
                  </a:cxn>
                  <a:cxn ang="0">
                    <a:pos x="32" y="87"/>
                  </a:cxn>
                  <a:cxn ang="0">
                    <a:pos x="32" y="92"/>
                  </a:cxn>
                  <a:cxn ang="0">
                    <a:pos x="32" y="92"/>
                  </a:cxn>
                  <a:cxn ang="0">
                    <a:pos x="26" y="92"/>
                  </a:cxn>
                  <a:cxn ang="0">
                    <a:pos x="26" y="92"/>
                  </a:cxn>
                  <a:cxn ang="0">
                    <a:pos x="26" y="87"/>
                  </a:cxn>
                  <a:cxn ang="0">
                    <a:pos x="21" y="82"/>
                  </a:cxn>
                  <a:cxn ang="0">
                    <a:pos x="21" y="77"/>
                  </a:cxn>
                  <a:cxn ang="0">
                    <a:pos x="16" y="77"/>
                  </a:cxn>
                  <a:cxn ang="0">
                    <a:pos x="16" y="67"/>
                  </a:cxn>
                  <a:cxn ang="0">
                    <a:pos x="16" y="67"/>
                  </a:cxn>
                  <a:cxn ang="0">
                    <a:pos x="16" y="56"/>
                  </a:cxn>
                  <a:cxn ang="0">
                    <a:pos x="16" y="51"/>
                  </a:cxn>
                  <a:cxn ang="0">
                    <a:pos x="11" y="41"/>
                  </a:cxn>
                  <a:cxn ang="0">
                    <a:pos x="11" y="30"/>
                  </a:cxn>
                  <a:cxn ang="0">
                    <a:pos x="11" y="25"/>
                  </a:cxn>
                  <a:cxn ang="0">
                    <a:pos x="5" y="20"/>
                  </a:cxn>
                  <a:cxn ang="0">
                    <a:pos x="5" y="15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5" y="0"/>
                  </a:cxn>
                  <a:cxn ang="0">
                    <a:pos x="5" y="0"/>
                  </a:cxn>
                  <a:cxn ang="0">
                    <a:pos x="11" y="0"/>
                  </a:cxn>
                  <a:cxn ang="0">
                    <a:pos x="21" y="5"/>
                  </a:cxn>
                  <a:cxn ang="0">
                    <a:pos x="26" y="5"/>
                  </a:cxn>
                  <a:cxn ang="0">
                    <a:pos x="26" y="10"/>
                  </a:cxn>
                  <a:cxn ang="0">
                    <a:pos x="26" y="20"/>
                  </a:cxn>
                  <a:cxn ang="0">
                    <a:pos x="26" y="36"/>
                  </a:cxn>
                  <a:cxn ang="0">
                    <a:pos x="32" y="51"/>
                  </a:cxn>
                  <a:cxn ang="0">
                    <a:pos x="32" y="51"/>
                  </a:cxn>
                </a:cxnLst>
                <a:rect l="0" t="0" r="r" b="b"/>
                <a:pathLst>
                  <a:path w="32" h="92">
                    <a:moveTo>
                      <a:pt x="32" y="51"/>
                    </a:moveTo>
                    <a:lnTo>
                      <a:pt x="32" y="61"/>
                    </a:lnTo>
                    <a:lnTo>
                      <a:pt x="32" y="67"/>
                    </a:lnTo>
                    <a:lnTo>
                      <a:pt x="32" y="77"/>
                    </a:lnTo>
                    <a:lnTo>
                      <a:pt x="32" y="82"/>
                    </a:lnTo>
                    <a:lnTo>
                      <a:pt x="32" y="87"/>
                    </a:lnTo>
                    <a:lnTo>
                      <a:pt x="32" y="87"/>
                    </a:lnTo>
                    <a:lnTo>
                      <a:pt x="32" y="92"/>
                    </a:lnTo>
                    <a:lnTo>
                      <a:pt x="32" y="92"/>
                    </a:lnTo>
                    <a:lnTo>
                      <a:pt x="26" y="92"/>
                    </a:lnTo>
                    <a:lnTo>
                      <a:pt x="26" y="92"/>
                    </a:lnTo>
                    <a:lnTo>
                      <a:pt x="26" y="87"/>
                    </a:lnTo>
                    <a:lnTo>
                      <a:pt x="21" y="82"/>
                    </a:lnTo>
                    <a:lnTo>
                      <a:pt x="21" y="77"/>
                    </a:lnTo>
                    <a:lnTo>
                      <a:pt x="16" y="77"/>
                    </a:lnTo>
                    <a:lnTo>
                      <a:pt x="16" y="67"/>
                    </a:lnTo>
                    <a:lnTo>
                      <a:pt x="16" y="67"/>
                    </a:lnTo>
                    <a:lnTo>
                      <a:pt x="16" y="56"/>
                    </a:lnTo>
                    <a:lnTo>
                      <a:pt x="16" y="51"/>
                    </a:lnTo>
                    <a:lnTo>
                      <a:pt x="11" y="41"/>
                    </a:lnTo>
                    <a:lnTo>
                      <a:pt x="11" y="30"/>
                    </a:lnTo>
                    <a:lnTo>
                      <a:pt x="11" y="25"/>
                    </a:lnTo>
                    <a:lnTo>
                      <a:pt x="5" y="20"/>
                    </a:lnTo>
                    <a:lnTo>
                      <a:pt x="5" y="15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11" y="0"/>
                    </a:lnTo>
                    <a:lnTo>
                      <a:pt x="21" y="5"/>
                    </a:lnTo>
                    <a:lnTo>
                      <a:pt x="26" y="5"/>
                    </a:lnTo>
                    <a:lnTo>
                      <a:pt x="26" y="10"/>
                    </a:lnTo>
                    <a:lnTo>
                      <a:pt x="26" y="20"/>
                    </a:lnTo>
                    <a:lnTo>
                      <a:pt x="26" y="36"/>
                    </a:lnTo>
                    <a:lnTo>
                      <a:pt x="32" y="51"/>
                    </a:lnTo>
                    <a:lnTo>
                      <a:pt x="32" y="51"/>
                    </a:lnTo>
                  </a:path>
                </a:pathLst>
              </a:custGeom>
              <a:grpFill/>
              <a:ln w="5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8" name="Freeform 124"/>
              <p:cNvSpPr/>
              <p:nvPr/>
            </p:nvSpPr>
            <p:spPr bwMode="auto">
              <a:xfrm>
                <a:off x="6426365" y="5886739"/>
                <a:ext cx="131762" cy="106363"/>
              </a:xfrm>
              <a:custGeom>
                <a:avLst/>
                <a:gdLst/>
                <a:ahLst/>
                <a:cxnLst>
                  <a:cxn ang="0">
                    <a:pos x="57" y="0"/>
                  </a:cxn>
                  <a:cxn ang="0">
                    <a:pos x="62" y="0"/>
                  </a:cxn>
                  <a:cxn ang="0">
                    <a:pos x="62" y="0"/>
                  </a:cxn>
                  <a:cxn ang="0">
                    <a:pos x="73" y="5"/>
                  </a:cxn>
                  <a:cxn ang="0">
                    <a:pos x="78" y="11"/>
                  </a:cxn>
                  <a:cxn ang="0">
                    <a:pos x="83" y="11"/>
                  </a:cxn>
                  <a:cxn ang="0">
                    <a:pos x="83" y="16"/>
                  </a:cxn>
                  <a:cxn ang="0">
                    <a:pos x="83" y="16"/>
                  </a:cxn>
                  <a:cxn ang="0">
                    <a:pos x="83" y="21"/>
                  </a:cxn>
                  <a:cxn ang="0">
                    <a:pos x="78" y="21"/>
                  </a:cxn>
                  <a:cxn ang="0">
                    <a:pos x="78" y="21"/>
                  </a:cxn>
                  <a:cxn ang="0">
                    <a:pos x="78" y="26"/>
                  </a:cxn>
                  <a:cxn ang="0">
                    <a:pos x="73" y="31"/>
                  </a:cxn>
                  <a:cxn ang="0">
                    <a:pos x="73" y="36"/>
                  </a:cxn>
                  <a:cxn ang="0">
                    <a:pos x="73" y="41"/>
                  </a:cxn>
                  <a:cxn ang="0">
                    <a:pos x="68" y="47"/>
                  </a:cxn>
                  <a:cxn ang="0">
                    <a:pos x="68" y="57"/>
                  </a:cxn>
                  <a:cxn ang="0">
                    <a:pos x="62" y="67"/>
                  </a:cxn>
                  <a:cxn ang="0">
                    <a:pos x="47" y="67"/>
                  </a:cxn>
                  <a:cxn ang="0">
                    <a:pos x="52" y="52"/>
                  </a:cxn>
                  <a:cxn ang="0">
                    <a:pos x="52" y="41"/>
                  </a:cxn>
                  <a:cxn ang="0">
                    <a:pos x="57" y="31"/>
                  </a:cxn>
                  <a:cxn ang="0">
                    <a:pos x="57" y="26"/>
                  </a:cxn>
                  <a:cxn ang="0">
                    <a:pos x="57" y="21"/>
                  </a:cxn>
                  <a:cxn ang="0">
                    <a:pos x="52" y="16"/>
                  </a:cxn>
                  <a:cxn ang="0">
                    <a:pos x="52" y="16"/>
                  </a:cxn>
                  <a:cxn ang="0">
                    <a:pos x="47" y="16"/>
                  </a:cxn>
                  <a:cxn ang="0">
                    <a:pos x="42" y="16"/>
                  </a:cxn>
                  <a:cxn ang="0">
                    <a:pos x="36" y="21"/>
                  </a:cxn>
                  <a:cxn ang="0">
                    <a:pos x="26" y="21"/>
                  </a:cxn>
                  <a:cxn ang="0">
                    <a:pos x="15" y="26"/>
                  </a:cxn>
                  <a:cxn ang="0">
                    <a:pos x="0" y="26"/>
                  </a:cxn>
                  <a:cxn ang="0">
                    <a:pos x="0" y="11"/>
                  </a:cxn>
                  <a:cxn ang="0">
                    <a:pos x="5" y="11"/>
                  </a:cxn>
                  <a:cxn ang="0">
                    <a:pos x="10" y="16"/>
                  </a:cxn>
                  <a:cxn ang="0">
                    <a:pos x="15" y="16"/>
                  </a:cxn>
                  <a:cxn ang="0">
                    <a:pos x="15" y="16"/>
                  </a:cxn>
                  <a:cxn ang="0">
                    <a:pos x="26" y="11"/>
                  </a:cxn>
                  <a:cxn ang="0">
                    <a:pos x="31" y="11"/>
                  </a:cxn>
                  <a:cxn ang="0">
                    <a:pos x="36" y="5"/>
                  </a:cxn>
                  <a:cxn ang="0">
                    <a:pos x="42" y="5"/>
                  </a:cxn>
                  <a:cxn ang="0">
                    <a:pos x="47" y="5"/>
                  </a:cxn>
                  <a:cxn ang="0">
                    <a:pos x="52" y="0"/>
                  </a:cxn>
                  <a:cxn ang="0">
                    <a:pos x="57" y="0"/>
                  </a:cxn>
                  <a:cxn ang="0">
                    <a:pos x="57" y="0"/>
                  </a:cxn>
                  <a:cxn ang="0">
                    <a:pos x="57" y="0"/>
                  </a:cxn>
                </a:cxnLst>
                <a:rect l="0" t="0" r="r" b="b"/>
                <a:pathLst>
                  <a:path w="83" h="67">
                    <a:moveTo>
                      <a:pt x="57" y="0"/>
                    </a:moveTo>
                    <a:lnTo>
                      <a:pt x="62" y="0"/>
                    </a:lnTo>
                    <a:lnTo>
                      <a:pt x="62" y="0"/>
                    </a:lnTo>
                    <a:lnTo>
                      <a:pt x="73" y="5"/>
                    </a:lnTo>
                    <a:lnTo>
                      <a:pt x="78" y="11"/>
                    </a:lnTo>
                    <a:lnTo>
                      <a:pt x="83" y="11"/>
                    </a:lnTo>
                    <a:lnTo>
                      <a:pt x="83" y="16"/>
                    </a:lnTo>
                    <a:lnTo>
                      <a:pt x="83" y="16"/>
                    </a:lnTo>
                    <a:lnTo>
                      <a:pt x="83" y="21"/>
                    </a:lnTo>
                    <a:lnTo>
                      <a:pt x="78" y="21"/>
                    </a:lnTo>
                    <a:lnTo>
                      <a:pt x="78" y="21"/>
                    </a:lnTo>
                    <a:lnTo>
                      <a:pt x="78" y="26"/>
                    </a:lnTo>
                    <a:lnTo>
                      <a:pt x="73" y="31"/>
                    </a:lnTo>
                    <a:lnTo>
                      <a:pt x="73" y="36"/>
                    </a:lnTo>
                    <a:lnTo>
                      <a:pt x="73" y="41"/>
                    </a:lnTo>
                    <a:lnTo>
                      <a:pt x="68" y="47"/>
                    </a:lnTo>
                    <a:lnTo>
                      <a:pt x="68" y="57"/>
                    </a:lnTo>
                    <a:lnTo>
                      <a:pt x="62" y="67"/>
                    </a:lnTo>
                    <a:lnTo>
                      <a:pt x="47" y="67"/>
                    </a:lnTo>
                    <a:lnTo>
                      <a:pt x="52" y="52"/>
                    </a:lnTo>
                    <a:lnTo>
                      <a:pt x="52" y="41"/>
                    </a:lnTo>
                    <a:lnTo>
                      <a:pt x="57" y="31"/>
                    </a:lnTo>
                    <a:lnTo>
                      <a:pt x="57" y="26"/>
                    </a:lnTo>
                    <a:lnTo>
                      <a:pt x="57" y="21"/>
                    </a:lnTo>
                    <a:lnTo>
                      <a:pt x="52" y="16"/>
                    </a:lnTo>
                    <a:lnTo>
                      <a:pt x="52" y="16"/>
                    </a:lnTo>
                    <a:lnTo>
                      <a:pt x="47" y="16"/>
                    </a:lnTo>
                    <a:lnTo>
                      <a:pt x="42" y="16"/>
                    </a:lnTo>
                    <a:lnTo>
                      <a:pt x="36" y="21"/>
                    </a:lnTo>
                    <a:lnTo>
                      <a:pt x="26" y="21"/>
                    </a:lnTo>
                    <a:lnTo>
                      <a:pt x="15" y="26"/>
                    </a:lnTo>
                    <a:lnTo>
                      <a:pt x="0" y="26"/>
                    </a:lnTo>
                    <a:lnTo>
                      <a:pt x="0" y="11"/>
                    </a:lnTo>
                    <a:lnTo>
                      <a:pt x="5" y="11"/>
                    </a:lnTo>
                    <a:lnTo>
                      <a:pt x="10" y="16"/>
                    </a:lnTo>
                    <a:lnTo>
                      <a:pt x="15" y="16"/>
                    </a:lnTo>
                    <a:lnTo>
                      <a:pt x="15" y="16"/>
                    </a:lnTo>
                    <a:lnTo>
                      <a:pt x="26" y="11"/>
                    </a:lnTo>
                    <a:lnTo>
                      <a:pt x="31" y="11"/>
                    </a:lnTo>
                    <a:lnTo>
                      <a:pt x="36" y="5"/>
                    </a:lnTo>
                    <a:lnTo>
                      <a:pt x="42" y="5"/>
                    </a:lnTo>
                    <a:lnTo>
                      <a:pt x="47" y="5"/>
                    </a:lnTo>
                    <a:lnTo>
                      <a:pt x="52" y="0"/>
                    </a:lnTo>
                    <a:lnTo>
                      <a:pt x="57" y="0"/>
                    </a:lnTo>
                    <a:lnTo>
                      <a:pt x="57" y="0"/>
                    </a:lnTo>
                    <a:lnTo>
                      <a:pt x="57" y="0"/>
                    </a:lnTo>
                  </a:path>
                </a:pathLst>
              </a:custGeom>
              <a:grpFill/>
              <a:ln w="5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9" name="Freeform 125"/>
              <p:cNvSpPr/>
              <p:nvPr/>
            </p:nvSpPr>
            <p:spPr bwMode="auto">
              <a:xfrm>
                <a:off x="6450177" y="5985164"/>
                <a:ext cx="92075" cy="33338"/>
              </a:xfrm>
              <a:custGeom>
                <a:avLst/>
                <a:gdLst/>
                <a:ahLst/>
                <a:cxnLst>
                  <a:cxn ang="0">
                    <a:pos x="58" y="5"/>
                  </a:cxn>
                  <a:cxn ang="0">
                    <a:pos x="53" y="10"/>
                  </a:cxn>
                  <a:cxn ang="0">
                    <a:pos x="53" y="10"/>
                  </a:cxn>
                  <a:cxn ang="0">
                    <a:pos x="53" y="10"/>
                  </a:cxn>
                  <a:cxn ang="0">
                    <a:pos x="47" y="16"/>
                  </a:cxn>
                  <a:cxn ang="0">
                    <a:pos x="42" y="16"/>
                  </a:cxn>
                  <a:cxn ang="0">
                    <a:pos x="32" y="16"/>
                  </a:cxn>
                  <a:cxn ang="0">
                    <a:pos x="16" y="16"/>
                  </a:cxn>
                  <a:cxn ang="0">
                    <a:pos x="0" y="21"/>
                  </a:cxn>
                  <a:cxn ang="0">
                    <a:pos x="0" y="10"/>
                  </a:cxn>
                  <a:cxn ang="0">
                    <a:pos x="11" y="5"/>
                  </a:cxn>
                  <a:cxn ang="0">
                    <a:pos x="21" y="5"/>
                  </a:cxn>
                  <a:cxn ang="0">
                    <a:pos x="32" y="5"/>
                  </a:cxn>
                  <a:cxn ang="0">
                    <a:pos x="37" y="5"/>
                  </a:cxn>
                  <a:cxn ang="0">
                    <a:pos x="47" y="5"/>
                  </a:cxn>
                  <a:cxn ang="0">
                    <a:pos x="47" y="0"/>
                  </a:cxn>
                  <a:cxn ang="0">
                    <a:pos x="53" y="0"/>
                  </a:cxn>
                  <a:cxn ang="0">
                    <a:pos x="53" y="0"/>
                  </a:cxn>
                  <a:cxn ang="0">
                    <a:pos x="53" y="5"/>
                  </a:cxn>
                  <a:cxn ang="0">
                    <a:pos x="58" y="5"/>
                  </a:cxn>
                  <a:cxn ang="0">
                    <a:pos x="58" y="5"/>
                  </a:cxn>
                </a:cxnLst>
                <a:rect l="0" t="0" r="r" b="b"/>
                <a:pathLst>
                  <a:path w="58" h="21">
                    <a:moveTo>
                      <a:pt x="58" y="5"/>
                    </a:moveTo>
                    <a:lnTo>
                      <a:pt x="53" y="10"/>
                    </a:lnTo>
                    <a:lnTo>
                      <a:pt x="53" y="10"/>
                    </a:lnTo>
                    <a:lnTo>
                      <a:pt x="53" y="10"/>
                    </a:lnTo>
                    <a:lnTo>
                      <a:pt x="47" y="16"/>
                    </a:lnTo>
                    <a:lnTo>
                      <a:pt x="42" y="16"/>
                    </a:lnTo>
                    <a:lnTo>
                      <a:pt x="32" y="16"/>
                    </a:lnTo>
                    <a:lnTo>
                      <a:pt x="16" y="16"/>
                    </a:lnTo>
                    <a:lnTo>
                      <a:pt x="0" y="21"/>
                    </a:lnTo>
                    <a:lnTo>
                      <a:pt x="0" y="10"/>
                    </a:lnTo>
                    <a:lnTo>
                      <a:pt x="11" y="5"/>
                    </a:lnTo>
                    <a:lnTo>
                      <a:pt x="21" y="5"/>
                    </a:lnTo>
                    <a:lnTo>
                      <a:pt x="32" y="5"/>
                    </a:lnTo>
                    <a:lnTo>
                      <a:pt x="37" y="5"/>
                    </a:lnTo>
                    <a:lnTo>
                      <a:pt x="47" y="5"/>
                    </a:lnTo>
                    <a:lnTo>
                      <a:pt x="47" y="0"/>
                    </a:lnTo>
                    <a:lnTo>
                      <a:pt x="53" y="0"/>
                    </a:lnTo>
                    <a:lnTo>
                      <a:pt x="53" y="0"/>
                    </a:lnTo>
                    <a:lnTo>
                      <a:pt x="53" y="5"/>
                    </a:lnTo>
                    <a:lnTo>
                      <a:pt x="58" y="5"/>
                    </a:lnTo>
                    <a:lnTo>
                      <a:pt x="58" y="5"/>
                    </a:lnTo>
                  </a:path>
                </a:pathLst>
              </a:custGeom>
              <a:grpFill/>
              <a:ln w="5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5" name="组合 149"/>
            <p:cNvGrpSpPr>
              <a:grpSpLocks noChangeAspect="1"/>
            </p:cNvGrpSpPr>
            <p:nvPr/>
          </p:nvGrpSpPr>
          <p:grpSpPr>
            <a:xfrm>
              <a:off x="2717923" y="1047288"/>
              <a:ext cx="191327" cy="324000"/>
              <a:chOff x="8976378" y="3038019"/>
              <a:chExt cx="217487" cy="368300"/>
            </a:xfrm>
            <a:solidFill>
              <a:schemeClr val="tx1"/>
            </a:solidFill>
          </p:grpSpPr>
          <p:sp>
            <p:nvSpPr>
              <p:cNvPr id="151" name="Freeform 80"/>
              <p:cNvSpPr/>
              <p:nvPr/>
            </p:nvSpPr>
            <p:spPr bwMode="auto">
              <a:xfrm>
                <a:off x="8976378" y="3038019"/>
                <a:ext cx="158750" cy="238125"/>
              </a:xfrm>
              <a:custGeom>
                <a:avLst/>
                <a:gdLst/>
                <a:ahLst/>
                <a:cxnLst>
                  <a:cxn ang="0">
                    <a:pos x="42" y="114"/>
                  </a:cxn>
                  <a:cxn ang="0">
                    <a:pos x="32" y="124"/>
                  </a:cxn>
                  <a:cxn ang="0">
                    <a:pos x="27" y="129"/>
                  </a:cxn>
                  <a:cxn ang="0">
                    <a:pos x="16" y="139"/>
                  </a:cxn>
                  <a:cxn ang="0">
                    <a:pos x="11" y="145"/>
                  </a:cxn>
                  <a:cxn ang="0">
                    <a:pos x="6" y="145"/>
                  </a:cxn>
                  <a:cxn ang="0">
                    <a:pos x="6" y="150"/>
                  </a:cxn>
                  <a:cxn ang="0">
                    <a:pos x="0" y="150"/>
                  </a:cxn>
                  <a:cxn ang="0">
                    <a:pos x="0" y="150"/>
                  </a:cxn>
                  <a:cxn ang="0">
                    <a:pos x="0" y="150"/>
                  </a:cxn>
                  <a:cxn ang="0">
                    <a:pos x="0" y="145"/>
                  </a:cxn>
                  <a:cxn ang="0">
                    <a:pos x="6" y="134"/>
                  </a:cxn>
                  <a:cxn ang="0">
                    <a:pos x="16" y="129"/>
                  </a:cxn>
                  <a:cxn ang="0">
                    <a:pos x="32" y="103"/>
                  </a:cxn>
                  <a:cxn ang="0">
                    <a:pos x="48" y="83"/>
                  </a:cxn>
                  <a:cxn ang="0">
                    <a:pos x="58" y="57"/>
                  </a:cxn>
                  <a:cxn ang="0">
                    <a:pos x="69" y="47"/>
                  </a:cxn>
                  <a:cxn ang="0">
                    <a:pos x="69" y="31"/>
                  </a:cxn>
                  <a:cxn ang="0">
                    <a:pos x="74" y="21"/>
                  </a:cxn>
                  <a:cxn ang="0">
                    <a:pos x="74" y="10"/>
                  </a:cxn>
                  <a:cxn ang="0">
                    <a:pos x="74" y="5"/>
                  </a:cxn>
                  <a:cxn ang="0">
                    <a:pos x="74" y="5"/>
                  </a:cxn>
                  <a:cxn ang="0">
                    <a:pos x="74" y="5"/>
                  </a:cxn>
                  <a:cxn ang="0">
                    <a:pos x="74" y="0"/>
                  </a:cxn>
                  <a:cxn ang="0">
                    <a:pos x="74" y="0"/>
                  </a:cxn>
                  <a:cxn ang="0">
                    <a:pos x="74" y="0"/>
                  </a:cxn>
                  <a:cxn ang="0">
                    <a:pos x="79" y="0"/>
                  </a:cxn>
                  <a:cxn ang="0">
                    <a:pos x="84" y="0"/>
                  </a:cxn>
                  <a:cxn ang="0">
                    <a:pos x="90" y="0"/>
                  </a:cxn>
                  <a:cxn ang="0">
                    <a:pos x="95" y="5"/>
                  </a:cxn>
                  <a:cxn ang="0">
                    <a:pos x="100" y="10"/>
                  </a:cxn>
                  <a:cxn ang="0">
                    <a:pos x="100" y="10"/>
                  </a:cxn>
                  <a:cxn ang="0">
                    <a:pos x="95" y="16"/>
                  </a:cxn>
                  <a:cxn ang="0">
                    <a:pos x="95" y="21"/>
                  </a:cxn>
                  <a:cxn ang="0">
                    <a:pos x="95" y="26"/>
                  </a:cxn>
                  <a:cxn ang="0">
                    <a:pos x="90" y="31"/>
                  </a:cxn>
                  <a:cxn ang="0">
                    <a:pos x="90" y="36"/>
                  </a:cxn>
                  <a:cxn ang="0">
                    <a:pos x="84" y="41"/>
                  </a:cxn>
                  <a:cxn ang="0">
                    <a:pos x="79" y="52"/>
                  </a:cxn>
                  <a:cxn ang="0">
                    <a:pos x="74" y="72"/>
                  </a:cxn>
                  <a:cxn ang="0">
                    <a:pos x="63" y="88"/>
                  </a:cxn>
                  <a:cxn ang="0">
                    <a:pos x="53" y="103"/>
                  </a:cxn>
                  <a:cxn ang="0">
                    <a:pos x="42" y="114"/>
                  </a:cxn>
                  <a:cxn ang="0">
                    <a:pos x="42" y="114"/>
                  </a:cxn>
                </a:cxnLst>
                <a:rect l="0" t="0" r="r" b="b"/>
                <a:pathLst>
                  <a:path w="100" h="150">
                    <a:moveTo>
                      <a:pt x="42" y="114"/>
                    </a:moveTo>
                    <a:lnTo>
                      <a:pt x="32" y="124"/>
                    </a:lnTo>
                    <a:lnTo>
                      <a:pt x="27" y="129"/>
                    </a:lnTo>
                    <a:lnTo>
                      <a:pt x="16" y="139"/>
                    </a:lnTo>
                    <a:lnTo>
                      <a:pt x="11" y="145"/>
                    </a:lnTo>
                    <a:lnTo>
                      <a:pt x="6" y="145"/>
                    </a:lnTo>
                    <a:lnTo>
                      <a:pt x="6" y="150"/>
                    </a:lnTo>
                    <a:lnTo>
                      <a:pt x="0" y="150"/>
                    </a:lnTo>
                    <a:lnTo>
                      <a:pt x="0" y="150"/>
                    </a:lnTo>
                    <a:lnTo>
                      <a:pt x="0" y="150"/>
                    </a:lnTo>
                    <a:lnTo>
                      <a:pt x="0" y="145"/>
                    </a:lnTo>
                    <a:lnTo>
                      <a:pt x="6" y="134"/>
                    </a:lnTo>
                    <a:lnTo>
                      <a:pt x="16" y="129"/>
                    </a:lnTo>
                    <a:lnTo>
                      <a:pt x="32" y="103"/>
                    </a:lnTo>
                    <a:lnTo>
                      <a:pt x="48" y="83"/>
                    </a:lnTo>
                    <a:lnTo>
                      <a:pt x="58" y="57"/>
                    </a:lnTo>
                    <a:lnTo>
                      <a:pt x="69" y="47"/>
                    </a:lnTo>
                    <a:lnTo>
                      <a:pt x="69" y="31"/>
                    </a:lnTo>
                    <a:lnTo>
                      <a:pt x="74" y="21"/>
                    </a:lnTo>
                    <a:lnTo>
                      <a:pt x="74" y="10"/>
                    </a:lnTo>
                    <a:lnTo>
                      <a:pt x="74" y="5"/>
                    </a:lnTo>
                    <a:lnTo>
                      <a:pt x="74" y="5"/>
                    </a:lnTo>
                    <a:lnTo>
                      <a:pt x="74" y="5"/>
                    </a:lnTo>
                    <a:lnTo>
                      <a:pt x="74" y="0"/>
                    </a:lnTo>
                    <a:lnTo>
                      <a:pt x="74" y="0"/>
                    </a:lnTo>
                    <a:lnTo>
                      <a:pt x="74" y="0"/>
                    </a:lnTo>
                    <a:lnTo>
                      <a:pt x="79" y="0"/>
                    </a:lnTo>
                    <a:lnTo>
                      <a:pt x="84" y="0"/>
                    </a:lnTo>
                    <a:lnTo>
                      <a:pt x="90" y="0"/>
                    </a:lnTo>
                    <a:lnTo>
                      <a:pt x="95" y="5"/>
                    </a:lnTo>
                    <a:lnTo>
                      <a:pt x="100" y="10"/>
                    </a:lnTo>
                    <a:lnTo>
                      <a:pt x="100" y="10"/>
                    </a:lnTo>
                    <a:lnTo>
                      <a:pt x="95" y="16"/>
                    </a:lnTo>
                    <a:lnTo>
                      <a:pt x="95" y="21"/>
                    </a:lnTo>
                    <a:lnTo>
                      <a:pt x="95" y="26"/>
                    </a:lnTo>
                    <a:lnTo>
                      <a:pt x="90" y="31"/>
                    </a:lnTo>
                    <a:lnTo>
                      <a:pt x="90" y="36"/>
                    </a:lnTo>
                    <a:lnTo>
                      <a:pt x="84" y="41"/>
                    </a:lnTo>
                    <a:lnTo>
                      <a:pt x="79" y="52"/>
                    </a:lnTo>
                    <a:lnTo>
                      <a:pt x="74" y="72"/>
                    </a:lnTo>
                    <a:lnTo>
                      <a:pt x="63" y="88"/>
                    </a:lnTo>
                    <a:lnTo>
                      <a:pt x="53" y="103"/>
                    </a:lnTo>
                    <a:lnTo>
                      <a:pt x="42" y="114"/>
                    </a:lnTo>
                    <a:lnTo>
                      <a:pt x="42" y="114"/>
                    </a:lnTo>
                  </a:path>
                </a:pathLst>
              </a:custGeom>
              <a:grpFill/>
              <a:ln w="5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2" name="Freeform 81"/>
              <p:cNvSpPr/>
              <p:nvPr/>
            </p:nvSpPr>
            <p:spPr bwMode="auto">
              <a:xfrm>
                <a:off x="9085915" y="3112631"/>
                <a:ext cx="107950" cy="31750"/>
              </a:xfrm>
              <a:custGeom>
                <a:avLst/>
                <a:gdLst/>
                <a:ahLst/>
                <a:cxnLst>
                  <a:cxn ang="0">
                    <a:pos x="31" y="5"/>
                  </a:cxn>
                  <a:cxn ang="0">
                    <a:pos x="36" y="5"/>
                  </a:cxn>
                  <a:cxn ang="0">
                    <a:pos x="42" y="0"/>
                  </a:cxn>
                  <a:cxn ang="0">
                    <a:pos x="52" y="0"/>
                  </a:cxn>
                  <a:cxn ang="0">
                    <a:pos x="57" y="0"/>
                  </a:cxn>
                  <a:cxn ang="0">
                    <a:pos x="63" y="0"/>
                  </a:cxn>
                  <a:cxn ang="0">
                    <a:pos x="63" y="0"/>
                  </a:cxn>
                  <a:cxn ang="0">
                    <a:pos x="68" y="5"/>
                  </a:cxn>
                  <a:cxn ang="0">
                    <a:pos x="68" y="5"/>
                  </a:cxn>
                  <a:cxn ang="0">
                    <a:pos x="63" y="5"/>
                  </a:cxn>
                  <a:cxn ang="0">
                    <a:pos x="63" y="10"/>
                  </a:cxn>
                  <a:cxn ang="0">
                    <a:pos x="63" y="10"/>
                  </a:cxn>
                  <a:cxn ang="0">
                    <a:pos x="57" y="15"/>
                  </a:cxn>
                  <a:cxn ang="0">
                    <a:pos x="47" y="15"/>
                  </a:cxn>
                  <a:cxn ang="0">
                    <a:pos x="36" y="15"/>
                  </a:cxn>
                  <a:cxn ang="0">
                    <a:pos x="26" y="20"/>
                  </a:cxn>
                  <a:cxn ang="0">
                    <a:pos x="15" y="20"/>
                  </a:cxn>
                  <a:cxn ang="0">
                    <a:pos x="0" y="20"/>
                  </a:cxn>
                  <a:cxn ang="0">
                    <a:pos x="0" y="15"/>
                  </a:cxn>
                  <a:cxn ang="0">
                    <a:pos x="15" y="10"/>
                  </a:cxn>
                  <a:cxn ang="0">
                    <a:pos x="31" y="5"/>
                  </a:cxn>
                  <a:cxn ang="0">
                    <a:pos x="31" y="5"/>
                  </a:cxn>
                </a:cxnLst>
                <a:rect l="0" t="0" r="r" b="b"/>
                <a:pathLst>
                  <a:path w="68" h="20">
                    <a:moveTo>
                      <a:pt x="31" y="5"/>
                    </a:moveTo>
                    <a:lnTo>
                      <a:pt x="36" y="5"/>
                    </a:lnTo>
                    <a:lnTo>
                      <a:pt x="42" y="0"/>
                    </a:lnTo>
                    <a:lnTo>
                      <a:pt x="52" y="0"/>
                    </a:lnTo>
                    <a:lnTo>
                      <a:pt x="57" y="0"/>
                    </a:lnTo>
                    <a:lnTo>
                      <a:pt x="63" y="0"/>
                    </a:lnTo>
                    <a:lnTo>
                      <a:pt x="63" y="0"/>
                    </a:lnTo>
                    <a:lnTo>
                      <a:pt x="68" y="5"/>
                    </a:lnTo>
                    <a:lnTo>
                      <a:pt x="68" y="5"/>
                    </a:lnTo>
                    <a:lnTo>
                      <a:pt x="63" y="5"/>
                    </a:lnTo>
                    <a:lnTo>
                      <a:pt x="63" y="10"/>
                    </a:lnTo>
                    <a:lnTo>
                      <a:pt x="63" y="10"/>
                    </a:lnTo>
                    <a:lnTo>
                      <a:pt x="57" y="15"/>
                    </a:lnTo>
                    <a:lnTo>
                      <a:pt x="47" y="15"/>
                    </a:lnTo>
                    <a:lnTo>
                      <a:pt x="36" y="15"/>
                    </a:lnTo>
                    <a:lnTo>
                      <a:pt x="26" y="20"/>
                    </a:lnTo>
                    <a:lnTo>
                      <a:pt x="15" y="20"/>
                    </a:lnTo>
                    <a:lnTo>
                      <a:pt x="0" y="20"/>
                    </a:lnTo>
                    <a:lnTo>
                      <a:pt x="0" y="15"/>
                    </a:lnTo>
                    <a:lnTo>
                      <a:pt x="15" y="10"/>
                    </a:lnTo>
                    <a:lnTo>
                      <a:pt x="31" y="5"/>
                    </a:lnTo>
                    <a:lnTo>
                      <a:pt x="31" y="5"/>
                    </a:lnTo>
                  </a:path>
                </a:pathLst>
              </a:custGeom>
              <a:grpFill/>
              <a:ln w="5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3" name="Freeform 86"/>
              <p:cNvSpPr/>
              <p:nvPr/>
            </p:nvSpPr>
            <p:spPr bwMode="auto">
              <a:xfrm>
                <a:off x="9076390" y="3201531"/>
                <a:ext cx="117475" cy="204788"/>
              </a:xfrm>
              <a:custGeom>
                <a:avLst/>
                <a:gdLst/>
                <a:ahLst/>
                <a:cxnLst>
                  <a:cxn ang="0">
                    <a:pos x="27" y="36"/>
                  </a:cxn>
                  <a:cxn ang="0">
                    <a:pos x="27" y="47"/>
                  </a:cxn>
                  <a:cxn ang="0">
                    <a:pos x="27" y="57"/>
                  </a:cxn>
                  <a:cxn ang="0">
                    <a:pos x="27" y="67"/>
                  </a:cxn>
                  <a:cxn ang="0">
                    <a:pos x="27" y="78"/>
                  </a:cxn>
                  <a:cxn ang="0">
                    <a:pos x="27" y="88"/>
                  </a:cxn>
                  <a:cxn ang="0">
                    <a:pos x="27" y="88"/>
                  </a:cxn>
                  <a:cxn ang="0">
                    <a:pos x="27" y="88"/>
                  </a:cxn>
                  <a:cxn ang="0">
                    <a:pos x="32" y="88"/>
                  </a:cxn>
                  <a:cxn ang="0">
                    <a:pos x="42" y="83"/>
                  </a:cxn>
                  <a:cxn ang="0">
                    <a:pos x="53" y="78"/>
                  </a:cxn>
                  <a:cxn ang="0">
                    <a:pos x="63" y="73"/>
                  </a:cxn>
                  <a:cxn ang="0">
                    <a:pos x="69" y="73"/>
                  </a:cxn>
                  <a:cxn ang="0">
                    <a:pos x="74" y="67"/>
                  </a:cxn>
                  <a:cxn ang="0">
                    <a:pos x="74" y="67"/>
                  </a:cxn>
                  <a:cxn ang="0">
                    <a:pos x="74" y="73"/>
                  </a:cxn>
                  <a:cxn ang="0">
                    <a:pos x="74" y="73"/>
                  </a:cxn>
                  <a:cxn ang="0">
                    <a:pos x="69" y="78"/>
                  </a:cxn>
                  <a:cxn ang="0">
                    <a:pos x="69" y="78"/>
                  </a:cxn>
                  <a:cxn ang="0">
                    <a:pos x="63" y="83"/>
                  </a:cxn>
                  <a:cxn ang="0">
                    <a:pos x="53" y="88"/>
                  </a:cxn>
                  <a:cxn ang="0">
                    <a:pos x="48" y="93"/>
                  </a:cxn>
                  <a:cxn ang="0">
                    <a:pos x="37" y="103"/>
                  </a:cxn>
                  <a:cxn ang="0">
                    <a:pos x="32" y="109"/>
                  </a:cxn>
                  <a:cxn ang="0">
                    <a:pos x="27" y="114"/>
                  </a:cxn>
                  <a:cxn ang="0">
                    <a:pos x="21" y="119"/>
                  </a:cxn>
                  <a:cxn ang="0">
                    <a:pos x="16" y="124"/>
                  </a:cxn>
                  <a:cxn ang="0">
                    <a:pos x="16" y="129"/>
                  </a:cxn>
                  <a:cxn ang="0">
                    <a:pos x="11" y="129"/>
                  </a:cxn>
                  <a:cxn ang="0">
                    <a:pos x="11" y="129"/>
                  </a:cxn>
                  <a:cxn ang="0">
                    <a:pos x="6" y="129"/>
                  </a:cxn>
                  <a:cxn ang="0">
                    <a:pos x="6" y="129"/>
                  </a:cxn>
                  <a:cxn ang="0">
                    <a:pos x="6" y="124"/>
                  </a:cxn>
                  <a:cxn ang="0">
                    <a:pos x="0" y="119"/>
                  </a:cxn>
                  <a:cxn ang="0">
                    <a:pos x="0" y="114"/>
                  </a:cxn>
                  <a:cxn ang="0">
                    <a:pos x="0" y="109"/>
                  </a:cxn>
                  <a:cxn ang="0">
                    <a:pos x="6" y="98"/>
                  </a:cxn>
                  <a:cxn ang="0">
                    <a:pos x="11" y="98"/>
                  </a:cxn>
                  <a:cxn ang="0">
                    <a:pos x="11" y="88"/>
                  </a:cxn>
                  <a:cxn ang="0">
                    <a:pos x="11" y="78"/>
                  </a:cxn>
                  <a:cxn ang="0">
                    <a:pos x="16" y="62"/>
                  </a:cxn>
                  <a:cxn ang="0">
                    <a:pos x="11" y="31"/>
                  </a:cxn>
                  <a:cxn ang="0">
                    <a:pos x="11" y="0"/>
                  </a:cxn>
                  <a:cxn ang="0">
                    <a:pos x="21" y="5"/>
                  </a:cxn>
                  <a:cxn ang="0">
                    <a:pos x="27" y="11"/>
                  </a:cxn>
                  <a:cxn ang="0">
                    <a:pos x="32" y="11"/>
                  </a:cxn>
                  <a:cxn ang="0">
                    <a:pos x="32" y="11"/>
                  </a:cxn>
                  <a:cxn ang="0">
                    <a:pos x="32" y="16"/>
                  </a:cxn>
                  <a:cxn ang="0">
                    <a:pos x="32" y="21"/>
                  </a:cxn>
                  <a:cxn ang="0">
                    <a:pos x="27" y="26"/>
                  </a:cxn>
                  <a:cxn ang="0">
                    <a:pos x="27" y="36"/>
                  </a:cxn>
                  <a:cxn ang="0">
                    <a:pos x="27" y="36"/>
                  </a:cxn>
                </a:cxnLst>
                <a:rect l="0" t="0" r="r" b="b"/>
                <a:pathLst>
                  <a:path w="74" h="129">
                    <a:moveTo>
                      <a:pt x="27" y="36"/>
                    </a:moveTo>
                    <a:lnTo>
                      <a:pt x="27" y="47"/>
                    </a:lnTo>
                    <a:lnTo>
                      <a:pt x="27" y="57"/>
                    </a:lnTo>
                    <a:lnTo>
                      <a:pt x="27" y="67"/>
                    </a:lnTo>
                    <a:lnTo>
                      <a:pt x="27" y="78"/>
                    </a:lnTo>
                    <a:lnTo>
                      <a:pt x="27" y="88"/>
                    </a:lnTo>
                    <a:lnTo>
                      <a:pt x="27" y="88"/>
                    </a:lnTo>
                    <a:lnTo>
                      <a:pt x="27" y="88"/>
                    </a:lnTo>
                    <a:lnTo>
                      <a:pt x="32" y="88"/>
                    </a:lnTo>
                    <a:lnTo>
                      <a:pt x="42" y="83"/>
                    </a:lnTo>
                    <a:lnTo>
                      <a:pt x="53" y="78"/>
                    </a:lnTo>
                    <a:lnTo>
                      <a:pt x="63" y="73"/>
                    </a:lnTo>
                    <a:lnTo>
                      <a:pt x="69" y="73"/>
                    </a:lnTo>
                    <a:lnTo>
                      <a:pt x="74" y="67"/>
                    </a:lnTo>
                    <a:lnTo>
                      <a:pt x="74" y="67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69" y="78"/>
                    </a:lnTo>
                    <a:lnTo>
                      <a:pt x="69" y="78"/>
                    </a:lnTo>
                    <a:lnTo>
                      <a:pt x="63" y="83"/>
                    </a:lnTo>
                    <a:lnTo>
                      <a:pt x="53" y="88"/>
                    </a:lnTo>
                    <a:lnTo>
                      <a:pt x="48" y="93"/>
                    </a:lnTo>
                    <a:lnTo>
                      <a:pt x="37" y="103"/>
                    </a:lnTo>
                    <a:lnTo>
                      <a:pt x="32" y="109"/>
                    </a:lnTo>
                    <a:lnTo>
                      <a:pt x="27" y="114"/>
                    </a:lnTo>
                    <a:lnTo>
                      <a:pt x="21" y="119"/>
                    </a:lnTo>
                    <a:lnTo>
                      <a:pt x="16" y="124"/>
                    </a:lnTo>
                    <a:lnTo>
                      <a:pt x="16" y="129"/>
                    </a:lnTo>
                    <a:lnTo>
                      <a:pt x="11" y="129"/>
                    </a:lnTo>
                    <a:lnTo>
                      <a:pt x="11" y="129"/>
                    </a:lnTo>
                    <a:lnTo>
                      <a:pt x="6" y="129"/>
                    </a:lnTo>
                    <a:lnTo>
                      <a:pt x="6" y="129"/>
                    </a:lnTo>
                    <a:lnTo>
                      <a:pt x="6" y="124"/>
                    </a:lnTo>
                    <a:lnTo>
                      <a:pt x="0" y="119"/>
                    </a:lnTo>
                    <a:lnTo>
                      <a:pt x="0" y="114"/>
                    </a:lnTo>
                    <a:lnTo>
                      <a:pt x="0" y="109"/>
                    </a:lnTo>
                    <a:lnTo>
                      <a:pt x="6" y="98"/>
                    </a:lnTo>
                    <a:lnTo>
                      <a:pt x="11" y="98"/>
                    </a:lnTo>
                    <a:lnTo>
                      <a:pt x="11" y="88"/>
                    </a:lnTo>
                    <a:lnTo>
                      <a:pt x="11" y="78"/>
                    </a:lnTo>
                    <a:lnTo>
                      <a:pt x="16" y="62"/>
                    </a:lnTo>
                    <a:lnTo>
                      <a:pt x="11" y="31"/>
                    </a:lnTo>
                    <a:lnTo>
                      <a:pt x="11" y="0"/>
                    </a:lnTo>
                    <a:lnTo>
                      <a:pt x="21" y="5"/>
                    </a:lnTo>
                    <a:lnTo>
                      <a:pt x="27" y="11"/>
                    </a:lnTo>
                    <a:lnTo>
                      <a:pt x="32" y="11"/>
                    </a:lnTo>
                    <a:lnTo>
                      <a:pt x="32" y="11"/>
                    </a:lnTo>
                    <a:lnTo>
                      <a:pt x="32" y="16"/>
                    </a:lnTo>
                    <a:lnTo>
                      <a:pt x="32" y="21"/>
                    </a:lnTo>
                    <a:lnTo>
                      <a:pt x="27" y="26"/>
                    </a:lnTo>
                    <a:lnTo>
                      <a:pt x="27" y="36"/>
                    </a:lnTo>
                    <a:lnTo>
                      <a:pt x="27" y="36"/>
                    </a:lnTo>
                  </a:path>
                </a:pathLst>
              </a:custGeom>
              <a:grpFill/>
              <a:ln w="5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4" name="Freeform 87"/>
              <p:cNvSpPr/>
              <p:nvPr/>
            </p:nvSpPr>
            <p:spPr bwMode="auto">
              <a:xfrm>
                <a:off x="9043053" y="3185656"/>
                <a:ext cx="125413" cy="33338"/>
              </a:xfrm>
              <a:custGeom>
                <a:avLst/>
                <a:gdLst/>
                <a:ahLst/>
                <a:cxnLst>
                  <a:cxn ang="0">
                    <a:pos x="32" y="5"/>
                  </a:cxn>
                  <a:cxn ang="0">
                    <a:pos x="48" y="5"/>
                  </a:cxn>
                  <a:cxn ang="0">
                    <a:pos x="58" y="0"/>
                  </a:cxn>
                  <a:cxn ang="0">
                    <a:pos x="63" y="0"/>
                  </a:cxn>
                  <a:cxn ang="0">
                    <a:pos x="69" y="0"/>
                  </a:cxn>
                  <a:cxn ang="0">
                    <a:pos x="74" y="0"/>
                  </a:cxn>
                  <a:cxn ang="0">
                    <a:pos x="79" y="0"/>
                  </a:cxn>
                  <a:cxn ang="0">
                    <a:pos x="79" y="0"/>
                  </a:cxn>
                  <a:cxn ang="0">
                    <a:pos x="79" y="0"/>
                  </a:cxn>
                  <a:cxn ang="0">
                    <a:pos x="79" y="5"/>
                  </a:cxn>
                  <a:cxn ang="0">
                    <a:pos x="74" y="5"/>
                  </a:cxn>
                  <a:cxn ang="0">
                    <a:pos x="69" y="10"/>
                  </a:cxn>
                  <a:cxn ang="0">
                    <a:pos x="58" y="10"/>
                  </a:cxn>
                  <a:cxn ang="0">
                    <a:pos x="42" y="15"/>
                  </a:cxn>
                  <a:cxn ang="0">
                    <a:pos x="32" y="21"/>
                  </a:cxn>
                  <a:cxn ang="0">
                    <a:pos x="16" y="21"/>
                  </a:cxn>
                  <a:cxn ang="0">
                    <a:pos x="0" y="21"/>
                  </a:cxn>
                  <a:cxn ang="0">
                    <a:pos x="0" y="15"/>
                  </a:cxn>
                  <a:cxn ang="0">
                    <a:pos x="6" y="15"/>
                  </a:cxn>
                  <a:cxn ang="0">
                    <a:pos x="11" y="10"/>
                  </a:cxn>
                  <a:cxn ang="0">
                    <a:pos x="21" y="10"/>
                  </a:cxn>
                  <a:cxn ang="0">
                    <a:pos x="32" y="5"/>
                  </a:cxn>
                  <a:cxn ang="0">
                    <a:pos x="32" y="5"/>
                  </a:cxn>
                </a:cxnLst>
                <a:rect l="0" t="0" r="r" b="b"/>
                <a:pathLst>
                  <a:path w="79" h="21">
                    <a:moveTo>
                      <a:pt x="32" y="5"/>
                    </a:moveTo>
                    <a:lnTo>
                      <a:pt x="48" y="5"/>
                    </a:lnTo>
                    <a:lnTo>
                      <a:pt x="58" y="0"/>
                    </a:lnTo>
                    <a:lnTo>
                      <a:pt x="63" y="0"/>
                    </a:lnTo>
                    <a:lnTo>
                      <a:pt x="69" y="0"/>
                    </a:lnTo>
                    <a:lnTo>
                      <a:pt x="74" y="0"/>
                    </a:lnTo>
                    <a:lnTo>
                      <a:pt x="79" y="0"/>
                    </a:lnTo>
                    <a:lnTo>
                      <a:pt x="79" y="0"/>
                    </a:lnTo>
                    <a:lnTo>
                      <a:pt x="79" y="0"/>
                    </a:lnTo>
                    <a:lnTo>
                      <a:pt x="79" y="5"/>
                    </a:lnTo>
                    <a:lnTo>
                      <a:pt x="74" y="5"/>
                    </a:lnTo>
                    <a:lnTo>
                      <a:pt x="69" y="10"/>
                    </a:lnTo>
                    <a:lnTo>
                      <a:pt x="58" y="10"/>
                    </a:lnTo>
                    <a:lnTo>
                      <a:pt x="42" y="15"/>
                    </a:lnTo>
                    <a:lnTo>
                      <a:pt x="32" y="21"/>
                    </a:lnTo>
                    <a:lnTo>
                      <a:pt x="16" y="21"/>
                    </a:lnTo>
                    <a:lnTo>
                      <a:pt x="0" y="21"/>
                    </a:lnTo>
                    <a:lnTo>
                      <a:pt x="0" y="15"/>
                    </a:lnTo>
                    <a:lnTo>
                      <a:pt x="6" y="15"/>
                    </a:lnTo>
                    <a:lnTo>
                      <a:pt x="11" y="10"/>
                    </a:lnTo>
                    <a:lnTo>
                      <a:pt x="21" y="10"/>
                    </a:lnTo>
                    <a:lnTo>
                      <a:pt x="32" y="5"/>
                    </a:lnTo>
                    <a:lnTo>
                      <a:pt x="32" y="5"/>
                    </a:lnTo>
                  </a:path>
                </a:pathLst>
              </a:custGeom>
              <a:grpFill/>
              <a:ln w="5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5" name="Freeform 88"/>
              <p:cNvSpPr/>
              <p:nvPr/>
            </p:nvSpPr>
            <p:spPr bwMode="auto">
              <a:xfrm>
                <a:off x="9027178" y="3242806"/>
                <a:ext cx="149225" cy="49213"/>
              </a:xfrm>
              <a:custGeom>
                <a:avLst/>
                <a:gdLst/>
                <a:ahLst/>
                <a:cxnLst>
                  <a:cxn ang="0">
                    <a:pos x="94" y="10"/>
                  </a:cxn>
                  <a:cxn ang="0">
                    <a:pos x="94" y="10"/>
                  </a:cxn>
                  <a:cxn ang="0">
                    <a:pos x="94" y="10"/>
                  </a:cxn>
                  <a:cxn ang="0">
                    <a:pos x="94" y="10"/>
                  </a:cxn>
                  <a:cxn ang="0">
                    <a:pos x="89" y="10"/>
                  </a:cxn>
                  <a:cxn ang="0">
                    <a:pos x="84" y="16"/>
                  </a:cxn>
                  <a:cxn ang="0">
                    <a:pos x="79" y="16"/>
                  </a:cxn>
                  <a:cxn ang="0">
                    <a:pos x="73" y="16"/>
                  </a:cxn>
                  <a:cxn ang="0">
                    <a:pos x="63" y="21"/>
                  </a:cxn>
                  <a:cxn ang="0">
                    <a:pos x="47" y="26"/>
                  </a:cxn>
                  <a:cxn ang="0">
                    <a:pos x="37" y="26"/>
                  </a:cxn>
                  <a:cxn ang="0">
                    <a:pos x="26" y="31"/>
                  </a:cxn>
                  <a:cxn ang="0">
                    <a:pos x="21" y="31"/>
                  </a:cxn>
                  <a:cxn ang="0">
                    <a:pos x="10" y="26"/>
                  </a:cxn>
                  <a:cxn ang="0">
                    <a:pos x="0" y="26"/>
                  </a:cxn>
                  <a:cxn ang="0">
                    <a:pos x="16" y="21"/>
                  </a:cxn>
                  <a:cxn ang="0">
                    <a:pos x="31" y="16"/>
                  </a:cxn>
                  <a:cxn ang="0">
                    <a:pos x="42" y="16"/>
                  </a:cxn>
                  <a:cxn ang="0">
                    <a:pos x="52" y="10"/>
                  </a:cxn>
                  <a:cxn ang="0">
                    <a:pos x="58" y="10"/>
                  </a:cxn>
                  <a:cxn ang="0">
                    <a:pos x="68" y="5"/>
                  </a:cxn>
                  <a:cxn ang="0">
                    <a:pos x="73" y="5"/>
                  </a:cxn>
                  <a:cxn ang="0">
                    <a:pos x="73" y="5"/>
                  </a:cxn>
                  <a:cxn ang="0">
                    <a:pos x="79" y="0"/>
                  </a:cxn>
                  <a:cxn ang="0">
                    <a:pos x="84" y="0"/>
                  </a:cxn>
                  <a:cxn ang="0">
                    <a:pos x="94" y="0"/>
                  </a:cxn>
                  <a:cxn ang="0">
                    <a:pos x="94" y="5"/>
                  </a:cxn>
                  <a:cxn ang="0">
                    <a:pos x="94" y="10"/>
                  </a:cxn>
                  <a:cxn ang="0">
                    <a:pos x="94" y="10"/>
                  </a:cxn>
                </a:cxnLst>
                <a:rect l="0" t="0" r="r" b="b"/>
                <a:pathLst>
                  <a:path w="94" h="31">
                    <a:moveTo>
                      <a:pt x="94" y="10"/>
                    </a:moveTo>
                    <a:lnTo>
                      <a:pt x="94" y="10"/>
                    </a:lnTo>
                    <a:lnTo>
                      <a:pt x="94" y="10"/>
                    </a:lnTo>
                    <a:lnTo>
                      <a:pt x="94" y="10"/>
                    </a:lnTo>
                    <a:lnTo>
                      <a:pt x="89" y="10"/>
                    </a:lnTo>
                    <a:lnTo>
                      <a:pt x="84" y="16"/>
                    </a:lnTo>
                    <a:lnTo>
                      <a:pt x="79" y="16"/>
                    </a:lnTo>
                    <a:lnTo>
                      <a:pt x="73" y="16"/>
                    </a:lnTo>
                    <a:lnTo>
                      <a:pt x="63" y="21"/>
                    </a:lnTo>
                    <a:lnTo>
                      <a:pt x="47" y="26"/>
                    </a:lnTo>
                    <a:lnTo>
                      <a:pt x="37" y="26"/>
                    </a:lnTo>
                    <a:lnTo>
                      <a:pt x="26" y="31"/>
                    </a:lnTo>
                    <a:lnTo>
                      <a:pt x="21" y="31"/>
                    </a:lnTo>
                    <a:lnTo>
                      <a:pt x="10" y="26"/>
                    </a:lnTo>
                    <a:lnTo>
                      <a:pt x="0" y="26"/>
                    </a:lnTo>
                    <a:lnTo>
                      <a:pt x="16" y="21"/>
                    </a:lnTo>
                    <a:lnTo>
                      <a:pt x="31" y="16"/>
                    </a:lnTo>
                    <a:lnTo>
                      <a:pt x="42" y="16"/>
                    </a:lnTo>
                    <a:lnTo>
                      <a:pt x="52" y="10"/>
                    </a:lnTo>
                    <a:lnTo>
                      <a:pt x="58" y="10"/>
                    </a:lnTo>
                    <a:lnTo>
                      <a:pt x="68" y="5"/>
                    </a:lnTo>
                    <a:lnTo>
                      <a:pt x="73" y="5"/>
                    </a:lnTo>
                    <a:lnTo>
                      <a:pt x="73" y="5"/>
                    </a:lnTo>
                    <a:lnTo>
                      <a:pt x="79" y="0"/>
                    </a:lnTo>
                    <a:lnTo>
                      <a:pt x="84" y="0"/>
                    </a:lnTo>
                    <a:lnTo>
                      <a:pt x="94" y="0"/>
                    </a:lnTo>
                    <a:lnTo>
                      <a:pt x="94" y="5"/>
                    </a:lnTo>
                    <a:lnTo>
                      <a:pt x="94" y="10"/>
                    </a:lnTo>
                    <a:lnTo>
                      <a:pt x="94" y="10"/>
                    </a:lnTo>
                  </a:path>
                </a:pathLst>
              </a:custGeom>
              <a:grpFill/>
              <a:ln w="5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6" name="组合 165"/>
            <p:cNvGrpSpPr>
              <a:grpSpLocks noChangeAspect="1"/>
            </p:cNvGrpSpPr>
            <p:nvPr/>
          </p:nvGrpSpPr>
          <p:grpSpPr>
            <a:xfrm>
              <a:off x="7508929" y="1193780"/>
              <a:ext cx="108000" cy="118341"/>
              <a:chOff x="6408902" y="5886739"/>
              <a:chExt cx="149340" cy="163513"/>
            </a:xfrm>
            <a:solidFill>
              <a:schemeClr val="tx1"/>
            </a:solidFill>
          </p:grpSpPr>
          <p:sp>
            <p:nvSpPr>
              <p:cNvPr id="167" name="Freeform 123"/>
              <p:cNvSpPr/>
              <p:nvPr/>
            </p:nvSpPr>
            <p:spPr bwMode="auto">
              <a:xfrm>
                <a:off x="6408902" y="5904202"/>
                <a:ext cx="50800" cy="146050"/>
              </a:xfrm>
              <a:custGeom>
                <a:avLst/>
                <a:gdLst/>
                <a:ahLst/>
                <a:cxnLst>
                  <a:cxn ang="0">
                    <a:pos x="32" y="51"/>
                  </a:cxn>
                  <a:cxn ang="0">
                    <a:pos x="32" y="61"/>
                  </a:cxn>
                  <a:cxn ang="0">
                    <a:pos x="32" y="67"/>
                  </a:cxn>
                  <a:cxn ang="0">
                    <a:pos x="32" y="77"/>
                  </a:cxn>
                  <a:cxn ang="0">
                    <a:pos x="32" y="82"/>
                  </a:cxn>
                  <a:cxn ang="0">
                    <a:pos x="32" y="87"/>
                  </a:cxn>
                  <a:cxn ang="0">
                    <a:pos x="32" y="87"/>
                  </a:cxn>
                  <a:cxn ang="0">
                    <a:pos x="32" y="92"/>
                  </a:cxn>
                  <a:cxn ang="0">
                    <a:pos x="32" y="92"/>
                  </a:cxn>
                  <a:cxn ang="0">
                    <a:pos x="26" y="92"/>
                  </a:cxn>
                  <a:cxn ang="0">
                    <a:pos x="26" y="92"/>
                  </a:cxn>
                  <a:cxn ang="0">
                    <a:pos x="26" y="87"/>
                  </a:cxn>
                  <a:cxn ang="0">
                    <a:pos x="21" y="82"/>
                  </a:cxn>
                  <a:cxn ang="0">
                    <a:pos x="21" y="77"/>
                  </a:cxn>
                  <a:cxn ang="0">
                    <a:pos x="16" y="77"/>
                  </a:cxn>
                  <a:cxn ang="0">
                    <a:pos x="16" y="67"/>
                  </a:cxn>
                  <a:cxn ang="0">
                    <a:pos x="16" y="67"/>
                  </a:cxn>
                  <a:cxn ang="0">
                    <a:pos x="16" y="56"/>
                  </a:cxn>
                  <a:cxn ang="0">
                    <a:pos x="16" y="51"/>
                  </a:cxn>
                  <a:cxn ang="0">
                    <a:pos x="11" y="41"/>
                  </a:cxn>
                  <a:cxn ang="0">
                    <a:pos x="11" y="30"/>
                  </a:cxn>
                  <a:cxn ang="0">
                    <a:pos x="11" y="25"/>
                  </a:cxn>
                  <a:cxn ang="0">
                    <a:pos x="5" y="20"/>
                  </a:cxn>
                  <a:cxn ang="0">
                    <a:pos x="5" y="15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5" y="0"/>
                  </a:cxn>
                  <a:cxn ang="0">
                    <a:pos x="5" y="0"/>
                  </a:cxn>
                  <a:cxn ang="0">
                    <a:pos x="11" y="0"/>
                  </a:cxn>
                  <a:cxn ang="0">
                    <a:pos x="21" y="5"/>
                  </a:cxn>
                  <a:cxn ang="0">
                    <a:pos x="26" y="5"/>
                  </a:cxn>
                  <a:cxn ang="0">
                    <a:pos x="26" y="10"/>
                  </a:cxn>
                  <a:cxn ang="0">
                    <a:pos x="26" y="20"/>
                  </a:cxn>
                  <a:cxn ang="0">
                    <a:pos x="26" y="36"/>
                  </a:cxn>
                  <a:cxn ang="0">
                    <a:pos x="32" y="51"/>
                  </a:cxn>
                  <a:cxn ang="0">
                    <a:pos x="32" y="51"/>
                  </a:cxn>
                </a:cxnLst>
                <a:rect l="0" t="0" r="r" b="b"/>
                <a:pathLst>
                  <a:path w="32" h="92">
                    <a:moveTo>
                      <a:pt x="32" y="51"/>
                    </a:moveTo>
                    <a:lnTo>
                      <a:pt x="32" y="61"/>
                    </a:lnTo>
                    <a:lnTo>
                      <a:pt x="32" y="67"/>
                    </a:lnTo>
                    <a:lnTo>
                      <a:pt x="32" y="77"/>
                    </a:lnTo>
                    <a:lnTo>
                      <a:pt x="32" y="82"/>
                    </a:lnTo>
                    <a:lnTo>
                      <a:pt x="32" y="87"/>
                    </a:lnTo>
                    <a:lnTo>
                      <a:pt x="32" y="87"/>
                    </a:lnTo>
                    <a:lnTo>
                      <a:pt x="32" y="92"/>
                    </a:lnTo>
                    <a:lnTo>
                      <a:pt x="32" y="92"/>
                    </a:lnTo>
                    <a:lnTo>
                      <a:pt x="26" y="92"/>
                    </a:lnTo>
                    <a:lnTo>
                      <a:pt x="26" y="92"/>
                    </a:lnTo>
                    <a:lnTo>
                      <a:pt x="26" y="87"/>
                    </a:lnTo>
                    <a:lnTo>
                      <a:pt x="21" y="82"/>
                    </a:lnTo>
                    <a:lnTo>
                      <a:pt x="21" y="77"/>
                    </a:lnTo>
                    <a:lnTo>
                      <a:pt x="16" y="77"/>
                    </a:lnTo>
                    <a:lnTo>
                      <a:pt x="16" y="67"/>
                    </a:lnTo>
                    <a:lnTo>
                      <a:pt x="16" y="67"/>
                    </a:lnTo>
                    <a:lnTo>
                      <a:pt x="16" y="56"/>
                    </a:lnTo>
                    <a:lnTo>
                      <a:pt x="16" y="51"/>
                    </a:lnTo>
                    <a:lnTo>
                      <a:pt x="11" y="41"/>
                    </a:lnTo>
                    <a:lnTo>
                      <a:pt x="11" y="30"/>
                    </a:lnTo>
                    <a:lnTo>
                      <a:pt x="11" y="25"/>
                    </a:lnTo>
                    <a:lnTo>
                      <a:pt x="5" y="20"/>
                    </a:lnTo>
                    <a:lnTo>
                      <a:pt x="5" y="15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11" y="0"/>
                    </a:lnTo>
                    <a:lnTo>
                      <a:pt x="21" y="5"/>
                    </a:lnTo>
                    <a:lnTo>
                      <a:pt x="26" y="5"/>
                    </a:lnTo>
                    <a:lnTo>
                      <a:pt x="26" y="10"/>
                    </a:lnTo>
                    <a:lnTo>
                      <a:pt x="26" y="20"/>
                    </a:lnTo>
                    <a:lnTo>
                      <a:pt x="26" y="36"/>
                    </a:lnTo>
                    <a:lnTo>
                      <a:pt x="32" y="51"/>
                    </a:lnTo>
                    <a:lnTo>
                      <a:pt x="32" y="51"/>
                    </a:lnTo>
                  </a:path>
                </a:pathLst>
              </a:custGeom>
              <a:grpFill/>
              <a:ln w="5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8" name="Freeform 124"/>
              <p:cNvSpPr/>
              <p:nvPr/>
            </p:nvSpPr>
            <p:spPr bwMode="auto">
              <a:xfrm>
                <a:off x="6426478" y="5886739"/>
                <a:ext cx="131764" cy="106363"/>
              </a:xfrm>
              <a:custGeom>
                <a:avLst/>
                <a:gdLst/>
                <a:ahLst/>
                <a:cxnLst>
                  <a:cxn ang="0">
                    <a:pos x="57" y="0"/>
                  </a:cxn>
                  <a:cxn ang="0">
                    <a:pos x="62" y="0"/>
                  </a:cxn>
                  <a:cxn ang="0">
                    <a:pos x="62" y="0"/>
                  </a:cxn>
                  <a:cxn ang="0">
                    <a:pos x="73" y="5"/>
                  </a:cxn>
                  <a:cxn ang="0">
                    <a:pos x="78" y="11"/>
                  </a:cxn>
                  <a:cxn ang="0">
                    <a:pos x="83" y="11"/>
                  </a:cxn>
                  <a:cxn ang="0">
                    <a:pos x="83" y="16"/>
                  </a:cxn>
                  <a:cxn ang="0">
                    <a:pos x="83" y="16"/>
                  </a:cxn>
                  <a:cxn ang="0">
                    <a:pos x="83" y="21"/>
                  </a:cxn>
                  <a:cxn ang="0">
                    <a:pos x="78" y="21"/>
                  </a:cxn>
                  <a:cxn ang="0">
                    <a:pos x="78" y="21"/>
                  </a:cxn>
                  <a:cxn ang="0">
                    <a:pos x="78" y="26"/>
                  </a:cxn>
                  <a:cxn ang="0">
                    <a:pos x="73" y="31"/>
                  </a:cxn>
                  <a:cxn ang="0">
                    <a:pos x="73" y="36"/>
                  </a:cxn>
                  <a:cxn ang="0">
                    <a:pos x="73" y="41"/>
                  </a:cxn>
                  <a:cxn ang="0">
                    <a:pos x="68" y="47"/>
                  </a:cxn>
                  <a:cxn ang="0">
                    <a:pos x="68" y="57"/>
                  </a:cxn>
                  <a:cxn ang="0">
                    <a:pos x="62" y="67"/>
                  </a:cxn>
                  <a:cxn ang="0">
                    <a:pos x="47" y="67"/>
                  </a:cxn>
                  <a:cxn ang="0">
                    <a:pos x="52" y="52"/>
                  </a:cxn>
                  <a:cxn ang="0">
                    <a:pos x="52" y="41"/>
                  </a:cxn>
                  <a:cxn ang="0">
                    <a:pos x="57" y="31"/>
                  </a:cxn>
                  <a:cxn ang="0">
                    <a:pos x="57" y="26"/>
                  </a:cxn>
                  <a:cxn ang="0">
                    <a:pos x="57" y="21"/>
                  </a:cxn>
                  <a:cxn ang="0">
                    <a:pos x="52" y="16"/>
                  </a:cxn>
                  <a:cxn ang="0">
                    <a:pos x="52" y="16"/>
                  </a:cxn>
                  <a:cxn ang="0">
                    <a:pos x="47" y="16"/>
                  </a:cxn>
                  <a:cxn ang="0">
                    <a:pos x="42" y="16"/>
                  </a:cxn>
                  <a:cxn ang="0">
                    <a:pos x="36" y="21"/>
                  </a:cxn>
                  <a:cxn ang="0">
                    <a:pos x="26" y="21"/>
                  </a:cxn>
                  <a:cxn ang="0">
                    <a:pos x="15" y="26"/>
                  </a:cxn>
                  <a:cxn ang="0">
                    <a:pos x="0" y="26"/>
                  </a:cxn>
                  <a:cxn ang="0">
                    <a:pos x="0" y="11"/>
                  </a:cxn>
                  <a:cxn ang="0">
                    <a:pos x="5" y="11"/>
                  </a:cxn>
                  <a:cxn ang="0">
                    <a:pos x="10" y="16"/>
                  </a:cxn>
                  <a:cxn ang="0">
                    <a:pos x="15" y="16"/>
                  </a:cxn>
                  <a:cxn ang="0">
                    <a:pos x="15" y="16"/>
                  </a:cxn>
                  <a:cxn ang="0">
                    <a:pos x="26" y="11"/>
                  </a:cxn>
                  <a:cxn ang="0">
                    <a:pos x="31" y="11"/>
                  </a:cxn>
                  <a:cxn ang="0">
                    <a:pos x="36" y="5"/>
                  </a:cxn>
                  <a:cxn ang="0">
                    <a:pos x="42" y="5"/>
                  </a:cxn>
                  <a:cxn ang="0">
                    <a:pos x="47" y="5"/>
                  </a:cxn>
                  <a:cxn ang="0">
                    <a:pos x="52" y="0"/>
                  </a:cxn>
                  <a:cxn ang="0">
                    <a:pos x="57" y="0"/>
                  </a:cxn>
                  <a:cxn ang="0">
                    <a:pos x="57" y="0"/>
                  </a:cxn>
                  <a:cxn ang="0">
                    <a:pos x="57" y="0"/>
                  </a:cxn>
                </a:cxnLst>
                <a:rect l="0" t="0" r="r" b="b"/>
                <a:pathLst>
                  <a:path w="83" h="67">
                    <a:moveTo>
                      <a:pt x="57" y="0"/>
                    </a:moveTo>
                    <a:lnTo>
                      <a:pt x="62" y="0"/>
                    </a:lnTo>
                    <a:lnTo>
                      <a:pt x="62" y="0"/>
                    </a:lnTo>
                    <a:lnTo>
                      <a:pt x="73" y="5"/>
                    </a:lnTo>
                    <a:lnTo>
                      <a:pt x="78" y="11"/>
                    </a:lnTo>
                    <a:lnTo>
                      <a:pt x="83" y="11"/>
                    </a:lnTo>
                    <a:lnTo>
                      <a:pt x="83" y="16"/>
                    </a:lnTo>
                    <a:lnTo>
                      <a:pt x="83" y="16"/>
                    </a:lnTo>
                    <a:lnTo>
                      <a:pt x="83" y="21"/>
                    </a:lnTo>
                    <a:lnTo>
                      <a:pt x="78" y="21"/>
                    </a:lnTo>
                    <a:lnTo>
                      <a:pt x="78" y="21"/>
                    </a:lnTo>
                    <a:lnTo>
                      <a:pt x="78" y="26"/>
                    </a:lnTo>
                    <a:lnTo>
                      <a:pt x="73" y="31"/>
                    </a:lnTo>
                    <a:lnTo>
                      <a:pt x="73" y="36"/>
                    </a:lnTo>
                    <a:lnTo>
                      <a:pt x="73" y="41"/>
                    </a:lnTo>
                    <a:lnTo>
                      <a:pt x="68" y="47"/>
                    </a:lnTo>
                    <a:lnTo>
                      <a:pt x="68" y="57"/>
                    </a:lnTo>
                    <a:lnTo>
                      <a:pt x="62" y="67"/>
                    </a:lnTo>
                    <a:lnTo>
                      <a:pt x="47" y="67"/>
                    </a:lnTo>
                    <a:lnTo>
                      <a:pt x="52" y="52"/>
                    </a:lnTo>
                    <a:lnTo>
                      <a:pt x="52" y="41"/>
                    </a:lnTo>
                    <a:lnTo>
                      <a:pt x="57" y="31"/>
                    </a:lnTo>
                    <a:lnTo>
                      <a:pt x="57" y="26"/>
                    </a:lnTo>
                    <a:lnTo>
                      <a:pt x="57" y="21"/>
                    </a:lnTo>
                    <a:lnTo>
                      <a:pt x="52" y="16"/>
                    </a:lnTo>
                    <a:lnTo>
                      <a:pt x="52" y="16"/>
                    </a:lnTo>
                    <a:lnTo>
                      <a:pt x="47" y="16"/>
                    </a:lnTo>
                    <a:lnTo>
                      <a:pt x="42" y="16"/>
                    </a:lnTo>
                    <a:lnTo>
                      <a:pt x="36" y="21"/>
                    </a:lnTo>
                    <a:lnTo>
                      <a:pt x="26" y="21"/>
                    </a:lnTo>
                    <a:lnTo>
                      <a:pt x="15" y="26"/>
                    </a:lnTo>
                    <a:lnTo>
                      <a:pt x="0" y="26"/>
                    </a:lnTo>
                    <a:lnTo>
                      <a:pt x="0" y="11"/>
                    </a:lnTo>
                    <a:lnTo>
                      <a:pt x="5" y="11"/>
                    </a:lnTo>
                    <a:lnTo>
                      <a:pt x="10" y="16"/>
                    </a:lnTo>
                    <a:lnTo>
                      <a:pt x="15" y="16"/>
                    </a:lnTo>
                    <a:lnTo>
                      <a:pt x="15" y="16"/>
                    </a:lnTo>
                    <a:lnTo>
                      <a:pt x="26" y="11"/>
                    </a:lnTo>
                    <a:lnTo>
                      <a:pt x="31" y="11"/>
                    </a:lnTo>
                    <a:lnTo>
                      <a:pt x="36" y="5"/>
                    </a:lnTo>
                    <a:lnTo>
                      <a:pt x="42" y="5"/>
                    </a:lnTo>
                    <a:lnTo>
                      <a:pt x="47" y="5"/>
                    </a:lnTo>
                    <a:lnTo>
                      <a:pt x="52" y="0"/>
                    </a:lnTo>
                    <a:lnTo>
                      <a:pt x="57" y="0"/>
                    </a:lnTo>
                    <a:lnTo>
                      <a:pt x="57" y="0"/>
                    </a:lnTo>
                    <a:lnTo>
                      <a:pt x="57" y="0"/>
                    </a:lnTo>
                  </a:path>
                </a:pathLst>
              </a:custGeom>
              <a:grpFill/>
              <a:ln w="5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9" name="Freeform 125"/>
              <p:cNvSpPr/>
              <p:nvPr/>
            </p:nvSpPr>
            <p:spPr bwMode="auto">
              <a:xfrm>
                <a:off x="6450177" y="5985164"/>
                <a:ext cx="92075" cy="33338"/>
              </a:xfrm>
              <a:custGeom>
                <a:avLst/>
                <a:gdLst/>
                <a:ahLst/>
                <a:cxnLst>
                  <a:cxn ang="0">
                    <a:pos x="58" y="5"/>
                  </a:cxn>
                  <a:cxn ang="0">
                    <a:pos x="53" y="10"/>
                  </a:cxn>
                  <a:cxn ang="0">
                    <a:pos x="53" y="10"/>
                  </a:cxn>
                  <a:cxn ang="0">
                    <a:pos x="53" y="10"/>
                  </a:cxn>
                  <a:cxn ang="0">
                    <a:pos x="47" y="16"/>
                  </a:cxn>
                  <a:cxn ang="0">
                    <a:pos x="42" y="16"/>
                  </a:cxn>
                  <a:cxn ang="0">
                    <a:pos x="32" y="16"/>
                  </a:cxn>
                  <a:cxn ang="0">
                    <a:pos x="16" y="16"/>
                  </a:cxn>
                  <a:cxn ang="0">
                    <a:pos x="0" y="21"/>
                  </a:cxn>
                  <a:cxn ang="0">
                    <a:pos x="0" y="10"/>
                  </a:cxn>
                  <a:cxn ang="0">
                    <a:pos x="11" y="5"/>
                  </a:cxn>
                  <a:cxn ang="0">
                    <a:pos x="21" y="5"/>
                  </a:cxn>
                  <a:cxn ang="0">
                    <a:pos x="32" y="5"/>
                  </a:cxn>
                  <a:cxn ang="0">
                    <a:pos x="37" y="5"/>
                  </a:cxn>
                  <a:cxn ang="0">
                    <a:pos x="47" y="5"/>
                  </a:cxn>
                  <a:cxn ang="0">
                    <a:pos x="47" y="0"/>
                  </a:cxn>
                  <a:cxn ang="0">
                    <a:pos x="53" y="0"/>
                  </a:cxn>
                  <a:cxn ang="0">
                    <a:pos x="53" y="0"/>
                  </a:cxn>
                  <a:cxn ang="0">
                    <a:pos x="53" y="5"/>
                  </a:cxn>
                  <a:cxn ang="0">
                    <a:pos x="58" y="5"/>
                  </a:cxn>
                  <a:cxn ang="0">
                    <a:pos x="58" y="5"/>
                  </a:cxn>
                </a:cxnLst>
                <a:rect l="0" t="0" r="r" b="b"/>
                <a:pathLst>
                  <a:path w="58" h="21">
                    <a:moveTo>
                      <a:pt x="58" y="5"/>
                    </a:moveTo>
                    <a:lnTo>
                      <a:pt x="53" y="10"/>
                    </a:lnTo>
                    <a:lnTo>
                      <a:pt x="53" y="10"/>
                    </a:lnTo>
                    <a:lnTo>
                      <a:pt x="53" y="10"/>
                    </a:lnTo>
                    <a:lnTo>
                      <a:pt x="47" y="16"/>
                    </a:lnTo>
                    <a:lnTo>
                      <a:pt x="42" y="16"/>
                    </a:lnTo>
                    <a:lnTo>
                      <a:pt x="32" y="16"/>
                    </a:lnTo>
                    <a:lnTo>
                      <a:pt x="16" y="16"/>
                    </a:lnTo>
                    <a:lnTo>
                      <a:pt x="0" y="21"/>
                    </a:lnTo>
                    <a:lnTo>
                      <a:pt x="0" y="10"/>
                    </a:lnTo>
                    <a:lnTo>
                      <a:pt x="11" y="5"/>
                    </a:lnTo>
                    <a:lnTo>
                      <a:pt x="21" y="5"/>
                    </a:lnTo>
                    <a:lnTo>
                      <a:pt x="32" y="5"/>
                    </a:lnTo>
                    <a:lnTo>
                      <a:pt x="37" y="5"/>
                    </a:lnTo>
                    <a:lnTo>
                      <a:pt x="47" y="5"/>
                    </a:lnTo>
                    <a:lnTo>
                      <a:pt x="47" y="0"/>
                    </a:lnTo>
                    <a:lnTo>
                      <a:pt x="53" y="0"/>
                    </a:lnTo>
                    <a:lnTo>
                      <a:pt x="53" y="0"/>
                    </a:lnTo>
                    <a:lnTo>
                      <a:pt x="53" y="5"/>
                    </a:lnTo>
                    <a:lnTo>
                      <a:pt x="58" y="5"/>
                    </a:lnTo>
                    <a:lnTo>
                      <a:pt x="58" y="5"/>
                    </a:lnTo>
                  </a:path>
                </a:pathLst>
              </a:custGeom>
              <a:grpFill/>
              <a:ln w="5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7" name="组合 169"/>
            <p:cNvGrpSpPr>
              <a:grpSpLocks noChangeAspect="1"/>
            </p:cNvGrpSpPr>
            <p:nvPr/>
          </p:nvGrpSpPr>
          <p:grpSpPr>
            <a:xfrm>
              <a:off x="6599942" y="1125609"/>
              <a:ext cx="127551" cy="216000"/>
              <a:chOff x="8976378" y="3038019"/>
              <a:chExt cx="217487" cy="368300"/>
            </a:xfrm>
            <a:solidFill>
              <a:schemeClr val="tx1"/>
            </a:solidFill>
          </p:grpSpPr>
          <p:sp>
            <p:nvSpPr>
              <p:cNvPr id="171" name="Freeform 80"/>
              <p:cNvSpPr/>
              <p:nvPr/>
            </p:nvSpPr>
            <p:spPr bwMode="auto">
              <a:xfrm>
                <a:off x="8976378" y="3038019"/>
                <a:ext cx="158750" cy="238125"/>
              </a:xfrm>
              <a:custGeom>
                <a:avLst/>
                <a:gdLst/>
                <a:ahLst/>
                <a:cxnLst>
                  <a:cxn ang="0">
                    <a:pos x="42" y="114"/>
                  </a:cxn>
                  <a:cxn ang="0">
                    <a:pos x="32" y="124"/>
                  </a:cxn>
                  <a:cxn ang="0">
                    <a:pos x="27" y="129"/>
                  </a:cxn>
                  <a:cxn ang="0">
                    <a:pos x="16" y="139"/>
                  </a:cxn>
                  <a:cxn ang="0">
                    <a:pos x="11" y="145"/>
                  </a:cxn>
                  <a:cxn ang="0">
                    <a:pos x="6" y="145"/>
                  </a:cxn>
                  <a:cxn ang="0">
                    <a:pos x="6" y="150"/>
                  </a:cxn>
                  <a:cxn ang="0">
                    <a:pos x="0" y="150"/>
                  </a:cxn>
                  <a:cxn ang="0">
                    <a:pos x="0" y="150"/>
                  </a:cxn>
                  <a:cxn ang="0">
                    <a:pos x="0" y="150"/>
                  </a:cxn>
                  <a:cxn ang="0">
                    <a:pos x="0" y="145"/>
                  </a:cxn>
                  <a:cxn ang="0">
                    <a:pos x="6" y="134"/>
                  </a:cxn>
                  <a:cxn ang="0">
                    <a:pos x="16" y="129"/>
                  </a:cxn>
                  <a:cxn ang="0">
                    <a:pos x="32" y="103"/>
                  </a:cxn>
                  <a:cxn ang="0">
                    <a:pos x="48" y="83"/>
                  </a:cxn>
                  <a:cxn ang="0">
                    <a:pos x="58" y="57"/>
                  </a:cxn>
                  <a:cxn ang="0">
                    <a:pos x="69" y="47"/>
                  </a:cxn>
                  <a:cxn ang="0">
                    <a:pos x="69" y="31"/>
                  </a:cxn>
                  <a:cxn ang="0">
                    <a:pos x="74" y="21"/>
                  </a:cxn>
                  <a:cxn ang="0">
                    <a:pos x="74" y="10"/>
                  </a:cxn>
                  <a:cxn ang="0">
                    <a:pos x="74" y="5"/>
                  </a:cxn>
                  <a:cxn ang="0">
                    <a:pos x="74" y="5"/>
                  </a:cxn>
                  <a:cxn ang="0">
                    <a:pos x="74" y="5"/>
                  </a:cxn>
                  <a:cxn ang="0">
                    <a:pos x="74" y="0"/>
                  </a:cxn>
                  <a:cxn ang="0">
                    <a:pos x="74" y="0"/>
                  </a:cxn>
                  <a:cxn ang="0">
                    <a:pos x="74" y="0"/>
                  </a:cxn>
                  <a:cxn ang="0">
                    <a:pos x="79" y="0"/>
                  </a:cxn>
                  <a:cxn ang="0">
                    <a:pos x="84" y="0"/>
                  </a:cxn>
                  <a:cxn ang="0">
                    <a:pos x="90" y="0"/>
                  </a:cxn>
                  <a:cxn ang="0">
                    <a:pos x="95" y="5"/>
                  </a:cxn>
                  <a:cxn ang="0">
                    <a:pos x="100" y="10"/>
                  </a:cxn>
                  <a:cxn ang="0">
                    <a:pos x="100" y="10"/>
                  </a:cxn>
                  <a:cxn ang="0">
                    <a:pos x="95" y="16"/>
                  </a:cxn>
                  <a:cxn ang="0">
                    <a:pos x="95" y="21"/>
                  </a:cxn>
                  <a:cxn ang="0">
                    <a:pos x="95" y="26"/>
                  </a:cxn>
                  <a:cxn ang="0">
                    <a:pos x="90" y="31"/>
                  </a:cxn>
                  <a:cxn ang="0">
                    <a:pos x="90" y="36"/>
                  </a:cxn>
                  <a:cxn ang="0">
                    <a:pos x="84" y="41"/>
                  </a:cxn>
                  <a:cxn ang="0">
                    <a:pos x="79" y="52"/>
                  </a:cxn>
                  <a:cxn ang="0">
                    <a:pos x="74" y="72"/>
                  </a:cxn>
                  <a:cxn ang="0">
                    <a:pos x="63" y="88"/>
                  </a:cxn>
                  <a:cxn ang="0">
                    <a:pos x="53" y="103"/>
                  </a:cxn>
                  <a:cxn ang="0">
                    <a:pos x="42" y="114"/>
                  </a:cxn>
                  <a:cxn ang="0">
                    <a:pos x="42" y="114"/>
                  </a:cxn>
                </a:cxnLst>
                <a:rect l="0" t="0" r="r" b="b"/>
                <a:pathLst>
                  <a:path w="100" h="150">
                    <a:moveTo>
                      <a:pt x="42" y="114"/>
                    </a:moveTo>
                    <a:lnTo>
                      <a:pt x="32" y="124"/>
                    </a:lnTo>
                    <a:lnTo>
                      <a:pt x="27" y="129"/>
                    </a:lnTo>
                    <a:lnTo>
                      <a:pt x="16" y="139"/>
                    </a:lnTo>
                    <a:lnTo>
                      <a:pt x="11" y="145"/>
                    </a:lnTo>
                    <a:lnTo>
                      <a:pt x="6" y="145"/>
                    </a:lnTo>
                    <a:lnTo>
                      <a:pt x="6" y="150"/>
                    </a:lnTo>
                    <a:lnTo>
                      <a:pt x="0" y="150"/>
                    </a:lnTo>
                    <a:lnTo>
                      <a:pt x="0" y="150"/>
                    </a:lnTo>
                    <a:lnTo>
                      <a:pt x="0" y="150"/>
                    </a:lnTo>
                    <a:lnTo>
                      <a:pt x="0" y="145"/>
                    </a:lnTo>
                    <a:lnTo>
                      <a:pt x="6" y="134"/>
                    </a:lnTo>
                    <a:lnTo>
                      <a:pt x="16" y="129"/>
                    </a:lnTo>
                    <a:lnTo>
                      <a:pt x="32" y="103"/>
                    </a:lnTo>
                    <a:lnTo>
                      <a:pt x="48" y="83"/>
                    </a:lnTo>
                    <a:lnTo>
                      <a:pt x="58" y="57"/>
                    </a:lnTo>
                    <a:lnTo>
                      <a:pt x="69" y="47"/>
                    </a:lnTo>
                    <a:lnTo>
                      <a:pt x="69" y="31"/>
                    </a:lnTo>
                    <a:lnTo>
                      <a:pt x="74" y="21"/>
                    </a:lnTo>
                    <a:lnTo>
                      <a:pt x="74" y="10"/>
                    </a:lnTo>
                    <a:lnTo>
                      <a:pt x="74" y="5"/>
                    </a:lnTo>
                    <a:lnTo>
                      <a:pt x="74" y="5"/>
                    </a:lnTo>
                    <a:lnTo>
                      <a:pt x="74" y="5"/>
                    </a:lnTo>
                    <a:lnTo>
                      <a:pt x="74" y="0"/>
                    </a:lnTo>
                    <a:lnTo>
                      <a:pt x="74" y="0"/>
                    </a:lnTo>
                    <a:lnTo>
                      <a:pt x="74" y="0"/>
                    </a:lnTo>
                    <a:lnTo>
                      <a:pt x="79" y="0"/>
                    </a:lnTo>
                    <a:lnTo>
                      <a:pt x="84" y="0"/>
                    </a:lnTo>
                    <a:lnTo>
                      <a:pt x="90" y="0"/>
                    </a:lnTo>
                    <a:lnTo>
                      <a:pt x="95" y="5"/>
                    </a:lnTo>
                    <a:lnTo>
                      <a:pt x="100" y="10"/>
                    </a:lnTo>
                    <a:lnTo>
                      <a:pt x="100" y="10"/>
                    </a:lnTo>
                    <a:lnTo>
                      <a:pt x="95" y="16"/>
                    </a:lnTo>
                    <a:lnTo>
                      <a:pt x="95" y="21"/>
                    </a:lnTo>
                    <a:lnTo>
                      <a:pt x="95" y="26"/>
                    </a:lnTo>
                    <a:lnTo>
                      <a:pt x="90" y="31"/>
                    </a:lnTo>
                    <a:lnTo>
                      <a:pt x="90" y="36"/>
                    </a:lnTo>
                    <a:lnTo>
                      <a:pt x="84" y="41"/>
                    </a:lnTo>
                    <a:lnTo>
                      <a:pt x="79" y="52"/>
                    </a:lnTo>
                    <a:lnTo>
                      <a:pt x="74" y="72"/>
                    </a:lnTo>
                    <a:lnTo>
                      <a:pt x="63" y="88"/>
                    </a:lnTo>
                    <a:lnTo>
                      <a:pt x="53" y="103"/>
                    </a:lnTo>
                    <a:lnTo>
                      <a:pt x="42" y="114"/>
                    </a:lnTo>
                    <a:lnTo>
                      <a:pt x="42" y="114"/>
                    </a:lnTo>
                  </a:path>
                </a:pathLst>
              </a:custGeom>
              <a:grpFill/>
              <a:ln w="5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2" name="Freeform 81"/>
              <p:cNvSpPr/>
              <p:nvPr/>
            </p:nvSpPr>
            <p:spPr bwMode="auto">
              <a:xfrm>
                <a:off x="9085915" y="3112631"/>
                <a:ext cx="107950" cy="31750"/>
              </a:xfrm>
              <a:custGeom>
                <a:avLst/>
                <a:gdLst/>
                <a:ahLst/>
                <a:cxnLst>
                  <a:cxn ang="0">
                    <a:pos x="31" y="5"/>
                  </a:cxn>
                  <a:cxn ang="0">
                    <a:pos x="36" y="5"/>
                  </a:cxn>
                  <a:cxn ang="0">
                    <a:pos x="42" y="0"/>
                  </a:cxn>
                  <a:cxn ang="0">
                    <a:pos x="52" y="0"/>
                  </a:cxn>
                  <a:cxn ang="0">
                    <a:pos x="57" y="0"/>
                  </a:cxn>
                  <a:cxn ang="0">
                    <a:pos x="63" y="0"/>
                  </a:cxn>
                  <a:cxn ang="0">
                    <a:pos x="63" y="0"/>
                  </a:cxn>
                  <a:cxn ang="0">
                    <a:pos x="68" y="5"/>
                  </a:cxn>
                  <a:cxn ang="0">
                    <a:pos x="68" y="5"/>
                  </a:cxn>
                  <a:cxn ang="0">
                    <a:pos x="63" y="5"/>
                  </a:cxn>
                  <a:cxn ang="0">
                    <a:pos x="63" y="10"/>
                  </a:cxn>
                  <a:cxn ang="0">
                    <a:pos x="63" y="10"/>
                  </a:cxn>
                  <a:cxn ang="0">
                    <a:pos x="57" y="15"/>
                  </a:cxn>
                  <a:cxn ang="0">
                    <a:pos x="47" y="15"/>
                  </a:cxn>
                  <a:cxn ang="0">
                    <a:pos x="36" y="15"/>
                  </a:cxn>
                  <a:cxn ang="0">
                    <a:pos x="26" y="20"/>
                  </a:cxn>
                  <a:cxn ang="0">
                    <a:pos x="15" y="20"/>
                  </a:cxn>
                  <a:cxn ang="0">
                    <a:pos x="0" y="20"/>
                  </a:cxn>
                  <a:cxn ang="0">
                    <a:pos x="0" y="15"/>
                  </a:cxn>
                  <a:cxn ang="0">
                    <a:pos x="15" y="10"/>
                  </a:cxn>
                  <a:cxn ang="0">
                    <a:pos x="31" y="5"/>
                  </a:cxn>
                  <a:cxn ang="0">
                    <a:pos x="31" y="5"/>
                  </a:cxn>
                </a:cxnLst>
                <a:rect l="0" t="0" r="r" b="b"/>
                <a:pathLst>
                  <a:path w="68" h="20">
                    <a:moveTo>
                      <a:pt x="31" y="5"/>
                    </a:moveTo>
                    <a:lnTo>
                      <a:pt x="36" y="5"/>
                    </a:lnTo>
                    <a:lnTo>
                      <a:pt x="42" y="0"/>
                    </a:lnTo>
                    <a:lnTo>
                      <a:pt x="52" y="0"/>
                    </a:lnTo>
                    <a:lnTo>
                      <a:pt x="57" y="0"/>
                    </a:lnTo>
                    <a:lnTo>
                      <a:pt x="63" y="0"/>
                    </a:lnTo>
                    <a:lnTo>
                      <a:pt x="63" y="0"/>
                    </a:lnTo>
                    <a:lnTo>
                      <a:pt x="68" y="5"/>
                    </a:lnTo>
                    <a:lnTo>
                      <a:pt x="68" y="5"/>
                    </a:lnTo>
                    <a:lnTo>
                      <a:pt x="63" y="5"/>
                    </a:lnTo>
                    <a:lnTo>
                      <a:pt x="63" y="10"/>
                    </a:lnTo>
                    <a:lnTo>
                      <a:pt x="63" y="10"/>
                    </a:lnTo>
                    <a:lnTo>
                      <a:pt x="57" y="15"/>
                    </a:lnTo>
                    <a:lnTo>
                      <a:pt x="47" y="15"/>
                    </a:lnTo>
                    <a:lnTo>
                      <a:pt x="36" y="15"/>
                    </a:lnTo>
                    <a:lnTo>
                      <a:pt x="26" y="20"/>
                    </a:lnTo>
                    <a:lnTo>
                      <a:pt x="15" y="20"/>
                    </a:lnTo>
                    <a:lnTo>
                      <a:pt x="0" y="20"/>
                    </a:lnTo>
                    <a:lnTo>
                      <a:pt x="0" y="15"/>
                    </a:lnTo>
                    <a:lnTo>
                      <a:pt x="15" y="10"/>
                    </a:lnTo>
                    <a:lnTo>
                      <a:pt x="31" y="5"/>
                    </a:lnTo>
                    <a:lnTo>
                      <a:pt x="31" y="5"/>
                    </a:lnTo>
                  </a:path>
                </a:pathLst>
              </a:custGeom>
              <a:grpFill/>
              <a:ln w="5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3" name="Freeform 86"/>
              <p:cNvSpPr/>
              <p:nvPr/>
            </p:nvSpPr>
            <p:spPr bwMode="auto">
              <a:xfrm>
                <a:off x="9076390" y="3201531"/>
                <a:ext cx="117475" cy="204788"/>
              </a:xfrm>
              <a:custGeom>
                <a:avLst/>
                <a:gdLst/>
                <a:ahLst/>
                <a:cxnLst>
                  <a:cxn ang="0">
                    <a:pos x="27" y="36"/>
                  </a:cxn>
                  <a:cxn ang="0">
                    <a:pos x="27" y="47"/>
                  </a:cxn>
                  <a:cxn ang="0">
                    <a:pos x="27" y="57"/>
                  </a:cxn>
                  <a:cxn ang="0">
                    <a:pos x="27" y="67"/>
                  </a:cxn>
                  <a:cxn ang="0">
                    <a:pos x="27" y="78"/>
                  </a:cxn>
                  <a:cxn ang="0">
                    <a:pos x="27" y="88"/>
                  </a:cxn>
                  <a:cxn ang="0">
                    <a:pos x="27" y="88"/>
                  </a:cxn>
                  <a:cxn ang="0">
                    <a:pos x="27" y="88"/>
                  </a:cxn>
                  <a:cxn ang="0">
                    <a:pos x="32" y="88"/>
                  </a:cxn>
                  <a:cxn ang="0">
                    <a:pos x="42" y="83"/>
                  </a:cxn>
                  <a:cxn ang="0">
                    <a:pos x="53" y="78"/>
                  </a:cxn>
                  <a:cxn ang="0">
                    <a:pos x="63" y="73"/>
                  </a:cxn>
                  <a:cxn ang="0">
                    <a:pos x="69" y="73"/>
                  </a:cxn>
                  <a:cxn ang="0">
                    <a:pos x="74" y="67"/>
                  </a:cxn>
                  <a:cxn ang="0">
                    <a:pos x="74" y="67"/>
                  </a:cxn>
                  <a:cxn ang="0">
                    <a:pos x="74" y="73"/>
                  </a:cxn>
                  <a:cxn ang="0">
                    <a:pos x="74" y="73"/>
                  </a:cxn>
                  <a:cxn ang="0">
                    <a:pos x="69" y="78"/>
                  </a:cxn>
                  <a:cxn ang="0">
                    <a:pos x="69" y="78"/>
                  </a:cxn>
                  <a:cxn ang="0">
                    <a:pos x="63" y="83"/>
                  </a:cxn>
                  <a:cxn ang="0">
                    <a:pos x="53" y="88"/>
                  </a:cxn>
                  <a:cxn ang="0">
                    <a:pos x="48" y="93"/>
                  </a:cxn>
                  <a:cxn ang="0">
                    <a:pos x="37" y="103"/>
                  </a:cxn>
                  <a:cxn ang="0">
                    <a:pos x="32" y="109"/>
                  </a:cxn>
                  <a:cxn ang="0">
                    <a:pos x="27" y="114"/>
                  </a:cxn>
                  <a:cxn ang="0">
                    <a:pos x="21" y="119"/>
                  </a:cxn>
                  <a:cxn ang="0">
                    <a:pos x="16" y="124"/>
                  </a:cxn>
                  <a:cxn ang="0">
                    <a:pos x="16" y="129"/>
                  </a:cxn>
                  <a:cxn ang="0">
                    <a:pos x="11" y="129"/>
                  </a:cxn>
                  <a:cxn ang="0">
                    <a:pos x="11" y="129"/>
                  </a:cxn>
                  <a:cxn ang="0">
                    <a:pos x="6" y="129"/>
                  </a:cxn>
                  <a:cxn ang="0">
                    <a:pos x="6" y="129"/>
                  </a:cxn>
                  <a:cxn ang="0">
                    <a:pos x="6" y="124"/>
                  </a:cxn>
                  <a:cxn ang="0">
                    <a:pos x="0" y="119"/>
                  </a:cxn>
                  <a:cxn ang="0">
                    <a:pos x="0" y="114"/>
                  </a:cxn>
                  <a:cxn ang="0">
                    <a:pos x="0" y="109"/>
                  </a:cxn>
                  <a:cxn ang="0">
                    <a:pos x="6" y="98"/>
                  </a:cxn>
                  <a:cxn ang="0">
                    <a:pos x="11" y="98"/>
                  </a:cxn>
                  <a:cxn ang="0">
                    <a:pos x="11" y="88"/>
                  </a:cxn>
                  <a:cxn ang="0">
                    <a:pos x="11" y="78"/>
                  </a:cxn>
                  <a:cxn ang="0">
                    <a:pos x="16" y="62"/>
                  </a:cxn>
                  <a:cxn ang="0">
                    <a:pos x="11" y="31"/>
                  </a:cxn>
                  <a:cxn ang="0">
                    <a:pos x="11" y="0"/>
                  </a:cxn>
                  <a:cxn ang="0">
                    <a:pos x="21" y="5"/>
                  </a:cxn>
                  <a:cxn ang="0">
                    <a:pos x="27" y="11"/>
                  </a:cxn>
                  <a:cxn ang="0">
                    <a:pos x="32" y="11"/>
                  </a:cxn>
                  <a:cxn ang="0">
                    <a:pos x="32" y="11"/>
                  </a:cxn>
                  <a:cxn ang="0">
                    <a:pos x="32" y="16"/>
                  </a:cxn>
                  <a:cxn ang="0">
                    <a:pos x="32" y="21"/>
                  </a:cxn>
                  <a:cxn ang="0">
                    <a:pos x="27" y="26"/>
                  </a:cxn>
                  <a:cxn ang="0">
                    <a:pos x="27" y="36"/>
                  </a:cxn>
                  <a:cxn ang="0">
                    <a:pos x="27" y="36"/>
                  </a:cxn>
                </a:cxnLst>
                <a:rect l="0" t="0" r="r" b="b"/>
                <a:pathLst>
                  <a:path w="74" h="129">
                    <a:moveTo>
                      <a:pt x="27" y="36"/>
                    </a:moveTo>
                    <a:lnTo>
                      <a:pt x="27" y="47"/>
                    </a:lnTo>
                    <a:lnTo>
                      <a:pt x="27" y="57"/>
                    </a:lnTo>
                    <a:lnTo>
                      <a:pt x="27" y="67"/>
                    </a:lnTo>
                    <a:lnTo>
                      <a:pt x="27" y="78"/>
                    </a:lnTo>
                    <a:lnTo>
                      <a:pt x="27" y="88"/>
                    </a:lnTo>
                    <a:lnTo>
                      <a:pt x="27" y="88"/>
                    </a:lnTo>
                    <a:lnTo>
                      <a:pt x="27" y="88"/>
                    </a:lnTo>
                    <a:lnTo>
                      <a:pt x="32" y="88"/>
                    </a:lnTo>
                    <a:lnTo>
                      <a:pt x="42" y="83"/>
                    </a:lnTo>
                    <a:lnTo>
                      <a:pt x="53" y="78"/>
                    </a:lnTo>
                    <a:lnTo>
                      <a:pt x="63" y="73"/>
                    </a:lnTo>
                    <a:lnTo>
                      <a:pt x="69" y="73"/>
                    </a:lnTo>
                    <a:lnTo>
                      <a:pt x="74" y="67"/>
                    </a:lnTo>
                    <a:lnTo>
                      <a:pt x="74" y="67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69" y="78"/>
                    </a:lnTo>
                    <a:lnTo>
                      <a:pt x="69" y="78"/>
                    </a:lnTo>
                    <a:lnTo>
                      <a:pt x="63" y="83"/>
                    </a:lnTo>
                    <a:lnTo>
                      <a:pt x="53" y="88"/>
                    </a:lnTo>
                    <a:lnTo>
                      <a:pt x="48" y="93"/>
                    </a:lnTo>
                    <a:lnTo>
                      <a:pt x="37" y="103"/>
                    </a:lnTo>
                    <a:lnTo>
                      <a:pt x="32" y="109"/>
                    </a:lnTo>
                    <a:lnTo>
                      <a:pt x="27" y="114"/>
                    </a:lnTo>
                    <a:lnTo>
                      <a:pt x="21" y="119"/>
                    </a:lnTo>
                    <a:lnTo>
                      <a:pt x="16" y="124"/>
                    </a:lnTo>
                    <a:lnTo>
                      <a:pt x="16" y="129"/>
                    </a:lnTo>
                    <a:lnTo>
                      <a:pt x="11" y="129"/>
                    </a:lnTo>
                    <a:lnTo>
                      <a:pt x="11" y="129"/>
                    </a:lnTo>
                    <a:lnTo>
                      <a:pt x="6" y="129"/>
                    </a:lnTo>
                    <a:lnTo>
                      <a:pt x="6" y="129"/>
                    </a:lnTo>
                    <a:lnTo>
                      <a:pt x="6" y="124"/>
                    </a:lnTo>
                    <a:lnTo>
                      <a:pt x="0" y="119"/>
                    </a:lnTo>
                    <a:lnTo>
                      <a:pt x="0" y="114"/>
                    </a:lnTo>
                    <a:lnTo>
                      <a:pt x="0" y="109"/>
                    </a:lnTo>
                    <a:lnTo>
                      <a:pt x="6" y="98"/>
                    </a:lnTo>
                    <a:lnTo>
                      <a:pt x="11" y="98"/>
                    </a:lnTo>
                    <a:lnTo>
                      <a:pt x="11" y="88"/>
                    </a:lnTo>
                    <a:lnTo>
                      <a:pt x="11" y="78"/>
                    </a:lnTo>
                    <a:lnTo>
                      <a:pt x="16" y="62"/>
                    </a:lnTo>
                    <a:lnTo>
                      <a:pt x="11" y="31"/>
                    </a:lnTo>
                    <a:lnTo>
                      <a:pt x="11" y="0"/>
                    </a:lnTo>
                    <a:lnTo>
                      <a:pt x="21" y="5"/>
                    </a:lnTo>
                    <a:lnTo>
                      <a:pt x="27" y="11"/>
                    </a:lnTo>
                    <a:lnTo>
                      <a:pt x="32" y="11"/>
                    </a:lnTo>
                    <a:lnTo>
                      <a:pt x="32" y="11"/>
                    </a:lnTo>
                    <a:lnTo>
                      <a:pt x="32" y="16"/>
                    </a:lnTo>
                    <a:lnTo>
                      <a:pt x="32" y="21"/>
                    </a:lnTo>
                    <a:lnTo>
                      <a:pt x="27" y="26"/>
                    </a:lnTo>
                    <a:lnTo>
                      <a:pt x="27" y="36"/>
                    </a:lnTo>
                    <a:lnTo>
                      <a:pt x="27" y="36"/>
                    </a:lnTo>
                  </a:path>
                </a:pathLst>
              </a:custGeom>
              <a:grpFill/>
              <a:ln w="5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4" name="Freeform 87"/>
              <p:cNvSpPr/>
              <p:nvPr/>
            </p:nvSpPr>
            <p:spPr bwMode="auto">
              <a:xfrm>
                <a:off x="9043053" y="3185656"/>
                <a:ext cx="125413" cy="33338"/>
              </a:xfrm>
              <a:custGeom>
                <a:avLst/>
                <a:gdLst/>
                <a:ahLst/>
                <a:cxnLst>
                  <a:cxn ang="0">
                    <a:pos x="32" y="5"/>
                  </a:cxn>
                  <a:cxn ang="0">
                    <a:pos x="48" y="5"/>
                  </a:cxn>
                  <a:cxn ang="0">
                    <a:pos x="58" y="0"/>
                  </a:cxn>
                  <a:cxn ang="0">
                    <a:pos x="63" y="0"/>
                  </a:cxn>
                  <a:cxn ang="0">
                    <a:pos x="69" y="0"/>
                  </a:cxn>
                  <a:cxn ang="0">
                    <a:pos x="74" y="0"/>
                  </a:cxn>
                  <a:cxn ang="0">
                    <a:pos x="79" y="0"/>
                  </a:cxn>
                  <a:cxn ang="0">
                    <a:pos x="79" y="0"/>
                  </a:cxn>
                  <a:cxn ang="0">
                    <a:pos x="79" y="0"/>
                  </a:cxn>
                  <a:cxn ang="0">
                    <a:pos x="79" y="5"/>
                  </a:cxn>
                  <a:cxn ang="0">
                    <a:pos x="74" y="5"/>
                  </a:cxn>
                  <a:cxn ang="0">
                    <a:pos x="69" y="10"/>
                  </a:cxn>
                  <a:cxn ang="0">
                    <a:pos x="58" y="10"/>
                  </a:cxn>
                  <a:cxn ang="0">
                    <a:pos x="42" y="15"/>
                  </a:cxn>
                  <a:cxn ang="0">
                    <a:pos x="32" y="21"/>
                  </a:cxn>
                  <a:cxn ang="0">
                    <a:pos x="16" y="21"/>
                  </a:cxn>
                  <a:cxn ang="0">
                    <a:pos x="0" y="21"/>
                  </a:cxn>
                  <a:cxn ang="0">
                    <a:pos x="0" y="15"/>
                  </a:cxn>
                  <a:cxn ang="0">
                    <a:pos x="6" y="15"/>
                  </a:cxn>
                  <a:cxn ang="0">
                    <a:pos x="11" y="10"/>
                  </a:cxn>
                  <a:cxn ang="0">
                    <a:pos x="21" y="10"/>
                  </a:cxn>
                  <a:cxn ang="0">
                    <a:pos x="32" y="5"/>
                  </a:cxn>
                  <a:cxn ang="0">
                    <a:pos x="32" y="5"/>
                  </a:cxn>
                </a:cxnLst>
                <a:rect l="0" t="0" r="r" b="b"/>
                <a:pathLst>
                  <a:path w="79" h="21">
                    <a:moveTo>
                      <a:pt x="32" y="5"/>
                    </a:moveTo>
                    <a:lnTo>
                      <a:pt x="48" y="5"/>
                    </a:lnTo>
                    <a:lnTo>
                      <a:pt x="58" y="0"/>
                    </a:lnTo>
                    <a:lnTo>
                      <a:pt x="63" y="0"/>
                    </a:lnTo>
                    <a:lnTo>
                      <a:pt x="69" y="0"/>
                    </a:lnTo>
                    <a:lnTo>
                      <a:pt x="74" y="0"/>
                    </a:lnTo>
                    <a:lnTo>
                      <a:pt x="79" y="0"/>
                    </a:lnTo>
                    <a:lnTo>
                      <a:pt x="79" y="0"/>
                    </a:lnTo>
                    <a:lnTo>
                      <a:pt x="79" y="0"/>
                    </a:lnTo>
                    <a:lnTo>
                      <a:pt x="79" y="5"/>
                    </a:lnTo>
                    <a:lnTo>
                      <a:pt x="74" y="5"/>
                    </a:lnTo>
                    <a:lnTo>
                      <a:pt x="69" y="10"/>
                    </a:lnTo>
                    <a:lnTo>
                      <a:pt x="58" y="10"/>
                    </a:lnTo>
                    <a:lnTo>
                      <a:pt x="42" y="15"/>
                    </a:lnTo>
                    <a:lnTo>
                      <a:pt x="32" y="21"/>
                    </a:lnTo>
                    <a:lnTo>
                      <a:pt x="16" y="21"/>
                    </a:lnTo>
                    <a:lnTo>
                      <a:pt x="0" y="21"/>
                    </a:lnTo>
                    <a:lnTo>
                      <a:pt x="0" y="15"/>
                    </a:lnTo>
                    <a:lnTo>
                      <a:pt x="6" y="15"/>
                    </a:lnTo>
                    <a:lnTo>
                      <a:pt x="11" y="10"/>
                    </a:lnTo>
                    <a:lnTo>
                      <a:pt x="21" y="10"/>
                    </a:lnTo>
                    <a:lnTo>
                      <a:pt x="32" y="5"/>
                    </a:lnTo>
                    <a:lnTo>
                      <a:pt x="32" y="5"/>
                    </a:lnTo>
                  </a:path>
                </a:pathLst>
              </a:custGeom>
              <a:grpFill/>
              <a:ln w="5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5" name="Freeform 88"/>
              <p:cNvSpPr/>
              <p:nvPr/>
            </p:nvSpPr>
            <p:spPr bwMode="auto">
              <a:xfrm>
                <a:off x="9027178" y="3242806"/>
                <a:ext cx="149225" cy="49213"/>
              </a:xfrm>
              <a:custGeom>
                <a:avLst/>
                <a:gdLst/>
                <a:ahLst/>
                <a:cxnLst>
                  <a:cxn ang="0">
                    <a:pos x="94" y="10"/>
                  </a:cxn>
                  <a:cxn ang="0">
                    <a:pos x="94" y="10"/>
                  </a:cxn>
                  <a:cxn ang="0">
                    <a:pos x="94" y="10"/>
                  </a:cxn>
                  <a:cxn ang="0">
                    <a:pos x="94" y="10"/>
                  </a:cxn>
                  <a:cxn ang="0">
                    <a:pos x="89" y="10"/>
                  </a:cxn>
                  <a:cxn ang="0">
                    <a:pos x="84" y="16"/>
                  </a:cxn>
                  <a:cxn ang="0">
                    <a:pos x="79" y="16"/>
                  </a:cxn>
                  <a:cxn ang="0">
                    <a:pos x="73" y="16"/>
                  </a:cxn>
                  <a:cxn ang="0">
                    <a:pos x="63" y="21"/>
                  </a:cxn>
                  <a:cxn ang="0">
                    <a:pos x="47" y="26"/>
                  </a:cxn>
                  <a:cxn ang="0">
                    <a:pos x="37" y="26"/>
                  </a:cxn>
                  <a:cxn ang="0">
                    <a:pos x="26" y="31"/>
                  </a:cxn>
                  <a:cxn ang="0">
                    <a:pos x="21" y="31"/>
                  </a:cxn>
                  <a:cxn ang="0">
                    <a:pos x="10" y="26"/>
                  </a:cxn>
                  <a:cxn ang="0">
                    <a:pos x="0" y="26"/>
                  </a:cxn>
                  <a:cxn ang="0">
                    <a:pos x="16" y="21"/>
                  </a:cxn>
                  <a:cxn ang="0">
                    <a:pos x="31" y="16"/>
                  </a:cxn>
                  <a:cxn ang="0">
                    <a:pos x="42" y="16"/>
                  </a:cxn>
                  <a:cxn ang="0">
                    <a:pos x="52" y="10"/>
                  </a:cxn>
                  <a:cxn ang="0">
                    <a:pos x="58" y="10"/>
                  </a:cxn>
                  <a:cxn ang="0">
                    <a:pos x="68" y="5"/>
                  </a:cxn>
                  <a:cxn ang="0">
                    <a:pos x="73" y="5"/>
                  </a:cxn>
                  <a:cxn ang="0">
                    <a:pos x="73" y="5"/>
                  </a:cxn>
                  <a:cxn ang="0">
                    <a:pos x="79" y="0"/>
                  </a:cxn>
                  <a:cxn ang="0">
                    <a:pos x="84" y="0"/>
                  </a:cxn>
                  <a:cxn ang="0">
                    <a:pos x="94" y="0"/>
                  </a:cxn>
                  <a:cxn ang="0">
                    <a:pos x="94" y="5"/>
                  </a:cxn>
                  <a:cxn ang="0">
                    <a:pos x="94" y="10"/>
                  </a:cxn>
                  <a:cxn ang="0">
                    <a:pos x="94" y="10"/>
                  </a:cxn>
                </a:cxnLst>
                <a:rect l="0" t="0" r="r" b="b"/>
                <a:pathLst>
                  <a:path w="94" h="31">
                    <a:moveTo>
                      <a:pt x="94" y="10"/>
                    </a:moveTo>
                    <a:lnTo>
                      <a:pt x="94" y="10"/>
                    </a:lnTo>
                    <a:lnTo>
                      <a:pt x="94" y="10"/>
                    </a:lnTo>
                    <a:lnTo>
                      <a:pt x="94" y="10"/>
                    </a:lnTo>
                    <a:lnTo>
                      <a:pt x="89" y="10"/>
                    </a:lnTo>
                    <a:lnTo>
                      <a:pt x="84" y="16"/>
                    </a:lnTo>
                    <a:lnTo>
                      <a:pt x="79" y="16"/>
                    </a:lnTo>
                    <a:lnTo>
                      <a:pt x="73" y="16"/>
                    </a:lnTo>
                    <a:lnTo>
                      <a:pt x="63" y="21"/>
                    </a:lnTo>
                    <a:lnTo>
                      <a:pt x="47" y="26"/>
                    </a:lnTo>
                    <a:lnTo>
                      <a:pt x="37" y="26"/>
                    </a:lnTo>
                    <a:lnTo>
                      <a:pt x="26" y="31"/>
                    </a:lnTo>
                    <a:lnTo>
                      <a:pt x="21" y="31"/>
                    </a:lnTo>
                    <a:lnTo>
                      <a:pt x="10" y="26"/>
                    </a:lnTo>
                    <a:lnTo>
                      <a:pt x="0" y="26"/>
                    </a:lnTo>
                    <a:lnTo>
                      <a:pt x="16" y="21"/>
                    </a:lnTo>
                    <a:lnTo>
                      <a:pt x="31" y="16"/>
                    </a:lnTo>
                    <a:lnTo>
                      <a:pt x="42" y="16"/>
                    </a:lnTo>
                    <a:lnTo>
                      <a:pt x="52" y="10"/>
                    </a:lnTo>
                    <a:lnTo>
                      <a:pt x="58" y="10"/>
                    </a:lnTo>
                    <a:lnTo>
                      <a:pt x="68" y="5"/>
                    </a:lnTo>
                    <a:lnTo>
                      <a:pt x="73" y="5"/>
                    </a:lnTo>
                    <a:lnTo>
                      <a:pt x="73" y="5"/>
                    </a:lnTo>
                    <a:lnTo>
                      <a:pt x="79" y="0"/>
                    </a:lnTo>
                    <a:lnTo>
                      <a:pt x="84" y="0"/>
                    </a:lnTo>
                    <a:lnTo>
                      <a:pt x="94" y="0"/>
                    </a:lnTo>
                    <a:lnTo>
                      <a:pt x="94" y="5"/>
                    </a:lnTo>
                    <a:lnTo>
                      <a:pt x="94" y="10"/>
                    </a:lnTo>
                    <a:lnTo>
                      <a:pt x="94" y="10"/>
                    </a:lnTo>
                  </a:path>
                </a:pathLst>
              </a:custGeom>
              <a:grpFill/>
              <a:ln w="5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8" name="组合 175"/>
          <p:cNvGrpSpPr>
            <a:grpSpLocks noChangeAspect="1"/>
          </p:cNvGrpSpPr>
          <p:nvPr/>
        </p:nvGrpSpPr>
        <p:grpSpPr>
          <a:xfrm>
            <a:off x="3887619" y="4915296"/>
            <a:ext cx="144000" cy="157788"/>
            <a:chOff x="6408902" y="5886739"/>
            <a:chExt cx="149225" cy="163513"/>
          </a:xfrm>
          <a:solidFill>
            <a:schemeClr val="tx1"/>
          </a:solidFill>
        </p:grpSpPr>
        <p:sp>
          <p:nvSpPr>
            <p:cNvPr id="177" name="Freeform 123"/>
            <p:cNvSpPr/>
            <p:nvPr/>
          </p:nvSpPr>
          <p:spPr bwMode="auto">
            <a:xfrm>
              <a:off x="6408902" y="5904202"/>
              <a:ext cx="50800" cy="146050"/>
            </a:xfrm>
            <a:custGeom>
              <a:avLst/>
              <a:gdLst/>
              <a:ahLst/>
              <a:cxnLst>
                <a:cxn ang="0">
                  <a:pos x="32" y="51"/>
                </a:cxn>
                <a:cxn ang="0">
                  <a:pos x="32" y="61"/>
                </a:cxn>
                <a:cxn ang="0">
                  <a:pos x="32" y="67"/>
                </a:cxn>
                <a:cxn ang="0">
                  <a:pos x="32" y="77"/>
                </a:cxn>
                <a:cxn ang="0">
                  <a:pos x="32" y="82"/>
                </a:cxn>
                <a:cxn ang="0">
                  <a:pos x="32" y="87"/>
                </a:cxn>
                <a:cxn ang="0">
                  <a:pos x="32" y="87"/>
                </a:cxn>
                <a:cxn ang="0">
                  <a:pos x="32" y="92"/>
                </a:cxn>
                <a:cxn ang="0">
                  <a:pos x="32" y="92"/>
                </a:cxn>
                <a:cxn ang="0">
                  <a:pos x="26" y="92"/>
                </a:cxn>
                <a:cxn ang="0">
                  <a:pos x="26" y="92"/>
                </a:cxn>
                <a:cxn ang="0">
                  <a:pos x="26" y="87"/>
                </a:cxn>
                <a:cxn ang="0">
                  <a:pos x="21" y="82"/>
                </a:cxn>
                <a:cxn ang="0">
                  <a:pos x="21" y="77"/>
                </a:cxn>
                <a:cxn ang="0">
                  <a:pos x="16" y="77"/>
                </a:cxn>
                <a:cxn ang="0">
                  <a:pos x="16" y="67"/>
                </a:cxn>
                <a:cxn ang="0">
                  <a:pos x="16" y="67"/>
                </a:cxn>
                <a:cxn ang="0">
                  <a:pos x="16" y="56"/>
                </a:cxn>
                <a:cxn ang="0">
                  <a:pos x="16" y="51"/>
                </a:cxn>
                <a:cxn ang="0">
                  <a:pos x="11" y="41"/>
                </a:cxn>
                <a:cxn ang="0">
                  <a:pos x="11" y="30"/>
                </a:cxn>
                <a:cxn ang="0">
                  <a:pos x="11" y="25"/>
                </a:cxn>
                <a:cxn ang="0">
                  <a:pos x="5" y="20"/>
                </a:cxn>
                <a:cxn ang="0">
                  <a:pos x="5" y="15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11" y="0"/>
                </a:cxn>
                <a:cxn ang="0">
                  <a:pos x="21" y="5"/>
                </a:cxn>
                <a:cxn ang="0">
                  <a:pos x="26" y="5"/>
                </a:cxn>
                <a:cxn ang="0">
                  <a:pos x="26" y="10"/>
                </a:cxn>
                <a:cxn ang="0">
                  <a:pos x="26" y="20"/>
                </a:cxn>
                <a:cxn ang="0">
                  <a:pos x="26" y="36"/>
                </a:cxn>
                <a:cxn ang="0">
                  <a:pos x="32" y="51"/>
                </a:cxn>
                <a:cxn ang="0">
                  <a:pos x="32" y="51"/>
                </a:cxn>
              </a:cxnLst>
              <a:rect l="0" t="0" r="r" b="b"/>
              <a:pathLst>
                <a:path w="32" h="92">
                  <a:moveTo>
                    <a:pt x="32" y="51"/>
                  </a:moveTo>
                  <a:lnTo>
                    <a:pt x="32" y="61"/>
                  </a:lnTo>
                  <a:lnTo>
                    <a:pt x="32" y="67"/>
                  </a:lnTo>
                  <a:lnTo>
                    <a:pt x="32" y="77"/>
                  </a:lnTo>
                  <a:lnTo>
                    <a:pt x="32" y="82"/>
                  </a:lnTo>
                  <a:lnTo>
                    <a:pt x="32" y="87"/>
                  </a:lnTo>
                  <a:lnTo>
                    <a:pt x="32" y="87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26" y="92"/>
                  </a:lnTo>
                  <a:lnTo>
                    <a:pt x="26" y="92"/>
                  </a:lnTo>
                  <a:lnTo>
                    <a:pt x="26" y="87"/>
                  </a:lnTo>
                  <a:lnTo>
                    <a:pt x="21" y="82"/>
                  </a:lnTo>
                  <a:lnTo>
                    <a:pt x="21" y="77"/>
                  </a:lnTo>
                  <a:lnTo>
                    <a:pt x="16" y="77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16" y="56"/>
                  </a:lnTo>
                  <a:lnTo>
                    <a:pt x="16" y="51"/>
                  </a:lnTo>
                  <a:lnTo>
                    <a:pt x="11" y="41"/>
                  </a:lnTo>
                  <a:lnTo>
                    <a:pt x="11" y="30"/>
                  </a:lnTo>
                  <a:lnTo>
                    <a:pt x="11" y="25"/>
                  </a:lnTo>
                  <a:lnTo>
                    <a:pt x="5" y="20"/>
                  </a:lnTo>
                  <a:lnTo>
                    <a:pt x="5" y="15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11" y="0"/>
                  </a:lnTo>
                  <a:lnTo>
                    <a:pt x="21" y="5"/>
                  </a:lnTo>
                  <a:lnTo>
                    <a:pt x="26" y="5"/>
                  </a:lnTo>
                  <a:lnTo>
                    <a:pt x="26" y="10"/>
                  </a:lnTo>
                  <a:lnTo>
                    <a:pt x="26" y="20"/>
                  </a:lnTo>
                  <a:lnTo>
                    <a:pt x="26" y="36"/>
                  </a:lnTo>
                  <a:lnTo>
                    <a:pt x="32" y="51"/>
                  </a:lnTo>
                  <a:lnTo>
                    <a:pt x="32" y="51"/>
                  </a:lnTo>
                </a:path>
              </a:pathLst>
            </a:custGeom>
            <a:grpFill/>
            <a:ln w="5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8" name="Freeform 124"/>
            <p:cNvSpPr/>
            <p:nvPr/>
          </p:nvSpPr>
          <p:spPr bwMode="auto">
            <a:xfrm>
              <a:off x="6426365" y="5886739"/>
              <a:ext cx="131762" cy="106363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62" y="0"/>
                </a:cxn>
                <a:cxn ang="0">
                  <a:pos x="62" y="0"/>
                </a:cxn>
                <a:cxn ang="0">
                  <a:pos x="73" y="5"/>
                </a:cxn>
                <a:cxn ang="0">
                  <a:pos x="78" y="11"/>
                </a:cxn>
                <a:cxn ang="0">
                  <a:pos x="83" y="11"/>
                </a:cxn>
                <a:cxn ang="0">
                  <a:pos x="83" y="16"/>
                </a:cxn>
                <a:cxn ang="0">
                  <a:pos x="83" y="16"/>
                </a:cxn>
                <a:cxn ang="0">
                  <a:pos x="83" y="21"/>
                </a:cxn>
                <a:cxn ang="0">
                  <a:pos x="78" y="21"/>
                </a:cxn>
                <a:cxn ang="0">
                  <a:pos x="78" y="21"/>
                </a:cxn>
                <a:cxn ang="0">
                  <a:pos x="78" y="26"/>
                </a:cxn>
                <a:cxn ang="0">
                  <a:pos x="73" y="31"/>
                </a:cxn>
                <a:cxn ang="0">
                  <a:pos x="73" y="36"/>
                </a:cxn>
                <a:cxn ang="0">
                  <a:pos x="73" y="41"/>
                </a:cxn>
                <a:cxn ang="0">
                  <a:pos x="68" y="47"/>
                </a:cxn>
                <a:cxn ang="0">
                  <a:pos x="68" y="57"/>
                </a:cxn>
                <a:cxn ang="0">
                  <a:pos x="62" y="67"/>
                </a:cxn>
                <a:cxn ang="0">
                  <a:pos x="47" y="67"/>
                </a:cxn>
                <a:cxn ang="0">
                  <a:pos x="52" y="52"/>
                </a:cxn>
                <a:cxn ang="0">
                  <a:pos x="52" y="41"/>
                </a:cxn>
                <a:cxn ang="0">
                  <a:pos x="57" y="31"/>
                </a:cxn>
                <a:cxn ang="0">
                  <a:pos x="57" y="26"/>
                </a:cxn>
                <a:cxn ang="0">
                  <a:pos x="57" y="21"/>
                </a:cxn>
                <a:cxn ang="0">
                  <a:pos x="52" y="16"/>
                </a:cxn>
                <a:cxn ang="0">
                  <a:pos x="52" y="16"/>
                </a:cxn>
                <a:cxn ang="0">
                  <a:pos x="47" y="16"/>
                </a:cxn>
                <a:cxn ang="0">
                  <a:pos x="42" y="16"/>
                </a:cxn>
                <a:cxn ang="0">
                  <a:pos x="36" y="21"/>
                </a:cxn>
                <a:cxn ang="0">
                  <a:pos x="26" y="21"/>
                </a:cxn>
                <a:cxn ang="0">
                  <a:pos x="15" y="26"/>
                </a:cxn>
                <a:cxn ang="0">
                  <a:pos x="0" y="26"/>
                </a:cxn>
                <a:cxn ang="0">
                  <a:pos x="0" y="11"/>
                </a:cxn>
                <a:cxn ang="0">
                  <a:pos x="5" y="11"/>
                </a:cxn>
                <a:cxn ang="0">
                  <a:pos x="10" y="16"/>
                </a:cxn>
                <a:cxn ang="0">
                  <a:pos x="15" y="16"/>
                </a:cxn>
                <a:cxn ang="0">
                  <a:pos x="15" y="16"/>
                </a:cxn>
                <a:cxn ang="0">
                  <a:pos x="26" y="11"/>
                </a:cxn>
                <a:cxn ang="0">
                  <a:pos x="31" y="11"/>
                </a:cxn>
                <a:cxn ang="0">
                  <a:pos x="36" y="5"/>
                </a:cxn>
                <a:cxn ang="0">
                  <a:pos x="42" y="5"/>
                </a:cxn>
                <a:cxn ang="0">
                  <a:pos x="47" y="5"/>
                </a:cxn>
                <a:cxn ang="0">
                  <a:pos x="52" y="0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57" y="0"/>
                </a:cxn>
              </a:cxnLst>
              <a:rect l="0" t="0" r="r" b="b"/>
              <a:pathLst>
                <a:path w="83" h="67">
                  <a:moveTo>
                    <a:pt x="57" y="0"/>
                  </a:moveTo>
                  <a:lnTo>
                    <a:pt x="62" y="0"/>
                  </a:lnTo>
                  <a:lnTo>
                    <a:pt x="62" y="0"/>
                  </a:lnTo>
                  <a:lnTo>
                    <a:pt x="73" y="5"/>
                  </a:lnTo>
                  <a:lnTo>
                    <a:pt x="78" y="11"/>
                  </a:lnTo>
                  <a:lnTo>
                    <a:pt x="83" y="11"/>
                  </a:lnTo>
                  <a:lnTo>
                    <a:pt x="83" y="16"/>
                  </a:lnTo>
                  <a:lnTo>
                    <a:pt x="83" y="16"/>
                  </a:lnTo>
                  <a:lnTo>
                    <a:pt x="83" y="21"/>
                  </a:lnTo>
                  <a:lnTo>
                    <a:pt x="78" y="21"/>
                  </a:lnTo>
                  <a:lnTo>
                    <a:pt x="78" y="21"/>
                  </a:lnTo>
                  <a:lnTo>
                    <a:pt x="78" y="26"/>
                  </a:lnTo>
                  <a:lnTo>
                    <a:pt x="73" y="31"/>
                  </a:lnTo>
                  <a:lnTo>
                    <a:pt x="73" y="36"/>
                  </a:lnTo>
                  <a:lnTo>
                    <a:pt x="73" y="41"/>
                  </a:lnTo>
                  <a:lnTo>
                    <a:pt x="68" y="47"/>
                  </a:lnTo>
                  <a:lnTo>
                    <a:pt x="68" y="57"/>
                  </a:lnTo>
                  <a:lnTo>
                    <a:pt x="62" y="67"/>
                  </a:lnTo>
                  <a:lnTo>
                    <a:pt x="47" y="67"/>
                  </a:lnTo>
                  <a:lnTo>
                    <a:pt x="52" y="52"/>
                  </a:lnTo>
                  <a:lnTo>
                    <a:pt x="52" y="41"/>
                  </a:lnTo>
                  <a:lnTo>
                    <a:pt x="57" y="31"/>
                  </a:lnTo>
                  <a:lnTo>
                    <a:pt x="57" y="26"/>
                  </a:lnTo>
                  <a:lnTo>
                    <a:pt x="57" y="21"/>
                  </a:lnTo>
                  <a:lnTo>
                    <a:pt x="52" y="16"/>
                  </a:lnTo>
                  <a:lnTo>
                    <a:pt x="52" y="16"/>
                  </a:lnTo>
                  <a:lnTo>
                    <a:pt x="47" y="16"/>
                  </a:lnTo>
                  <a:lnTo>
                    <a:pt x="42" y="16"/>
                  </a:lnTo>
                  <a:lnTo>
                    <a:pt x="36" y="21"/>
                  </a:lnTo>
                  <a:lnTo>
                    <a:pt x="26" y="21"/>
                  </a:lnTo>
                  <a:lnTo>
                    <a:pt x="15" y="26"/>
                  </a:lnTo>
                  <a:lnTo>
                    <a:pt x="0" y="26"/>
                  </a:lnTo>
                  <a:lnTo>
                    <a:pt x="0" y="11"/>
                  </a:lnTo>
                  <a:lnTo>
                    <a:pt x="5" y="11"/>
                  </a:lnTo>
                  <a:lnTo>
                    <a:pt x="10" y="16"/>
                  </a:lnTo>
                  <a:lnTo>
                    <a:pt x="15" y="16"/>
                  </a:lnTo>
                  <a:lnTo>
                    <a:pt x="15" y="16"/>
                  </a:lnTo>
                  <a:lnTo>
                    <a:pt x="26" y="11"/>
                  </a:lnTo>
                  <a:lnTo>
                    <a:pt x="31" y="11"/>
                  </a:lnTo>
                  <a:lnTo>
                    <a:pt x="36" y="5"/>
                  </a:lnTo>
                  <a:lnTo>
                    <a:pt x="42" y="5"/>
                  </a:lnTo>
                  <a:lnTo>
                    <a:pt x="47" y="5"/>
                  </a:lnTo>
                  <a:lnTo>
                    <a:pt x="52" y="0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57" y="0"/>
                  </a:lnTo>
                </a:path>
              </a:pathLst>
            </a:custGeom>
            <a:grpFill/>
            <a:ln w="5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9" name="Freeform 125"/>
            <p:cNvSpPr/>
            <p:nvPr/>
          </p:nvSpPr>
          <p:spPr bwMode="auto">
            <a:xfrm>
              <a:off x="6450177" y="5985164"/>
              <a:ext cx="92075" cy="33338"/>
            </a:xfrm>
            <a:custGeom>
              <a:avLst/>
              <a:gdLst/>
              <a:ahLst/>
              <a:cxnLst>
                <a:cxn ang="0">
                  <a:pos x="58" y="5"/>
                </a:cxn>
                <a:cxn ang="0">
                  <a:pos x="53" y="10"/>
                </a:cxn>
                <a:cxn ang="0">
                  <a:pos x="53" y="10"/>
                </a:cxn>
                <a:cxn ang="0">
                  <a:pos x="53" y="10"/>
                </a:cxn>
                <a:cxn ang="0">
                  <a:pos x="47" y="16"/>
                </a:cxn>
                <a:cxn ang="0">
                  <a:pos x="42" y="16"/>
                </a:cxn>
                <a:cxn ang="0">
                  <a:pos x="32" y="16"/>
                </a:cxn>
                <a:cxn ang="0">
                  <a:pos x="16" y="16"/>
                </a:cxn>
                <a:cxn ang="0">
                  <a:pos x="0" y="21"/>
                </a:cxn>
                <a:cxn ang="0">
                  <a:pos x="0" y="10"/>
                </a:cxn>
                <a:cxn ang="0">
                  <a:pos x="11" y="5"/>
                </a:cxn>
                <a:cxn ang="0">
                  <a:pos x="21" y="5"/>
                </a:cxn>
                <a:cxn ang="0">
                  <a:pos x="32" y="5"/>
                </a:cxn>
                <a:cxn ang="0">
                  <a:pos x="37" y="5"/>
                </a:cxn>
                <a:cxn ang="0">
                  <a:pos x="47" y="5"/>
                </a:cxn>
                <a:cxn ang="0">
                  <a:pos x="47" y="0"/>
                </a:cxn>
                <a:cxn ang="0">
                  <a:pos x="53" y="0"/>
                </a:cxn>
                <a:cxn ang="0">
                  <a:pos x="53" y="0"/>
                </a:cxn>
                <a:cxn ang="0">
                  <a:pos x="53" y="5"/>
                </a:cxn>
                <a:cxn ang="0">
                  <a:pos x="58" y="5"/>
                </a:cxn>
                <a:cxn ang="0">
                  <a:pos x="58" y="5"/>
                </a:cxn>
              </a:cxnLst>
              <a:rect l="0" t="0" r="r" b="b"/>
              <a:pathLst>
                <a:path w="58" h="21">
                  <a:moveTo>
                    <a:pt x="58" y="5"/>
                  </a:moveTo>
                  <a:lnTo>
                    <a:pt x="53" y="10"/>
                  </a:lnTo>
                  <a:lnTo>
                    <a:pt x="53" y="10"/>
                  </a:lnTo>
                  <a:lnTo>
                    <a:pt x="53" y="10"/>
                  </a:lnTo>
                  <a:lnTo>
                    <a:pt x="47" y="16"/>
                  </a:lnTo>
                  <a:lnTo>
                    <a:pt x="42" y="16"/>
                  </a:lnTo>
                  <a:lnTo>
                    <a:pt x="32" y="16"/>
                  </a:lnTo>
                  <a:lnTo>
                    <a:pt x="16" y="16"/>
                  </a:lnTo>
                  <a:lnTo>
                    <a:pt x="0" y="21"/>
                  </a:lnTo>
                  <a:lnTo>
                    <a:pt x="0" y="10"/>
                  </a:lnTo>
                  <a:lnTo>
                    <a:pt x="11" y="5"/>
                  </a:lnTo>
                  <a:lnTo>
                    <a:pt x="21" y="5"/>
                  </a:lnTo>
                  <a:lnTo>
                    <a:pt x="32" y="5"/>
                  </a:lnTo>
                  <a:lnTo>
                    <a:pt x="37" y="5"/>
                  </a:lnTo>
                  <a:lnTo>
                    <a:pt x="47" y="5"/>
                  </a:lnTo>
                  <a:lnTo>
                    <a:pt x="47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5"/>
                  </a:lnTo>
                  <a:lnTo>
                    <a:pt x="58" y="5"/>
                  </a:lnTo>
                  <a:lnTo>
                    <a:pt x="58" y="5"/>
                  </a:lnTo>
                </a:path>
              </a:pathLst>
            </a:custGeom>
            <a:grpFill/>
            <a:ln w="5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9" name="组合 179"/>
          <p:cNvGrpSpPr>
            <a:grpSpLocks noChangeAspect="1"/>
          </p:cNvGrpSpPr>
          <p:nvPr/>
        </p:nvGrpSpPr>
        <p:grpSpPr>
          <a:xfrm>
            <a:off x="3871057" y="3796813"/>
            <a:ext cx="148810" cy="252000"/>
            <a:chOff x="8976378" y="3038019"/>
            <a:chExt cx="217487" cy="368300"/>
          </a:xfrm>
          <a:solidFill>
            <a:schemeClr val="tx1"/>
          </a:solidFill>
        </p:grpSpPr>
        <p:sp>
          <p:nvSpPr>
            <p:cNvPr id="181" name="Freeform 80"/>
            <p:cNvSpPr/>
            <p:nvPr/>
          </p:nvSpPr>
          <p:spPr bwMode="auto">
            <a:xfrm>
              <a:off x="8976378" y="3038019"/>
              <a:ext cx="158750" cy="238125"/>
            </a:xfrm>
            <a:custGeom>
              <a:avLst/>
              <a:gdLst/>
              <a:ahLst/>
              <a:cxnLst>
                <a:cxn ang="0">
                  <a:pos x="42" y="114"/>
                </a:cxn>
                <a:cxn ang="0">
                  <a:pos x="32" y="124"/>
                </a:cxn>
                <a:cxn ang="0">
                  <a:pos x="27" y="129"/>
                </a:cxn>
                <a:cxn ang="0">
                  <a:pos x="16" y="139"/>
                </a:cxn>
                <a:cxn ang="0">
                  <a:pos x="11" y="145"/>
                </a:cxn>
                <a:cxn ang="0">
                  <a:pos x="6" y="145"/>
                </a:cxn>
                <a:cxn ang="0">
                  <a:pos x="6" y="150"/>
                </a:cxn>
                <a:cxn ang="0">
                  <a:pos x="0" y="150"/>
                </a:cxn>
                <a:cxn ang="0">
                  <a:pos x="0" y="150"/>
                </a:cxn>
                <a:cxn ang="0">
                  <a:pos x="0" y="150"/>
                </a:cxn>
                <a:cxn ang="0">
                  <a:pos x="0" y="145"/>
                </a:cxn>
                <a:cxn ang="0">
                  <a:pos x="6" y="134"/>
                </a:cxn>
                <a:cxn ang="0">
                  <a:pos x="16" y="129"/>
                </a:cxn>
                <a:cxn ang="0">
                  <a:pos x="32" y="103"/>
                </a:cxn>
                <a:cxn ang="0">
                  <a:pos x="48" y="83"/>
                </a:cxn>
                <a:cxn ang="0">
                  <a:pos x="58" y="57"/>
                </a:cxn>
                <a:cxn ang="0">
                  <a:pos x="69" y="47"/>
                </a:cxn>
                <a:cxn ang="0">
                  <a:pos x="69" y="31"/>
                </a:cxn>
                <a:cxn ang="0">
                  <a:pos x="74" y="21"/>
                </a:cxn>
                <a:cxn ang="0">
                  <a:pos x="74" y="10"/>
                </a:cxn>
                <a:cxn ang="0">
                  <a:pos x="74" y="5"/>
                </a:cxn>
                <a:cxn ang="0">
                  <a:pos x="74" y="5"/>
                </a:cxn>
                <a:cxn ang="0">
                  <a:pos x="74" y="5"/>
                </a:cxn>
                <a:cxn ang="0">
                  <a:pos x="74" y="0"/>
                </a:cxn>
                <a:cxn ang="0">
                  <a:pos x="74" y="0"/>
                </a:cxn>
                <a:cxn ang="0">
                  <a:pos x="74" y="0"/>
                </a:cxn>
                <a:cxn ang="0">
                  <a:pos x="79" y="0"/>
                </a:cxn>
                <a:cxn ang="0">
                  <a:pos x="84" y="0"/>
                </a:cxn>
                <a:cxn ang="0">
                  <a:pos x="90" y="0"/>
                </a:cxn>
                <a:cxn ang="0">
                  <a:pos x="95" y="5"/>
                </a:cxn>
                <a:cxn ang="0">
                  <a:pos x="100" y="10"/>
                </a:cxn>
                <a:cxn ang="0">
                  <a:pos x="100" y="10"/>
                </a:cxn>
                <a:cxn ang="0">
                  <a:pos x="95" y="16"/>
                </a:cxn>
                <a:cxn ang="0">
                  <a:pos x="95" y="21"/>
                </a:cxn>
                <a:cxn ang="0">
                  <a:pos x="95" y="26"/>
                </a:cxn>
                <a:cxn ang="0">
                  <a:pos x="90" y="31"/>
                </a:cxn>
                <a:cxn ang="0">
                  <a:pos x="90" y="36"/>
                </a:cxn>
                <a:cxn ang="0">
                  <a:pos x="84" y="41"/>
                </a:cxn>
                <a:cxn ang="0">
                  <a:pos x="79" y="52"/>
                </a:cxn>
                <a:cxn ang="0">
                  <a:pos x="74" y="72"/>
                </a:cxn>
                <a:cxn ang="0">
                  <a:pos x="63" y="88"/>
                </a:cxn>
                <a:cxn ang="0">
                  <a:pos x="53" y="103"/>
                </a:cxn>
                <a:cxn ang="0">
                  <a:pos x="42" y="114"/>
                </a:cxn>
                <a:cxn ang="0">
                  <a:pos x="42" y="114"/>
                </a:cxn>
              </a:cxnLst>
              <a:rect l="0" t="0" r="r" b="b"/>
              <a:pathLst>
                <a:path w="100" h="150">
                  <a:moveTo>
                    <a:pt x="42" y="114"/>
                  </a:moveTo>
                  <a:lnTo>
                    <a:pt x="32" y="124"/>
                  </a:lnTo>
                  <a:lnTo>
                    <a:pt x="27" y="129"/>
                  </a:lnTo>
                  <a:lnTo>
                    <a:pt x="16" y="139"/>
                  </a:lnTo>
                  <a:lnTo>
                    <a:pt x="11" y="145"/>
                  </a:lnTo>
                  <a:lnTo>
                    <a:pt x="6" y="145"/>
                  </a:lnTo>
                  <a:lnTo>
                    <a:pt x="6" y="150"/>
                  </a:lnTo>
                  <a:lnTo>
                    <a:pt x="0" y="150"/>
                  </a:lnTo>
                  <a:lnTo>
                    <a:pt x="0" y="150"/>
                  </a:lnTo>
                  <a:lnTo>
                    <a:pt x="0" y="150"/>
                  </a:lnTo>
                  <a:lnTo>
                    <a:pt x="0" y="145"/>
                  </a:lnTo>
                  <a:lnTo>
                    <a:pt x="6" y="134"/>
                  </a:lnTo>
                  <a:lnTo>
                    <a:pt x="16" y="129"/>
                  </a:lnTo>
                  <a:lnTo>
                    <a:pt x="32" y="103"/>
                  </a:lnTo>
                  <a:lnTo>
                    <a:pt x="48" y="83"/>
                  </a:lnTo>
                  <a:lnTo>
                    <a:pt x="58" y="57"/>
                  </a:lnTo>
                  <a:lnTo>
                    <a:pt x="69" y="47"/>
                  </a:lnTo>
                  <a:lnTo>
                    <a:pt x="69" y="31"/>
                  </a:lnTo>
                  <a:lnTo>
                    <a:pt x="74" y="21"/>
                  </a:lnTo>
                  <a:lnTo>
                    <a:pt x="74" y="10"/>
                  </a:lnTo>
                  <a:lnTo>
                    <a:pt x="74" y="5"/>
                  </a:lnTo>
                  <a:lnTo>
                    <a:pt x="74" y="5"/>
                  </a:lnTo>
                  <a:lnTo>
                    <a:pt x="74" y="5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84" y="0"/>
                  </a:lnTo>
                  <a:lnTo>
                    <a:pt x="90" y="0"/>
                  </a:lnTo>
                  <a:lnTo>
                    <a:pt x="95" y="5"/>
                  </a:lnTo>
                  <a:lnTo>
                    <a:pt x="100" y="10"/>
                  </a:lnTo>
                  <a:lnTo>
                    <a:pt x="100" y="10"/>
                  </a:lnTo>
                  <a:lnTo>
                    <a:pt x="95" y="16"/>
                  </a:lnTo>
                  <a:lnTo>
                    <a:pt x="95" y="21"/>
                  </a:lnTo>
                  <a:lnTo>
                    <a:pt x="95" y="26"/>
                  </a:lnTo>
                  <a:lnTo>
                    <a:pt x="90" y="31"/>
                  </a:lnTo>
                  <a:lnTo>
                    <a:pt x="90" y="36"/>
                  </a:lnTo>
                  <a:lnTo>
                    <a:pt x="84" y="41"/>
                  </a:lnTo>
                  <a:lnTo>
                    <a:pt x="79" y="52"/>
                  </a:lnTo>
                  <a:lnTo>
                    <a:pt x="74" y="72"/>
                  </a:lnTo>
                  <a:lnTo>
                    <a:pt x="63" y="88"/>
                  </a:lnTo>
                  <a:lnTo>
                    <a:pt x="53" y="103"/>
                  </a:lnTo>
                  <a:lnTo>
                    <a:pt x="42" y="114"/>
                  </a:lnTo>
                  <a:lnTo>
                    <a:pt x="42" y="114"/>
                  </a:lnTo>
                </a:path>
              </a:pathLst>
            </a:custGeom>
            <a:grpFill/>
            <a:ln w="5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2" name="Freeform 81"/>
            <p:cNvSpPr/>
            <p:nvPr/>
          </p:nvSpPr>
          <p:spPr bwMode="auto">
            <a:xfrm>
              <a:off x="9085915" y="3112631"/>
              <a:ext cx="107950" cy="31750"/>
            </a:xfrm>
            <a:custGeom>
              <a:avLst/>
              <a:gdLst/>
              <a:ahLst/>
              <a:cxnLst>
                <a:cxn ang="0">
                  <a:pos x="31" y="5"/>
                </a:cxn>
                <a:cxn ang="0">
                  <a:pos x="36" y="5"/>
                </a:cxn>
                <a:cxn ang="0">
                  <a:pos x="42" y="0"/>
                </a:cxn>
                <a:cxn ang="0">
                  <a:pos x="52" y="0"/>
                </a:cxn>
                <a:cxn ang="0">
                  <a:pos x="57" y="0"/>
                </a:cxn>
                <a:cxn ang="0">
                  <a:pos x="63" y="0"/>
                </a:cxn>
                <a:cxn ang="0">
                  <a:pos x="63" y="0"/>
                </a:cxn>
                <a:cxn ang="0">
                  <a:pos x="68" y="5"/>
                </a:cxn>
                <a:cxn ang="0">
                  <a:pos x="68" y="5"/>
                </a:cxn>
                <a:cxn ang="0">
                  <a:pos x="63" y="5"/>
                </a:cxn>
                <a:cxn ang="0">
                  <a:pos x="63" y="10"/>
                </a:cxn>
                <a:cxn ang="0">
                  <a:pos x="63" y="10"/>
                </a:cxn>
                <a:cxn ang="0">
                  <a:pos x="57" y="15"/>
                </a:cxn>
                <a:cxn ang="0">
                  <a:pos x="47" y="15"/>
                </a:cxn>
                <a:cxn ang="0">
                  <a:pos x="36" y="15"/>
                </a:cxn>
                <a:cxn ang="0">
                  <a:pos x="26" y="20"/>
                </a:cxn>
                <a:cxn ang="0">
                  <a:pos x="15" y="20"/>
                </a:cxn>
                <a:cxn ang="0">
                  <a:pos x="0" y="20"/>
                </a:cxn>
                <a:cxn ang="0">
                  <a:pos x="0" y="15"/>
                </a:cxn>
                <a:cxn ang="0">
                  <a:pos x="15" y="10"/>
                </a:cxn>
                <a:cxn ang="0">
                  <a:pos x="31" y="5"/>
                </a:cxn>
                <a:cxn ang="0">
                  <a:pos x="31" y="5"/>
                </a:cxn>
              </a:cxnLst>
              <a:rect l="0" t="0" r="r" b="b"/>
              <a:pathLst>
                <a:path w="68" h="20">
                  <a:moveTo>
                    <a:pt x="31" y="5"/>
                  </a:moveTo>
                  <a:lnTo>
                    <a:pt x="36" y="5"/>
                  </a:lnTo>
                  <a:lnTo>
                    <a:pt x="42" y="0"/>
                  </a:lnTo>
                  <a:lnTo>
                    <a:pt x="52" y="0"/>
                  </a:lnTo>
                  <a:lnTo>
                    <a:pt x="57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8" y="5"/>
                  </a:lnTo>
                  <a:lnTo>
                    <a:pt x="68" y="5"/>
                  </a:lnTo>
                  <a:lnTo>
                    <a:pt x="63" y="5"/>
                  </a:lnTo>
                  <a:lnTo>
                    <a:pt x="63" y="10"/>
                  </a:lnTo>
                  <a:lnTo>
                    <a:pt x="63" y="10"/>
                  </a:lnTo>
                  <a:lnTo>
                    <a:pt x="57" y="15"/>
                  </a:lnTo>
                  <a:lnTo>
                    <a:pt x="47" y="15"/>
                  </a:lnTo>
                  <a:lnTo>
                    <a:pt x="36" y="15"/>
                  </a:lnTo>
                  <a:lnTo>
                    <a:pt x="26" y="20"/>
                  </a:lnTo>
                  <a:lnTo>
                    <a:pt x="15" y="20"/>
                  </a:lnTo>
                  <a:lnTo>
                    <a:pt x="0" y="20"/>
                  </a:lnTo>
                  <a:lnTo>
                    <a:pt x="0" y="15"/>
                  </a:lnTo>
                  <a:lnTo>
                    <a:pt x="15" y="10"/>
                  </a:lnTo>
                  <a:lnTo>
                    <a:pt x="31" y="5"/>
                  </a:lnTo>
                  <a:lnTo>
                    <a:pt x="31" y="5"/>
                  </a:lnTo>
                </a:path>
              </a:pathLst>
            </a:custGeom>
            <a:grpFill/>
            <a:ln w="5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3" name="Freeform 86"/>
            <p:cNvSpPr/>
            <p:nvPr/>
          </p:nvSpPr>
          <p:spPr bwMode="auto">
            <a:xfrm>
              <a:off x="9076390" y="3201531"/>
              <a:ext cx="117475" cy="204788"/>
            </a:xfrm>
            <a:custGeom>
              <a:avLst/>
              <a:gdLst/>
              <a:ahLst/>
              <a:cxnLst>
                <a:cxn ang="0">
                  <a:pos x="27" y="36"/>
                </a:cxn>
                <a:cxn ang="0">
                  <a:pos x="27" y="47"/>
                </a:cxn>
                <a:cxn ang="0">
                  <a:pos x="27" y="57"/>
                </a:cxn>
                <a:cxn ang="0">
                  <a:pos x="27" y="67"/>
                </a:cxn>
                <a:cxn ang="0">
                  <a:pos x="27" y="78"/>
                </a:cxn>
                <a:cxn ang="0">
                  <a:pos x="27" y="88"/>
                </a:cxn>
                <a:cxn ang="0">
                  <a:pos x="27" y="88"/>
                </a:cxn>
                <a:cxn ang="0">
                  <a:pos x="27" y="88"/>
                </a:cxn>
                <a:cxn ang="0">
                  <a:pos x="32" y="88"/>
                </a:cxn>
                <a:cxn ang="0">
                  <a:pos x="42" y="83"/>
                </a:cxn>
                <a:cxn ang="0">
                  <a:pos x="53" y="78"/>
                </a:cxn>
                <a:cxn ang="0">
                  <a:pos x="63" y="73"/>
                </a:cxn>
                <a:cxn ang="0">
                  <a:pos x="69" y="73"/>
                </a:cxn>
                <a:cxn ang="0">
                  <a:pos x="74" y="67"/>
                </a:cxn>
                <a:cxn ang="0">
                  <a:pos x="74" y="67"/>
                </a:cxn>
                <a:cxn ang="0">
                  <a:pos x="74" y="73"/>
                </a:cxn>
                <a:cxn ang="0">
                  <a:pos x="74" y="73"/>
                </a:cxn>
                <a:cxn ang="0">
                  <a:pos x="69" y="78"/>
                </a:cxn>
                <a:cxn ang="0">
                  <a:pos x="69" y="78"/>
                </a:cxn>
                <a:cxn ang="0">
                  <a:pos x="63" y="83"/>
                </a:cxn>
                <a:cxn ang="0">
                  <a:pos x="53" y="88"/>
                </a:cxn>
                <a:cxn ang="0">
                  <a:pos x="48" y="93"/>
                </a:cxn>
                <a:cxn ang="0">
                  <a:pos x="37" y="103"/>
                </a:cxn>
                <a:cxn ang="0">
                  <a:pos x="32" y="109"/>
                </a:cxn>
                <a:cxn ang="0">
                  <a:pos x="27" y="114"/>
                </a:cxn>
                <a:cxn ang="0">
                  <a:pos x="21" y="119"/>
                </a:cxn>
                <a:cxn ang="0">
                  <a:pos x="16" y="124"/>
                </a:cxn>
                <a:cxn ang="0">
                  <a:pos x="16" y="129"/>
                </a:cxn>
                <a:cxn ang="0">
                  <a:pos x="11" y="129"/>
                </a:cxn>
                <a:cxn ang="0">
                  <a:pos x="11" y="129"/>
                </a:cxn>
                <a:cxn ang="0">
                  <a:pos x="6" y="129"/>
                </a:cxn>
                <a:cxn ang="0">
                  <a:pos x="6" y="129"/>
                </a:cxn>
                <a:cxn ang="0">
                  <a:pos x="6" y="124"/>
                </a:cxn>
                <a:cxn ang="0">
                  <a:pos x="0" y="119"/>
                </a:cxn>
                <a:cxn ang="0">
                  <a:pos x="0" y="114"/>
                </a:cxn>
                <a:cxn ang="0">
                  <a:pos x="0" y="109"/>
                </a:cxn>
                <a:cxn ang="0">
                  <a:pos x="6" y="98"/>
                </a:cxn>
                <a:cxn ang="0">
                  <a:pos x="11" y="98"/>
                </a:cxn>
                <a:cxn ang="0">
                  <a:pos x="11" y="88"/>
                </a:cxn>
                <a:cxn ang="0">
                  <a:pos x="11" y="78"/>
                </a:cxn>
                <a:cxn ang="0">
                  <a:pos x="16" y="62"/>
                </a:cxn>
                <a:cxn ang="0">
                  <a:pos x="11" y="31"/>
                </a:cxn>
                <a:cxn ang="0">
                  <a:pos x="11" y="0"/>
                </a:cxn>
                <a:cxn ang="0">
                  <a:pos x="21" y="5"/>
                </a:cxn>
                <a:cxn ang="0">
                  <a:pos x="27" y="11"/>
                </a:cxn>
                <a:cxn ang="0">
                  <a:pos x="32" y="11"/>
                </a:cxn>
                <a:cxn ang="0">
                  <a:pos x="32" y="11"/>
                </a:cxn>
                <a:cxn ang="0">
                  <a:pos x="32" y="16"/>
                </a:cxn>
                <a:cxn ang="0">
                  <a:pos x="32" y="21"/>
                </a:cxn>
                <a:cxn ang="0">
                  <a:pos x="27" y="26"/>
                </a:cxn>
                <a:cxn ang="0">
                  <a:pos x="27" y="36"/>
                </a:cxn>
                <a:cxn ang="0">
                  <a:pos x="27" y="36"/>
                </a:cxn>
              </a:cxnLst>
              <a:rect l="0" t="0" r="r" b="b"/>
              <a:pathLst>
                <a:path w="74" h="129">
                  <a:moveTo>
                    <a:pt x="27" y="36"/>
                  </a:moveTo>
                  <a:lnTo>
                    <a:pt x="27" y="47"/>
                  </a:lnTo>
                  <a:lnTo>
                    <a:pt x="27" y="57"/>
                  </a:lnTo>
                  <a:lnTo>
                    <a:pt x="27" y="67"/>
                  </a:lnTo>
                  <a:lnTo>
                    <a:pt x="27" y="78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32" y="88"/>
                  </a:lnTo>
                  <a:lnTo>
                    <a:pt x="42" y="83"/>
                  </a:lnTo>
                  <a:lnTo>
                    <a:pt x="53" y="78"/>
                  </a:lnTo>
                  <a:lnTo>
                    <a:pt x="63" y="73"/>
                  </a:lnTo>
                  <a:lnTo>
                    <a:pt x="69" y="73"/>
                  </a:lnTo>
                  <a:lnTo>
                    <a:pt x="74" y="67"/>
                  </a:lnTo>
                  <a:lnTo>
                    <a:pt x="74" y="67"/>
                  </a:lnTo>
                  <a:lnTo>
                    <a:pt x="74" y="73"/>
                  </a:lnTo>
                  <a:lnTo>
                    <a:pt x="74" y="73"/>
                  </a:lnTo>
                  <a:lnTo>
                    <a:pt x="69" y="78"/>
                  </a:lnTo>
                  <a:lnTo>
                    <a:pt x="69" y="78"/>
                  </a:lnTo>
                  <a:lnTo>
                    <a:pt x="63" y="83"/>
                  </a:lnTo>
                  <a:lnTo>
                    <a:pt x="53" y="88"/>
                  </a:lnTo>
                  <a:lnTo>
                    <a:pt x="48" y="93"/>
                  </a:lnTo>
                  <a:lnTo>
                    <a:pt x="37" y="103"/>
                  </a:lnTo>
                  <a:lnTo>
                    <a:pt x="32" y="109"/>
                  </a:lnTo>
                  <a:lnTo>
                    <a:pt x="27" y="114"/>
                  </a:lnTo>
                  <a:lnTo>
                    <a:pt x="21" y="119"/>
                  </a:lnTo>
                  <a:lnTo>
                    <a:pt x="16" y="124"/>
                  </a:lnTo>
                  <a:lnTo>
                    <a:pt x="16" y="129"/>
                  </a:lnTo>
                  <a:lnTo>
                    <a:pt x="11" y="129"/>
                  </a:lnTo>
                  <a:lnTo>
                    <a:pt x="11" y="129"/>
                  </a:lnTo>
                  <a:lnTo>
                    <a:pt x="6" y="129"/>
                  </a:lnTo>
                  <a:lnTo>
                    <a:pt x="6" y="129"/>
                  </a:lnTo>
                  <a:lnTo>
                    <a:pt x="6" y="124"/>
                  </a:lnTo>
                  <a:lnTo>
                    <a:pt x="0" y="119"/>
                  </a:lnTo>
                  <a:lnTo>
                    <a:pt x="0" y="114"/>
                  </a:lnTo>
                  <a:lnTo>
                    <a:pt x="0" y="109"/>
                  </a:lnTo>
                  <a:lnTo>
                    <a:pt x="6" y="98"/>
                  </a:lnTo>
                  <a:lnTo>
                    <a:pt x="11" y="98"/>
                  </a:lnTo>
                  <a:lnTo>
                    <a:pt x="11" y="88"/>
                  </a:lnTo>
                  <a:lnTo>
                    <a:pt x="11" y="78"/>
                  </a:lnTo>
                  <a:lnTo>
                    <a:pt x="16" y="62"/>
                  </a:lnTo>
                  <a:lnTo>
                    <a:pt x="11" y="31"/>
                  </a:lnTo>
                  <a:lnTo>
                    <a:pt x="11" y="0"/>
                  </a:lnTo>
                  <a:lnTo>
                    <a:pt x="21" y="5"/>
                  </a:lnTo>
                  <a:lnTo>
                    <a:pt x="27" y="11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32" y="16"/>
                  </a:lnTo>
                  <a:lnTo>
                    <a:pt x="32" y="21"/>
                  </a:lnTo>
                  <a:lnTo>
                    <a:pt x="27" y="26"/>
                  </a:lnTo>
                  <a:lnTo>
                    <a:pt x="27" y="36"/>
                  </a:lnTo>
                  <a:lnTo>
                    <a:pt x="27" y="36"/>
                  </a:lnTo>
                </a:path>
              </a:pathLst>
            </a:custGeom>
            <a:grpFill/>
            <a:ln w="5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" name="Freeform 87"/>
            <p:cNvSpPr/>
            <p:nvPr/>
          </p:nvSpPr>
          <p:spPr bwMode="auto">
            <a:xfrm>
              <a:off x="9043053" y="3185656"/>
              <a:ext cx="125413" cy="33338"/>
            </a:xfrm>
            <a:custGeom>
              <a:avLst/>
              <a:gdLst/>
              <a:ahLst/>
              <a:cxnLst>
                <a:cxn ang="0">
                  <a:pos x="32" y="5"/>
                </a:cxn>
                <a:cxn ang="0">
                  <a:pos x="48" y="5"/>
                </a:cxn>
                <a:cxn ang="0">
                  <a:pos x="58" y="0"/>
                </a:cxn>
                <a:cxn ang="0">
                  <a:pos x="63" y="0"/>
                </a:cxn>
                <a:cxn ang="0">
                  <a:pos x="69" y="0"/>
                </a:cxn>
                <a:cxn ang="0">
                  <a:pos x="74" y="0"/>
                </a:cxn>
                <a:cxn ang="0">
                  <a:pos x="79" y="0"/>
                </a:cxn>
                <a:cxn ang="0">
                  <a:pos x="79" y="0"/>
                </a:cxn>
                <a:cxn ang="0">
                  <a:pos x="79" y="0"/>
                </a:cxn>
                <a:cxn ang="0">
                  <a:pos x="79" y="5"/>
                </a:cxn>
                <a:cxn ang="0">
                  <a:pos x="74" y="5"/>
                </a:cxn>
                <a:cxn ang="0">
                  <a:pos x="69" y="10"/>
                </a:cxn>
                <a:cxn ang="0">
                  <a:pos x="58" y="10"/>
                </a:cxn>
                <a:cxn ang="0">
                  <a:pos x="42" y="15"/>
                </a:cxn>
                <a:cxn ang="0">
                  <a:pos x="32" y="21"/>
                </a:cxn>
                <a:cxn ang="0">
                  <a:pos x="16" y="21"/>
                </a:cxn>
                <a:cxn ang="0">
                  <a:pos x="0" y="21"/>
                </a:cxn>
                <a:cxn ang="0">
                  <a:pos x="0" y="15"/>
                </a:cxn>
                <a:cxn ang="0">
                  <a:pos x="6" y="15"/>
                </a:cxn>
                <a:cxn ang="0">
                  <a:pos x="11" y="10"/>
                </a:cxn>
                <a:cxn ang="0">
                  <a:pos x="21" y="10"/>
                </a:cxn>
                <a:cxn ang="0">
                  <a:pos x="32" y="5"/>
                </a:cxn>
                <a:cxn ang="0">
                  <a:pos x="32" y="5"/>
                </a:cxn>
              </a:cxnLst>
              <a:rect l="0" t="0" r="r" b="b"/>
              <a:pathLst>
                <a:path w="79" h="21">
                  <a:moveTo>
                    <a:pt x="32" y="5"/>
                  </a:moveTo>
                  <a:lnTo>
                    <a:pt x="48" y="5"/>
                  </a:lnTo>
                  <a:lnTo>
                    <a:pt x="58" y="0"/>
                  </a:lnTo>
                  <a:lnTo>
                    <a:pt x="63" y="0"/>
                  </a:lnTo>
                  <a:lnTo>
                    <a:pt x="69" y="0"/>
                  </a:lnTo>
                  <a:lnTo>
                    <a:pt x="74" y="0"/>
                  </a:lnTo>
                  <a:lnTo>
                    <a:pt x="79" y="0"/>
                  </a:lnTo>
                  <a:lnTo>
                    <a:pt x="79" y="0"/>
                  </a:lnTo>
                  <a:lnTo>
                    <a:pt x="79" y="0"/>
                  </a:lnTo>
                  <a:lnTo>
                    <a:pt x="79" y="5"/>
                  </a:lnTo>
                  <a:lnTo>
                    <a:pt x="74" y="5"/>
                  </a:lnTo>
                  <a:lnTo>
                    <a:pt x="69" y="10"/>
                  </a:lnTo>
                  <a:lnTo>
                    <a:pt x="58" y="10"/>
                  </a:lnTo>
                  <a:lnTo>
                    <a:pt x="42" y="15"/>
                  </a:lnTo>
                  <a:lnTo>
                    <a:pt x="32" y="21"/>
                  </a:lnTo>
                  <a:lnTo>
                    <a:pt x="16" y="21"/>
                  </a:lnTo>
                  <a:lnTo>
                    <a:pt x="0" y="21"/>
                  </a:lnTo>
                  <a:lnTo>
                    <a:pt x="0" y="15"/>
                  </a:lnTo>
                  <a:lnTo>
                    <a:pt x="6" y="15"/>
                  </a:lnTo>
                  <a:lnTo>
                    <a:pt x="11" y="10"/>
                  </a:lnTo>
                  <a:lnTo>
                    <a:pt x="21" y="10"/>
                  </a:lnTo>
                  <a:lnTo>
                    <a:pt x="32" y="5"/>
                  </a:lnTo>
                  <a:lnTo>
                    <a:pt x="32" y="5"/>
                  </a:lnTo>
                </a:path>
              </a:pathLst>
            </a:custGeom>
            <a:grpFill/>
            <a:ln w="5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" name="Freeform 88"/>
            <p:cNvSpPr/>
            <p:nvPr/>
          </p:nvSpPr>
          <p:spPr bwMode="auto">
            <a:xfrm>
              <a:off x="9027178" y="3242806"/>
              <a:ext cx="149225" cy="49213"/>
            </a:xfrm>
            <a:custGeom>
              <a:avLst/>
              <a:gdLst/>
              <a:ahLst/>
              <a:cxnLst>
                <a:cxn ang="0">
                  <a:pos x="94" y="10"/>
                </a:cxn>
                <a:cxn ang="0">
                  <a:pos x="94" y="10"/>
                </a:cxn>
                <a:cxn ang="0">
                  <a:pos x="94" y="10"/>
                </a:cxn>
                <a:cxn ang="0">
                  <a:pos x="94" y="10"/>
                </a:cxn>
                <a:cxn ang="0">
                  <a:pos x="89" y="10"/>
                </a:cxn>
                <a:cxn ang="0">
                  <a:pos x="84" y="16"/>
                </a:cxn>
                <a:cxn ang="0">
                  <a:pos x="79" y="16"/>
                </a:cxn>
                <a:cxn ang="0">
                  <a:pos x="73" y="16"/>
                </a:cxn>
                <a:cxn ang="0">
                  <a:pos x="63" y="21"/>
                </a:cxn>
                <a:cxn ang="0">
                  <a:pos x="47" y="26"/>
                </a:cxn>
                <a:cxn ang="0">
                  <a:pos x="37" y="26"/>
                </a:cxn>
                <a:cxn ang="0">
                  <a:pos x="26" y="31"/>
                </a:cxn>
                <a:cxn ang="0">
                  <a:pos x="21" y="31"/>
                </a:cxn>
                <a:cxn ang="0">
                  <a:pos x="10" y="26"/>
                </a:cxn>
                <a:cxn ang="0">
                  <a:pos x="0" y="26"/>
                </a:cxn>
                <a:cxn ang="0">
                  <a:pos x="16" y="21"/>
                </a:cxn>
                <a:cxn ang="0">
                  <a:pos x="31" y="16"/>
                </a:cxn>
                <a:cxn ang="0">
                  <a:pos x="42" y="16"/>
                </a:cxn>
                <a:cxn ang="0">
                  <a:pos x="52" y="10"/>
                </a:cxn>
                <a:cxn ang="0">
                  <a:pos x="58" y="10"/>
                </a:cxn>
                <a:cxn ang="0">
                  <a:pos x="68" y="5"/>
                </a:cxn>
                <a:cxn ang="0">
                  <a:pos x="73" y="5"/>
                </a:cxn>
                <a:cxn ang="0">
                  <a:pos x="73" y="5"/>
                </a:cxn>
                <a:cxn ang="0">
                  <a:pos x="79" y="0"/>
                </a:cxn>
                <a:cxn ang="0">
                  <a:pos x="84" y="0"/>
                </a:cxn>
                <a:cxn ang="0">
                  <a:pos x="94" y="0"/>
                </a:cxn>
                <a:cxn ang="0">
                  <a:pos x="94" y="5"/>
                </a:cxn>
                <a:cxn ang="0">
                  <a:pos x="94" y="10"/>
                </a:cxn>
                <a:cxn ang="0">
                  <a:pos x="94" y="10"/>
                </a:cxn>
              </a:cxnLst>
              <a:rect l="0" t="0" r="r" b="b"/>
              <a:pathLst>
                <a:path w="94" h="31">
                  <a:moveTo>
                    <a:pt x="94" y="10"/>
                  </a:moveTo>
                  <a:lnTo>
                    <a:pt x="94" y="10"/>
                  </a:lnTo>
                  <a:lnTo>
                    <a:pt x="94" y="10"/>
                  </a:lnTo>
                  <a:lnTo>
                    <a:pt x="94" y="10"/>
                  </a:lnTo>
                  <a:lnTo>
                    <a:pt x="89" y="10"/>
                  </a:lnTo>
                  <a:lnTo>
                    <a:pt x="84" y="16"/>
                  </a:lnTo>
                  <a:lnTo>
                    <a:pt x="79" y="16"/>
                  </a:lnTo>
                  <a:lnTo>
                    <a:pt x="73" y="16"/>
                  </a:lnTo>
                  <a:lnTo>
                    <a:pt x="63" y="21"/>
                  </a:lnTo>
                  <a:lnTo>
                    <a:pt x="47" y="26"/>
                  </a:lnTo>
                  <a:lnTo>
                    <a:pt x="37" y="26"/>
                  </a:lnTo>
                  <a:lnTo>
                    <a:pt x="26" y="31"/>
                  </a:lnTo>
                  <a:lnTo>
                    <a:pt x="21" y="31"/>
                  </a:lnTo>
                  <a:lnTo>
                    <a:pt x="10" y="26"/>
                  </a:lnTo>
                  <a:lnTo>
                    <a:pt x="0" y="26"/>
                  </a:lnTo>
                  <a:lnTo>
                    <a:pt x="16" y="21"/>
                  </a:lnTo>
                  <a:lnTo>
                    <a:pt x="31" y="16"/>
                  </a:lnTo>
                  <a:lnTo>
                    <a:pt x="42" y="16"/>
                  </a:lnTo>
                  <a:lnTo>
                    <a:pt x="52" y="10"/>
                  </a:lnTo>
                  <a:lnTo>
                    <a:pt x="58" y="10"/>
                  </a:lnTo>
                  <a:lnTo>
                    <a:pt x="68" y="5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9" y="0"/>
                  </a:lnTo>
                  <a:lnTo>
                    <a:pt x="84" y="0"/>
                  </a:lnTo>
                  <a:lnTo>
                    <a:pt x="94" y="0"/>
                  </a:lnTo>
                  <a:lnTo>
                    <a:pt x="94" y="5"/>
                  </a:lnTo>
                  <a:lnTo>
                    <a:pt x="94" y="10"/>
                  </a:lnTo>
                  <a:lnTo>
                    <a:pt x="94" y="10"/>
                  </a:lnTo>
                </a:path>
              </a:pathLst>
            </a:custGeom>
            <a:grpFill/>
            <a:ln w="5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58" name="组合 8"/>
          <p:cNvGrpSpPr/>
          <p:nvPr/>
        </p:nvGrpSpPr>
        <p:grpSpPr>
          <a:xfrm>
            <a:off x="307975" y="6350"/>
            <a:ext cx="3248025" cy="646113"/>
            <a:chOff x="308629" y="6819"/>
            <a:chExt cx="3246908" cy="646549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0" y="6819"/>
              <a:ext cx="3226277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热身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warm-up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368"/>
              <a:ext cx="3246908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 bwMode="auto">
          <a:xfrm>
            <a:off x="328613" y="749300"/>
            <a:ext cx="115316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0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给下面的词语选择对的图片</a:t>
            </a:r>
            <a:endParaRPr kumimoji="0" lang="en-US" altLang="zh-CN" sz="24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latin typeface="+mn-ea"/>
                <a:ea typeface="+mn-ea"/>
                <a:cs typeface="+mn-cs"/>
              </a:rPr>
              <a:t>Match the pictures with the words/phrases.</a:t>
            </a:r>
            <a:endParaRPr kumimoji="0" lang="zh-CN" altLang="en-US" sz="14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70660" name="TextBox 23"/>
          <p:cNvSpPr txBox="1"/>
          <p:nvPr/>
        </p:nvSpPr>
        <p:spPr>
          <a:xfrm>
            <a:off x="7840663" y="5029200"/>
            <a:ext cx="3797300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Zhōnɡɡuó cài</a:t>
            </a:r>
          </a:p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⑤中国        菜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70661" name="Picture 4" descr="C:\Documents and Settings\Administrator.CAOFAN\桌面\hsk一级\2课\2-04三-前图46358923（20）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1930400" y="1741488"/>
            <a:ext cx="1260475" cy="1368425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70662" name="TextBox 24"/>
          <p:cNvSpPr txBox="1"/>
          <p:nvPr/>
        </p:nvSpPr>
        <p:spPr>
          <a:xfrm>
            <a:off x="7821613" y="5897563"/>
            <a:ext cx="4248150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Hànzì</a:t>
            </a:r>
          </a:p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⑥汉字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pic>
        <p:nvPicPr>
          <p:cNvPr id="11" name="Picture 5" descr="C:\Documents and Settings\Administrator.CAOFAN\桌面\hsk一级\2课\2-05山-前图43956478（20）.jpg"/>
          <p:cNvPicPr>
            <a:picLocks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306513" y="3475038"/>
            <a:ext cx="2159000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0664" name="TextBox 25"/>
          <p:cNvSpPr txBox="1"/>
          <p:nvPr/>
        </p:nvSpPr>
        <p:spPr>
          <a:xfrm>
            <a:off x="7821613" y="2233613"/>
            <a:ext cx="4038600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mǐfàn</a:t>
            </a:r>
            <a:endParaRPr lang="en-US" altLang="zh-CN" sz="2000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  <a:p>
            <a:pPr eaLnBrk="0" hangingPunct="0"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②米饭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pic>
        <p:nvPicPr>
          <p:cNvPr id="12" name="Picture 6" descr="C:\Documents and Settings\Administrator.CAOFAN\桌面\hsk一级\2课\2-06钟-微图mf829727（18）.jpg"/>
          <p:cNvPicPr>
            <a:picLocks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331913" y="5226050"/>
            <a:ext cx="2160588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0666" name="TextBox 27"/>
          <p:cNvSpPr txBox="1"/>
          <p:nvPr/>
        </p:nvSpPr>
        <p:spPr>
          <a:xfrm>
            <a:off x="7829550" y="4137025"/>
            <a:ext cx="4627563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chá </a:t>
            </a:r>
          </a:p>
          <a:p>
            <a:pPr eaLnBrk="0" hangingPunct="0"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④茶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pic>
        <p:nvPicPr>
          <p:cNvPr id="13" name="Picture 7" descr="C:\Documents and Settings\Administrator.CAOFAN\桌面\hsk一级\2课\2-07羊-前图7629013（20）.jpg"/>
          <p:cNvPicPr>
            <a:picLocks noChangeArrowheads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4454525" y="5202238"/>
            <a:ext cx="2160588" cy="13668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0668" name="TextBox 28"/>
          <p:cNvSpPr txBox="1"/>
          <p:nvPr/>
        </p:nvSpPr>
        <p:spPr>
          <a:xfrm>
            <a:off x="7821613" y="1416050"/>
            <a:ext cx="4038600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qián</a:t>
            </a:r>
          </a:p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①钱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</a:p>
        </p:txBody>
      </p:sp>
      <p:pic>
        <p:nvPicPr>
          <p:cNvPr id="14" name="Picture 8" descr="C:\Documents and Settings\Administrator.CAOFAN\桌面\hsk一级\2课\2-08零-前图48346217（20）.jpg"/>
          <p:cNvPicPr>
            <a:picLocks noChangeArrowheads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4467225" y="1722438"/>
            <a:ext cx="2160588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0670" name="TextBox 29"/>
          <p:cNvSpPr txBox="1"/>
          <p:nvPr/>
        </p:nvSpPr>
        <p:spPr>
          <a:xfrm>
            <a:off x="7840663" y="3230563"/>
            <a:ext cx="4229100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bēizi</a:t>
            </a:r>
            <a:endParaRPr lang="en-US" altLang="zh-CN" sz="2000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③杯子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pic>
        <p:nvPicPr>
          <p:cNvPr id="15" name="Picture 9" descr="C:\Documents and Settings\Administrator.CAOFAN\桌面\hsk一级\2课\2-09菜-前图22657124（20）.jpg"/>
          <p:cNvPicPr>
            <a:picLocks noChangeArrowheads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4481513" y="3465513"/>
            <a:ext cx="2160588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70672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0673" name="TextBox 27"/>
          <p:cNvSpPr txBox="1"/>
          <p:nvPr/>
        </p:nvSpPr>
        <p:spPr>
          <a:xfrm>
            <a:off x="1284288" y="1722438"/>
            <a:ext cx="400050" cy="46196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A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0674" name="TextBox 28"/>
          <p:cNvSpPr txBox="1"/>
          <p:nvPr/>
        </p:nvSpPr>
        <p:spPr>
          <a:xfrm>
            <a:off x="1290638" y="3455988"/>
            <a:ext cx="400050" cy="46196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B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0675" name="TextBox 29"/>
          <p:cNvSpPr txBox="1"/>
          <p:nvPr/>
        </p:nvSpPr>
        <p:spPr>
          <a:xfrm>
            <a:off x="1317625" y="5207000"/>
            <a:ext cx="400050" cy="46196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C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0676" name="TextBox 30"/>
          <p:cNvSpPr txBox="1"/>
          <p:nvPr/>
        </p:nvSpPr>
        <p:spPr>
          <a:xfrm>
            <a:off x="4440238" y="1703388"/>
            <a:ext cx="398462" cy="46196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D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0677" name="TextBox 31"/>
          <p:cNvSpPr txBox="1"/>
          <p:nvPr/>
        </p:nvSpPr>
        <p:spPr>
          <a:xfrm>
            <a:off x="4478338" y="3451225"/>
            <a:ext cx="398462" cy="46196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E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0678" name="TextBox 32"/>
          <p:cNvSpPr txBox="1"/>
          <p:nvPr/>
        </p:nvSpPr>
        <p:spPr>
          <a:xfrm>
            <a:off x="4456113" y="5187950"/>
            <a:ext cx="398462" cy="46196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F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279525" y="1724025"/>
            <a:ext cx="2159000" cy="1368425"/>
          </a:xfrm>
          <a:prstGeom prst="rect">
            <a:avLst/>
          </a:prstGeom>
          <a:noFill/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1" name="文本框 142"/>
          <p:cNvSpPr/>
          <p:nvPr/>
        </p:nvSpPr>
        <p:spPr>
          <a:xfrm>
            <a:off x="2368550" y="1516063"/>
            <a:ext cx="109061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xiǎnɡ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sp>
        <p:nvSpPr>
          <p:cNvPr id="5148" name="文本框 148"/>
          <p:cNvSpPr/>
          <p:nvPr/>
        </p:nvSpPr>
        <p:spPr>
          <a:xfrm>
            <a:off x="2363788" y="2384425"/>
            <a:ext cx="72866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chī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sp>
        <p:nvSpPr>
          <p:cNvPr id="5149" name="文本框 149"/>
          <p:cNvSpPr/>
          <p:nvPr/>
        </p:nvSpPr>
        <p:spPr>
          <a:xfrm>
            <a:off x="2363788" y="3227388"/>
            <a:ext cx="18161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shānɡdiàn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cxnSp>
        <p:nvCxnSpPr>
          <p:cNvPr id="71685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2" name="组合 5"/>
          <p:cNvGrpSpPr/>
          <p:nvPr/>
        </p:nvGrpSpPr>
        <p:grpSpPr>
          <a:xfrm>
            <a:off x="866775" y="1516063"/>
            <a:ext cx="1338263" cy="546100"/>
            <a:chOff x="682668" y="3939837"/>
            <a:chExt cx="1338943" cy="545509"/>
          </a:xfrm>
        </p:grpSpPr>
        <p:sp>
          <p:nvSpPr>
            <p:cNvPr id="71744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45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想</a:t>
              </a:r>
            </a:p>
          </p:txBody>
        </p:sp>
      </p:grpSp>
      <p:grpSp>
        <p:nvGrpSpPr>
          <p:cNvPr id="3" name="组合 6"/>
          <p:cNvGrpSpPr/>
          <p:nvPr/>
        </p:nvGrpSpPr>
        <p:grpSpPr>
          <a:xfrm>
            <a:off x="866775" y="2360613"/>
            <a:ext cx="1338263" cy="536575"/>
            <a:chOff x="682668" y="4792841"/>
            <a:chExt cx="1338943" cy="536981"/>
          </a:xfrm>
        </p:grpSpPr>
        <p:sp>
          <p:nvSpPr>
            <p:cNvPr id="71742" name="圆角矩形 31"/>
            <p:cNvSpPr/>
            <p:nvPr/>
          </p:nvSpPr>
          <p:spPr>
            <a:xfrm>
              <a:off x="682668" y="4800635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43" name="文本框 107"/>
            <p:cNvSpPr/>
            <p:nvPr/>
          </p:nvSpPr>
          <p:spPr>
            <a:xfrm>
              <a:off x="912891" y="4792841"/>
              <a:ext cx="903911" cy="52618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吃</a:t>
              </a:r>
            </a:p>
          </p:txBody>
        </p:sp>
      </p:grpSp>
      <p:grpSp>
        <p:nvGrpSpPr>
          <p:cNvPr id="4" name="组合 7"/>
          <p:cNvGrpSpPr/>
          <p:nvPr/>
        </p:nvGrpSpPr>
        <p:grpSpPr>
          <a:xfrm>
            <a:off x="868363" y="3222625"/>
            <a:ext cx="1338262" cy="530225"/>
            <a:chOff x="683984" y="5619216"/>
            <a:chExt cx="1338943" cy="529187"/>
          </a:xfrm>
        </p:grpSpPr>
        <p:sp>
          <p:nvSpPr>
            <p:cNvPr id="71740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41" name="文本框 110"/>
            <p:cNvSpPr/>
            <p:nvPr/>
          </p:nvSpPr>
          <p:spPr>
            <a:xfrm>
              <a:off x="895960" y="5622652"/>
              <a:ext cx="903911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 anchor="ctr" anchorCtr="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商店</a:t>
              </a:r>
            </a:p>
          </p:txBody>
        </p:sp>
      </p:grpSp>
      <p:grpSp>
        <p:nvGrpSpPr>
          <p:cNvPr id="71689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32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文本框 142"/>
          <p:cNvSpPr/>
          <p:nvPr/>
        </p:nvSpPr>
        <p:spPr>
          <a:xfrm>
            <a:off x="10188575" y="1536700"/>
            <a:ext cx="157321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chá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sp>
        <p:nvSpPr>
          <p:cNvPr id="37" name="文本框 148"/>
          <p:cNvSpPr/>
          <p:nvPr/>
        </p:nvSpPr>
        <p:spPr>
          <a:xfrm>
            <a:off x="10188575" y="2405063"/>
            <a:ext cx="11049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xiàwǔ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sp>
        <p:nvSpPr>
          <p:cNvPr id="38" name="文本框 149"/>
          <p:cNvSpPr/>
          <p:nvPr/>
        </p:nvSpPr>
        <p:spPr>
          <a:xfrm>
            <a:off x="10188575" y="3248025"/>
            <a:ext cx="54768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ɡe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6" name="组合 38"/>
          <p:cNvGrpSpPr/>
          <p:nvPr/>
        </p:nvGrpSpPr>
        <p:grpSpPr>
          <a:xfrm>
            <a:off x="8737600" y="1536700"/>
            <a:ext cx="1338263" cy="546100"/>
            <a:chOff x="682668" y="3939837"/>
            <a:chExt cx="1338943" cy="545509"/>
          </a:xfrm>
        </p:grpSpPr>
        <p:sp>
          <p:nvSpPr>
            <p:cNvPr id="71736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37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茶</a:t>
              </a:r>
            </a:p>
          </p:txBody>
        </p:sp>
      </p:grpSp>
      <p:grpSp>
        <p:nvGrpSpPr>
          <p:cNvPr id="7" name="组合 41"/>
          <p:cNvGrpSpPr/>
          <p:nvPr/>
        </p:nvGrpSpPr>
        <p:grpSpPr>
          <a:xfrm>
            <a:off x="8737600" y="2381250"/>
            <a:ext cx="1338263" cy="536575"/>
            <a:chOff x="682668" y="4792841"/>
            <a:chExt cx="1338943" cy="536981"/>
          </a:xfrm>
        </p:grpSpPr>
        <p:sp>
          <p:nvSpPr>
            <p:cNvPr id="71734" name="圆角矩形 31"/>
            <p:cNvSpPr/>
            <p:nvPr/>
          </p:nvSpPr>
          <p:spPr>
            <a:xfrm>
              <a:off x="682668" y="4800635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35" name="文本框 107"/>
            <p:cNvSpPr/>
            <p:nvPr/>
          </p:nvSpPr>
          <p:spPr>
            <a:xfrm>
              <a:off x="922892" y="4792841"/>
              <a:ext cx="903911" cy="5261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下午</a:t>
              </a:r>
            </a:p>
          </p:txBody>
        </p:sp>
      </p:grpSp>
      <p:grpSp>
        <p:nvGrpSpPr>
          <p:cNvPr id="8" name="组合 44"/>
          <p:cNvGrpSpPr/>
          <p:nvPr/>
        </p:nvGrpSpPr>
        <p:grpSpPr>
          <a:xfrm>
            <a:off x="8739188" y="3243263"/>
            <a:ext cx="1338262" cy="530225"/>
            <a:chOff x="683984" y="5619216"/>
            <a:chExt cx="1338943" cy="531110"/>
          </a:xfrm>
        </p:grpSpPr>
        <p:sp>
          <p:nvSpPr>
            <p:cNvPr id="71732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33" name="文本框 110"/>
            <p:cNvSpPr/>
            <p:nvPr/>
          </p:nvSpPr>
          <p:spPr>
            <a:xfrm>
              <a:off x="1111562" y="5622654"/>
              <a:ext cx="543053" cy="5276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个</a:t>
              </a:r>
            </a:p>
          </p:txBody>
        </p:sp>
      </p:grpSp>
      <p:sp>
        <p:nvSpPr>
          <p:cNvPr id="30" name="文本框 149"/>
          <p:cNvSpPr/>
          <p:nvPr/>
        </p:nvSpPr>
        <p:spPr>
          <a:xfrm>
            <a:off x="2357438" y="4121150"/>
            <a:ext cx="109061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bēizi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9" name="组合 7"/>
          <p:cNvGrpSpPr/>
          <p:nvPr/>
        </p:nvGrpSpPr>
        <p:grpSpPr>
          <a:xfrm>
            <a:off x="863600" y="4116388"/>
            <a:ext cx="1338263" cy="530225"/>
            <a:chOff x="683984" y="5619216"/>
            <a:chExt cx="1338943" cy="531110"/>
          </a:xfrm>
        </p:grpSpPr>
        <p:sp>
          <p:nvSpPr>
            <p:cNvPr id="71730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31" name="文本框 110"/>
            <p:cNvSpPr/>
            <p:nvPr/>
          </p:nvSpPr>
          <p:spPr>
            <a:xfrm>
              <a:off x="931148" y="5622654"/>
              <a:ext cx="903912" cy="5276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杯子</a:t>
              </a:r>
            </a:p>
          </p:txBody>
        </p:sp>
      </p:grpSp>
      <p:sp>
        <p:nvSpPr>
          <p:cNvPr id="39" name="文本框 149"/>
          <p:cNvSpPr/>
          <p:nvPr/>
        </p:nvSpPr>
        <p:spPr>
          <a:xfrm>
            <a:off x="10183813" y="4141788"/>
            <a:ext cx="145256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duōshao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10" name="组合 44"/>
          <p:cNvGrpSpPr/>
          <p:nvPr/>
        </p:nvGrpSpPr>
        <p:grpSpPr>
          <a:xfrm>
            <a:off x="8734425" y="4137025"/>
            <a:ext cx="1338263" cy="546100"/>
            <a:chOff x="683984" y="5619216"/>
            <a:chExt cx="1338943" cy="546281"/>
          </a:xfrm>
        </p:grpSpPr>
        <p:sp>
          <p:nvSpPr>
            <p:cNvPr id="71728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29" name="文本框 110"/>
            <p:cNvSpPr/>
            <p:nvPr/>
          </p:nvSpPr>
          <p:spPr>
            <a:xfrm>
              <a:off x="941449" y="5638443"/>
              <a:ext cx="903911" cy="5270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多少</a:t>
              </a:r>
            </a:p>
          </p:txBody>
        </p:sp>
      </p:grpSp>
      <p:grpSp>
        <p:nvGrpSpPr>
          <p:cNvPr id="11" name="组合 7"/>
          <p:cNvGrpSpPr/>
          <p:nvPr/>
        </p:nvGrpSpPr>
        <p:grpSpPr>
          <a:xfrm>
            <a:off x="879475" y="4999038"/>
            <a:ext cx="1338263" cy="530225"/>
            <a:chOff x="683984" y="5619216"/>
            <a:chExt cx="1338943" cy="529187"/>
          </a:xfrm>
        </p:grpSpPr>
        <p:sp>
          <p:nvSpPr>
            <p:cNvPr id="71726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27" name="文本框 110"/>
            <p:cNvSpPr/>
            <p:nvPr/>
          </p:nvSpPr>
          <p:spPr>
            <a:xfrm>
              <a:off x="1080201" y="5622652"/>
              <a:ext cx="543053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钱</a:t>
              </a:r>
            </a:p>
          </p:txBody>
        </p:sp>
      </p:grpSp>
      <p:sp>
        <p:nvSpPr>
          <p:cNvPr id="42" name="文本框 149"/>
          <p:cNvSpPr/>
          <p:nvPr/>
        </p:nvSpPr>
        <p:spPr>
          <a:xfrm>
            <a:off x="10236200" y="5008563"/>
            <a:ext cx="54768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nà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12" name="组合 7"/>
          <p:cNvGrpSpPr/>
          <p:nvPr/>
        </p:nvGrpSpPr>
        <p:grpSpPr>
          <a:xfrm>
            <a:off x="8732838" y="5003800"/>
            <a:ext cx="1338262" cy="530225"/>
            <a:chOff x="683984" y="5619216"/>
            <a:chExt cx="1338943" cy="529187"/>
          </a:xfrm>
        </p:grpSpPr>
        <p:sp>
          <p:nvSpPr>
            <p:cNvPr id="71724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25" name="文本框 110"/>
            <p:cNvSpPr/>
            <p:nvPr/>
          </p:nvSpPr>
          <p:spPr>
            <a:xfrm>
              <a:off x="1103640" y="5622652"/>
              <a:ext cx="543053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那</a:t>
              </a:r>
            </a:p>
          </p:txBody>
        </p:sp>
      </p:grpSp>
      <p:sp>
        <p:nvSpPr>
          <p:cNvPr id="46" name="文本框 149"/>
          <p:cNvSpPr/>
          <p:nvPr/>
        </p:nvSpPr>
        <p:spPr>
          <a:xfrm>
            <a:off x="6207125" y="1562100"/>
            <a:ext cx="54610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hē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13" name="组合 7"/>
          <p:cNvGrpSpPr/>
          <p:nvPr/>
        </p:nvGrpSpPr>
        <p:grpSpPr>
          <a:xfrm>
            <a:off x="4641850" y="1557338"/>
            <a:ext cx="1338263" cy="530225"/>
            <a:chOff x="683984" y="5619216"/>
            <a:chExt cx="1338943" cy="529187"/>
          </a:xfrm>
        </p:grpSpPr>
        <p:sp>
          <p:nvSpPr>
            <p:cNvPr id="71722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23" name="文本框 110"/>
            <p:cNvSpPr/>
            <p:nvPr/>
          </p:nvSpPr>
          <p:spPr>
            <a:xfrm>
              <a:off x="1060010" y="5622652"/>
              <a:ext cx="543053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喝</a:t>
              </a:r>
            </a:p>
          </p:txBody>
        </p:sp>
      </p:grpSp>
      <p:sp>
        <p:nvSpPr>
          <p:cNvPr id="51" name="文本框 149"/>
          <p:cNvSpPr/>
          <p:nvPr/>
        </p:nvSpPr>
        <p:spPr>
          <a:xfrm>
            <a:off x="6181725" y="2409825"/>
            <a:ext cx="109061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mǐfàn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14" name="组合 7"/>
          <p:cNvGrpSpPr/>
          <p:nvPr/>
        </p:nvGrpSpPr>
        <p:grpSpPr>
          <a:xfrm>
            <a:off x="4641850" y="2405063"/>
            <a:ext cx="1338263" cy="530225"/>
            <a:chOff x="683984" y="5619216"/>
            <a:chExt cx="1338943" cy="529187"/>
          </a:xfrm>
        </p:grpSpPr>
        <p:sp>
          <p:nvSpPr>
            <p:cNvPr id="71720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21" name="文本框 110"/>
            <p:cNvSpPr/>
            <p:nvPr/>
          </p:nvSpPr>
          <p:spPr>
            <a:xfrm>
              <a:off x="857325" y="5622652"/>
              <a:ext cx="903912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米饭</a:t>
              </a:r>
            </a:p>
          </p:txBody>
        </p:sp>
      </p:grpSp>
      <p:sp>
        <p:nvSpPr>
          <p:cNvPr id="55" name="文本框 149"/>
          <p:cNvSpPr/>
          <p:nvPr/>
        </p:nvSpPr>
        <p:spPr>
          <a:xfrm>
            <a:off x="2357438" y="4989513"/>
            <a:ext cx="90963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qián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sp>
        <p:nvSpPr>
          <p:cNvPr id="54" name="文本框 149"/>
          <p:cNvSpPr/>
          <p:nvPr/>
        </p:nvSpPr>
        <p:spPr>
          <a:xfrm>
            <a:off x="6186488" y="3227388"/>
            <a:ext cx="72866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mǎi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15" name="组合 44"/>
          <p:cNvGrpSpPr/>
          <p:nvPr/>
        </p:nvGrpSpPr>
        <p:grpSpPr>
          <a:xfrm>
            <a:off x="4648200" y="3222625"/>
            <a:ext cx="1338263" cy="530225"/>
            <a:chOff x="683984" y="5619216"/>
            <a:chExt cx="1338943" cy="531110"/>
          </a:xfrm>
        </p:grpSpPr>
        <p:sp>
          <p:nvSpPr>
            <p:cNvPr id="71718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19" name="文本框 110"/>
            <p:cNvSpPr/>
            <p:nvPr/>
          </p:nvSpPr>
          <p:spPr>
            <a:xfrm>
              <a:off x="1058781" y="5622654"/>
              <a:ext cx="543053" cy="5276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买</a:t>
              </a:r>
            </a:p>
          </p:txBody>
        </p:sp>
      </p:grpSp>
      <p:sp>
        <p:nvSpPr>
          <p:cNvPr id="59" name="文本框 149"/>
          <p:cNvSpPr/>
          <p:nvPr/>
        </p:nvSpPr>
        <p:spPr>
          <a:xfrm>
            <a:off x="6181725" y="4121150"/>
            <a:ext cx="72866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zhè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16" name="组合 44"/>
          <p:cNvGrpSpPr/>
          <p:nvPr/>
        </p:nvGrpSpPr>
        <p:grpSpPr>
          <a:xfrm>
            <a:off x="4643438" y="4116388"/>
            <a:ext cx="1338262" cy="546100"/>
            <a:chOff x="683984" y="5619216"/>
            <a:chExt cx="1338943" cy="546281"/>
          </a:xfrm>
        </p:grpSpPr>
        <p:sp>
          <p:nvSpPr>
            <p:cNvPr id="71716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17" name="文本框 110"/>
            <p:cNvSpPr/>
            <p:nvPr/>
          </p:nvSpPr>
          <p:spPr>
            <a:xfrm>
              <a:off x="1064606" y="5638443"/>
              <a:ext cx="543053" cy="5270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这</a:t>
              </a:r>
            </a:p>
          </p:txBody>
        </p:sp>
      </p:grpSp>
      <p:sp>
        <p:nvSpPr>
          <p:cNvPr id="63" name="文本框 149"/>
          <p:cNvSpPr/>
          <p:nvPr/>
        </p:nvSpPr>
        <p:spPr>
          <a:xfrm>
            <a:off x="6199188" y="4987925"/>
            <a:ext cx="90963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kuài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grpSp>
        <p:nvGrpSpPr>
          <p:cNvPr id="17" name="组合 7"/>
          <p:cNvGrpSpPr/>
          <p:nvPr/>
        </p:nvGrpSpPr>
        <p:grpSpPr>
          <a:xfrm>
            <a:off x="4641850" y="4983163"/>
            <a:ext cx="1338263" cy="530225"/>
            <a:chOff x="683984" y="5619216"/>
            <a:chExt cx="1338943" cy="529187"/>
          </a:xfrm>
        </p:grpSpPr>
        <p:sp>
          <p:nvSpPr>
            <p:cNvPr id="71714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1715" name="文本框 110"/>
            <p:cNvSpPr/>
            <p:nvPr/>
          </p:nvSpPr>
          <p:spPr>
            <a:xfrm>
              <a:off x="1068453" y="5622652"/>
              <a:ext cx="543053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块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53" presetClass="exit" presetSubtype="54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6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3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5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0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2" dur="5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1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5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2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5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9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2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6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9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3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6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0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3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7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0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4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7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1" grpId="0" bldLvl="0"/>
      <p:bldP spid="5141" grpId="1" bldLvl="0"/>
      <p:bldP spid="5141" grpId="2" bldLvl="0"/>
      <p:bldP spid="5141" grpId="3" bldLvl="0"/>
      <p:bldP spid="5141" grpId="4" bldLvl="0"/>
      <p:bldP spid="5148" grpId="0" bldLvl="0"/>
      <p:bldP spid="5148" grpId="1" bldLvl="0"/>
      <p:bldP spid="5148" grpId="2" bldLvl="0"/>
      <p:bldP spid="5148" grpId="3" bldLvl="0"/>
      <p:bldP spid="5148" grpId="4" bldLvl="0"/>
      <p:bldP spid="5149" grpId="0" bldLvl="0"/>
      <p:bldP spid="5149" grpId="1" bldLvl="0"/>
      <p:bldP spid="5149" grpId="2" bldLvl="0"/>
      <p:bldP spid="5149" grpId="3" bldLvl="0"/>
      <p:bldP spid="5149" grpId="4" bldLvl="0"/>
      <p:bldP spid="36" grpId="0" bldLvl="0"/>
      <p:bldP spid="36" grpId="1" bldLvl="0"/>
      <p:bldP spid="36" grpId="2" bldLvl="0"/>
      <p:bldP spid="36" grpId="3" bldLvl="0"/>
      <p:bldP spid="36" grpId="4" bldLvl="0"/>
      <p:bldP spid="37" grpId="0" bldLvl="0"/>
      <p:bldP spid="37" grpId="1" bldLvl="0"/>
      <p:bldP spid="37" grpId="2" bldLvl="0"/>
      <p:bldP spid="37" grpId="3" bldLvl="0"/>
      <p:bldP spid="37" grpId="4" bldLvl="0"/>
      <p:bldP spid="38" grpId="0" bldLvl="0"/>
      <p:bldP spid="38" grpId="1" bldLvl="0"/>
      <p:bldP spid="38" grpId="2" bldLvl="0"/>
      <p:bldP spid="38" grpId="3" bldLvl="0"/>
      <p:bldP spid="38" grpId="4" bldLvl="0"/>
      <p:bldP spid="30" grpId="0" bldLvl="0"/>
      <p:bldP spid="30" grpId="1" bldLvl="0"/>
      <p:bldP spid="30" grpId="2" bldLvl="0"/>
      <p:bldP spid="30" grpId="3" bldLvl="0"/>
      <p:bldP spid="30" grpId="4" bldLvl="0"/>
      <p:bldP spid="39" grpId="0" bldLvl="0"/>
      <p:bldP spid="39" grpId="1" bldLvl="0"/>
      <p:bldP spid="39" grpId="2" bldLvl="0"/>
      <p:bldP spid="39" grpId="3" bldLvl="0"/>
      <p:bldP spid="39" grpId="4" bldLvl="0"/>
      <p:bldP spid="42" grpId="0" bldLvl="0"/>
      <p:bldP spid="42" grpId="1" bldLvl="0"/>
      <p:bldP spid="42" grpId="2" bldLvl="0"/>
      <p:bldP spid="42" grpId="3" bldLvl="0"/>
      <p:bldP spid="42" grpId="4" bldLvl="0"/>
      <p:bldP spid="46" grpId="0" bldLvl="0"/>
      <p:bldP spid="46" grpId="1" bldLvl="0"/>
      <p:bldP spid="46" grpId="2" bldLvl="0"/>
      <p:bldP spid="46" grpId="3" bldLvl="0"/>
      <p:bldP spid="46" grpId="4" bldLvl="0"/>
      <p:bldP spid="51" grpId="0" bldLvl="0"/>
      <p:bldP spid="51" grpId="1" bldLvl="0"/>
      <p:bldP spid="51" grpId="2" bldLvl="0"/>
      <p:bldP spid="51" grpId="3" bldLvl="0"/>
      <p:bldP spid="51" grpId="4" bldLvl="0"/>
      <p:bldP spid="55" grpId="0" bldLvl="0"/>
      <p:bldP spid="55" grpId="1" bldLvl="0"/>
      <p:bldP spid="55" grpId="2" bldLvl="0"/>
      <p:bldP spid="55" grpId="3" bldLvl="0"/>
      <p:bldP spid="54" grpId="0" bldLvl="0"/>
      <p:bldP spid="54" grpId="1" bldLvl="0"/>
      <p:bldP spid="54" grpId="2" bldLvl="0"/>
      <p:bldP spid="54" grpId="3" bldLvl="0"/>
      <p:bldP spid="54" grpId="4" bldLvl="0"/>
      <p:bldP spid="59" grpId="0" bldLvl="0"/>
      <p:bldP spid="59" grpId="1" bldLvl="0"/>
      <p:bldP spid="59" grpId="2" bldLvl="0"/>
      <p:bldP spid="59" grpId="3" bldLvl="0"/>
      <p:bldP spid="59" grpId="4" bldLvl="0"/>
      <p:bldP spid="63" grpId="0" bldLvl="0"/>
      <p:bldP spid="63" grpId="1" bldLvl="0"/>
      <p:bldP spid="63" grpId="2" bldLvl="0"/>
      <p:bldP spid="63" grpId="3" bldLvl="0"/>
      <p:bldP spid="63" grpId="4" bldLvl="0"/>
      <p:bldP spid="63" grpId="5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25"/>
          <p:cNvSpPr/>
          <p:nvPr/>
        </p:nvSpPr>
        <p:spPr>
          <a:xfrm>
            <a:off x="2755900" y="1298575"/>
            <a:ext cx="5438775" cy="54610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2707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2708" name="圆角矩形 32"/>
          <p:cNvSpPr/>
          <p:nvPr/>
        </p:nvSpPr>
        <p:spPr>
          <a:xfrm>
            <a:off x="1155700" y="1281113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2709" name="文本框 88"/>
          <p:cNvSpPr/>
          <p:nvPr/>
        </p:nvSpPr>
        <p:spPr>
          <a:xfrm>
            <a:off x="1335088" y="13017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喝</a:t>
            </a:r>
          </a:p>
        </p:txBody>
      </p:sp>
      <p:sp>
        <p:nvSpPr>
          <p:cNvPr id="72710" name="文本框 88"/>
          <p:cNvSpPr/>
          <p:nvPr/>
        </p:nvSpPr>
        <p:spPr>
          <a:xfrm>
            <a:off x="1319213" y="2014538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吃</a:t>
            </a:r>
          </a:p>
        </p:txBody>
      </p:sp>
      <p:sp>
        <p:nvSpPr>
          <p:cNvPr id="72711" name="文本框 107"/>
          <p:cNvSpPr/>
          <p:nvPr/>
        </p:nvSpPr>
        <p:spPr>
          <a:xfrm>
            <a:off x="1335088" y="2689225"/>
            <a:ext cx="903287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下午</a:t>
            </a:r>
          </a:p>
        </p:txBody>
      </p:sp>
      <p:grpSp>
        <p:nvGrpSpPr>
          <p:cNvPr id="72712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框 152"/>
          <p:cNvSpPr/>
          <p:nvPr/>
        </p:nvSpPr>
        <p:spPr>
          <a:xfrm>
            <a:off x="2827338" y="131286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喝茶</a:t>
            </a:r>
          </a:p>
        </p:txBody>
      </p:sp>
      <p:sp>
        <p:nvSpPr>
          <p:cNvPr id="30" name="文本框 152"/>
          <p:cNvSpPr/>
          <p:nvPr/>
        </p:nvSpPr>
        <p:spPr>
          <a:xfrm>
            <a:off x="4411663" y="1312863"/>
            <a:ext cx="37830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你喝什么？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我喝茶。</a:t>
            </a:r>
          </a:p>
        </p:txBody>
      </p:sp>
      <p:sp>
        <p:nvSpPr>
          <p:cNvPr id="72715" name="文本框 107"/>
          <p:cNvSpPr/>
          <p:nvPr/>
        </p:nvSpPr>
        <p:spPr>
          <a:xfrm>
            <a:off x="1495425" y="470376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买</a:t>
            </a:r>
          </a:p>
        </p:txBody>
      </p:sp>
      <p:sp>
        <p:nvSpPr>
          <p:cNvPr id="72716" name="文本框 107"/>
          <p:cNvSpPr/>
          <p:nvPr/>
        </p:nvSpPr>
        <p:spPr>
          <a:xfrm>
            <a:off x="1292225" y="4051300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商店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67790" y="782955"/>
            <a:ext cx="9144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hē</a:t>
            </a:r>
            <a:r>
              <a:rPr lang="en-US" altLang="en-US"/>
              <a:t>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694305" y="79121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hē chá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292600" y="844550"/>
            <a:ext cx="2133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hē shén me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604000" y="844550"/>
            <a:ext cx="1524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hē chá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8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755900" y="1984375"/>
            <a:ext cx="7319963" cy="54610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3731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3732" name="圆角矩形 32"/>
          <p:cNvSpPr/>
          <p:nvPr/>
        </p:nvSpPr>
        <p:spPr>
          <a:xfrm>
            <a:off x="1155700" y="1984375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3733" name="文本框 88"/>
          <p:cNvSpPr/>
          <p:nvPr/>
        </p:nvSpPr>
        <p:spPr>
          <a:xfrm>
            <a:off x="1335088" y="13017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喝</a:t>
            </a:r>
          </a:p>
        </p:txBody>
      </p:sp>
      <p:sp>
        <p:nvSpPr>
          <p:cNvPr id="73734" name="文本框 88"/>
          <p:cNvSpPr/>
          <p:nvPr/>
        </p:nvSpPr>
        <p:spPr>
          <a:xfrm>
            <a:off x="1319213" y="2014538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吃</a:t>
            </a:r>
          </a:p>
        </p:txBody>
      </p:sp>
      <p:sp>
        <p:nvSpPr>
          <p:cNvPr id="73735" name="文本框 107"/>
          <p:cNvSpPr/>
          <p:nvPr/>
        </p:nvSpPr>
        <p:spPr>
          <a:xfrm>
            <a:off x="1335088" y="2689225"/>
            <a:ext cx="903287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下午</a:t>
            </a:r>
          </a:p>
        </p:txBody>
      </p:sp>
      <p:grpSp>
        <p:nvGrpSpPr>
          <p:cNvPr id="73736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737" name="文本框 152"/>
          <p:cNvSpPr/>
          <p:nvPr/>
        </p:nvSpPr>
        <p:spPr>
          <a:xfrm>
            <a:off x="2827338" y="131286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喝茶</a:t>
            </a:r>
          </a:p>
        </p:txBody>
      </p:sp>
      <p:sp>
        <p:nvSpPr>
          <p:cNvPr id="73738" name="文本框 152"/>
          <p:cNvSpPr/>
          <p:nvPr/>
        </p:nvSpPr>
        <p:spPr>
          <a:xfrm>
            <a:off x="4411663" y="1312863"/>
            <a:ext cx="37830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你喝什么？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我喝茶。</a:t>
            </a:r>
          </a:p>
        </p:txBody>
      </p:sp>
      <p:sp>
        <p:nvSpPr>
          <p:cNvPr id="73739" name="文本框 107"/>
          <p:cNvSpPr/>
          <p:nvPr/>
        </p:nvSpPr>
        <p:spPr>
          <a:xfrm>
            <a:off x="1495425" y="470376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买</a:t>
            </a:r>
          </a:p>
        </p:txBody>
      </p:sp>
      <p:sp>
        <p:nvSpPr>
          <p:cNvPr id="73740" name="文本框 107"/>
          <p:cNvSpPr/>
          <p:nvPr/>
        </p:nvSpPr>
        <p:spPr>
          <a:xfrm>
            <a:off x="1292225" y="4051300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商店</a:t>
            </a:r>
          </a:p>
        </p:txBody>
      </p:sp>
      <p:sp>
        <p:nvSpPr>
          <p:cNvPr id="15" name="文本框 152"/>
          <p:cNvSpPr/>
          <p:nvPr/>
        </p:nvSpPr>
        <p:spPr>
          <a:xfrm>
            <a:off x="2840038" y="2014538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吃饭</a:t>
            </a:r>
          </a:p>
        </p:txBody>
      </p:sp>
      <p:sp>
        <p:nvSpPr>
          <p:cNvPr id="16" name="文本框 152"/>
          <p:cNvSpPr/>
          <p:nvPr/>
        </p:nvSpPr>
        <p:spPr>
          <a:xfrm>
            <a:off x="4424363" y="2032000"/>
            <a:ext cx="378142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吃米饭</a:t>
            </a:r>
          </a:p>
        </p:txBody>
      </p:sp>
      <p:sp>
        <p:nvSpPr>
          <p:cNvPr id="17" name="文本框 152"/>
          <p:cNvSpPr/>
          <p:nvPr/>
        </p:nvSpPr>
        <p:spPr>
          <a:xfrm>
            <a:off x="6292850" y="2052638"/>
            <a:ext cx="37830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你吃什么？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我吃米饭。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65225" y="1616075"/>
            <a:ext cx="609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chī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716530" y="1616075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chī fàn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311650" y="1616075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chī mǐ fàn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144260" y="1646555"/>
            <a:ext cx="228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chī shén me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206105" y="1616075"/>
            <a:ext cx="2133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chī mǐ fàn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755900" y="2670175"/>
            <a:ext cx="5192713" cy="1146175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4755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4756" name="圆角矩形 32"/>
          <p:cNvSpPr/>
          <p:nvPr/>
        </p:nvSpPr>
        <p:spPr>
          <a:xfrm>
            <a:off x="1155700" y="2670175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4757" name="文本框 88"/>
          <p:cNvSpPr/>
          <p:nvPr/>
        </p:nvSpPr>
        <p:spPr>
          <a:xfrm>
            <a:off x="1335088" y="13017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喝</a:t>
            </a:r>
          </a:p>
        </p:txBody>
      </p:sp>
      <p:sp>
        <p:nvSpPr>
          <p:cNvPr id="74758" name="文本框 88"/>
          <p:cNvSpPr/>
          <p:nvPr/>
        </p:nvSpPr>
        <p:spPr>
          <a:xfrm>
            <a:off x="1319213" y="2014538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吃</a:t>
            </a:r>
          </a:p>
        </p:txBody>
      </p:sp>
      <p:sp>
        <p:nvSpPr>
          <p:cNvPr id="74759" name="文本框 107"/>
          <p:cNvSpPr/>
          <p:nvPr/>
        </p:nvSpPr>
        <p:spPr>
          <a:xfrm>
            <a:off x="1335088" y="2689225"/>
            <a:ext cx="903287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下午</a:t>
            </a:r>
          </a:p>
        </p:txBody>
      </p:sp>
      <p:grpSp>
        <p:nvGrpSpPr>
          <p:cNvPr id="74760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761" name="文本框 152"/>
          <p:cNvSpPr/>
          <p:nvPr/>
        </p:nvSpPr>
        <p:spPr>
          <a:xfrm>
            <a:off x="2827338" y="131286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喝茶</a:t>
            </a:r>
          </a:p>
        </p:txBody>
      </p:sp>
      <p:sp>
        <p:nvSpPr>
          <p:cNvPr id="74762" name="文本框 152"/>
          <p:cNvSpPr/>
          <p:nvPr/>
        </p:nvSpPr>
        <p:spPr>
          <a:xfrm>
            <a:off x="4411663" y="1312863"/>
            <a:ext cx="37830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你喝什么？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我喝茶。</a:t>
            </a:r>
          </a:p>
        </p:txBody>
      </p:sp>
      <p:sp>
        <p:nvSpPr>
          <p:cNvPr id="74763" name="文本框 107"/>
          <p:cNvSpPr/>
          <p:nvPr/>
        </p:nvSpPr>
        <p:spPr>
          <a:xfrm>
            <a:off x="1495425" y="470376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买</a:t>
            </a:r>
          </a:p>
        </p:txBody>
      </p:sp>
      <p:sp>
        <p:nvSpPr>
          <p:cNvPr id="74764" name="文本框 107"/>
          <p:cNvSpPr/>
          <p:nvPr/>
        </p:nvSpPr>
        <p:spPr>
          <a:xfrm>
            <a:off x="1292225" y="4051300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商店</a:t>
            </a:r>
          </a:p>
        </p:txBody>
      </p:sp>
      <p:sp>
        <p:nvSpPr>
          <p:cNvPr id="74765" name="文本框 152"/>
          <p:cNvSpPr/>
          <p:nvPr/>
        </p:nvSpPr>
        <p:spPr>
          <a:xfrm>
            <a:off x="2840038" y="2014538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吃饭</a:t>
            </a:r>
          </a:p>
        </p:txBody>
      </p:sp>
      <p:sp>
        <p:nvSpPr>
          <p:cNvPr id="74766" name="文本框 152"/>
          <p:cNvSpPr/>
          <p:nvPr/>
        </p:nvSpPr>
        <p:spPr>
          <a:xfrm>
            <a:off x="4424363" y="2032000"/>
            <a:ext cx="378142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吃米饭</a:t>
            </a:r>
          </a:p>
        </p:txBody>
      </p:sp>
      <p:sp>
        <p:nvSpPr>
          <p:cNvPr id="74767" name="文本框 152"/>
          <p:cNvSpPr/>
          <p:nvPr/>
        </p:nvSpPr>
        <p:spPr>
          <a:xfrm>
            <a:off x="6292850" y="2052638"/>
            <a:ext cx="37830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你吃什么？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我吃米饭。</a:t>
            </a:r>
          </a:p>
        </p:txBody>
      </p:sp>
      <p:sp>
        <p:nvSpPr>
          <p:cNvPr id="18" name="文本框 152"/>
          <p:cNvSpPr/>
          <p:nvPr/>
        </p:nvSpPr>
        <p:spPr>
          <a:xfrm>
            <a:off x="2833688" y="2714625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今天下午</a:t>
            </a:r>
          </a:p>
        </p:txBody>
      </p:sp>
      <p:sp>
        <p:nvSpPr>
          <p:cNvPr id="19" name="文本框 152"/>
          <p:cNvSpPr/>
          <p:nvPr/>
        </p:nvSpPr>
        <p:spPr>
          <a:xfrm>
            <a:off x="4452938" y="2732088"/>
            <a:ext cx="37830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昨天下午</a:t>
            </a:r>
          </a:p>
        </p:txBody>
      </p:sp>
      <p:sp>
        <p:nvSpPr>
          <p:cNvPr id="20" name="文本框 152"/>
          <p:cNvSpPr/>
          <p:nvPr/>
        </p:nvSpPr>
        <p:spPr>
          <a:xfrm>
            <a:off x="6288088" y="2735263"/>
            <a:ext cx="37814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明天下午</a:t>
            </a:r>
          </a:p>
        </p:txBody>
      </p:sp>
      <p:grpSp>
        <p:nvGrpSpPr>
          <p:cNvPr id="3" name="组合 28"/>
          <p:cNvGrpSpPr/>
          <p:nvPr/>
        </p:nvGrpSpPr>
        <p:grpSpPr>
          <a:xfrm>
            <a:off x="2827338" y="3319463"/>
            <a:ext cx="4803775" cy="461962"/>
            <a:chOff x="2826609" y="3319027"/>
            <a:chExt cx="4805114" cy="461665"/>
          </a:xfrm>
        </p:grpSpPr>
        <p:sp>
          <p:nvSpPr>
            <p:cNvPr id="74772" name="文本框 152"/>
            <p:cNvSpPr/>
            <p:nvPr/>
          </p:nvSpPr>
          <p:spPr>
            <a:xfrm>
              <a:off x="2886315" y="3319027"/>
              <a:ext cx="4745408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400" b="1" dirty="0">
                  <a:latin typeface="华文楷体" panose="02010600040101010101" pitchFamily="2" charset="-122"/>
                  <a:ea typeface="华文楷体" panose="02010600040101010101" pitchFamily="2" charset="-122"/>
                  <a:sym typeface="Times New Roman" panose="02020603050405020304" pitchFamily="18" charset="0"/>
                </a:rPr>
                <a:t>   上午     中午     早上     晚上 </a:t>
              </a:r>
            </a:p>
          </p:txBody>
        </p:sp>
        <p:cxnSp>
          <p:nvCxnSpPr>
            <p:cNvPr id="23" name="直接箭头连接符 22"/>
            <p:cNvCxnSpPr/>
            <p:nvPr/>
          </p:nvCxnSpPr>
          <p:spPr>
            <a:xfrm>
              <a:off x="2826609" y="3556999"/>
              <a:ext cx="333468" cy="1586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>
              <a:off x="3820661" y="3555412"/>
              <a:ext cx="335055" cy="1587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4805185" y="3553826"/>
              <a:ext cx="333468" cy="1586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>
              <a:off x="5797649" y="3552239"/>
              <a:ext cx="333468" cy="1587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416560" y="2320925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    xià wǔ</a:t>
            </a:r>
            <a:r>
              <a:rPr lang="en-US" altLang="en-US"/>
              <a:t>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494280" y="2362835"/>
            <a:ext cx="2438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jīn tiān xià wǔ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256405" y="2362835"/>
            <a:ext cx="2438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zuó tiān xià wǔ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96965" y="2393315"/>
            <a:ext cx="2743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mínɡ tiān xià wǔ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828925" y="3060700"/>
            <a:ext cx="1371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shànɡ wǔ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050665" y="3060700"/>
            <a:ext cx="1371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zhōnɡ wǔ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139055" y="3060700"/>
            <a:ext cx="152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zǎo shànɡ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359525" y="3060700"/>
            <a:ext cx="152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wǎn shànɡ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18" grpId="0"/>
      <p:bldP spid="19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755900" y="4041775"/>
            <a:ext cx="5438775" cy="534988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5779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5780" name="圆角矩形 32"/>
          <p:cNvSpPr/>
          <p:nvPr/>
        </p:nvSpPr>
        <p:spPr>
          <a:xfrm>
            <a:off x="1155700" y="4041775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5781" name="文本框 88"/>
          <p:cNvSpPr/>
          <p:nvPr/>
        </p:nvSpPr>
        <p:spPr>
          <a:xfrm>
            <a:off x="1335088" y="13017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喝</a:t>
            </a:r>
          </a:p>
        </p:txBody>
      </p:sp>
      <p:sp>
        <p:nvSpPr>
          <p:cNvPr id="75782" name="文本框 88"/>
          <p:cNvSpPr/>
          <p:nvPr/>
        </p:nvSpPr>
        <p:spPr>
          <a:xfrm>
            <a:off x="1319213" y="2014538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吃</a:t>
            </a:r>
          </a:p>
        </p:txBody>
      </p:sp>
      <p:sp>
        <p:nvSpPr>
          <p:cNvPr id="75783" name="文本框 107"/>
          <p:cNvSpPr/>
          <p:nvPr/>
        </p:nvSpPr>
        <p:spPr>
          <a:xfrm>
            <a:off x="1335088" y="2689225"/>
            <a:ext cx="903287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下午</a:t>
            </a:r>
          </a:p>
        </p:txBody>
      </p:sp>
      <p:grpSp>
        <p:nvGrpSpPr>
          <p:cNvPr id="75784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785" name="文本框 152"/>
          <p:cNvSpPr/>
          <p:nvPr/>
        </p:nvSpPr>
        <p:spPr>
          <a:xfrm>
            <a:off x="2827338" y="131286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喝茶</a:t>
            </a:r>
          </a:p>
        </p:txBody>
      </p:sp>
      <p:sp>
        <p:nvSpPr>
          <p:cNvPr id="75786" name="文本框 152"/>
          <p:cNvSpPr/>
          <p:nvPr/>
        </p:nvSpPr>
        <p:spPr>
          <a:xfrm>
            <a:off x="4411663" y="1312863"/>
            <a:ext cx="37830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你喝什么？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我喝茶。</a:t>
            </a:r>
          </a:p>
        </p:txBody>
      </p:sp>
      <p:sp>
        <p:nvSpPr>
          <p:cNvPr id="75787" name="文本框 107"/>
          <p:cNvSpPr/>
          <p:nvPr/>
        </p:nvSpPr>
        <p:spPr>
          <a:xfrm>
            <a:off x="1495425" y="470376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买</a:t>
            </a:r>
          </a:p>
        </p:txBody>
      </p:sp>
      <p:sp>
        <p:nvSpPr>
          <p:cNvPr id="75788" name="文本框 107"/>
          <p:cNvSpPr/>
          <p:nvPr/>
        </p:nvSpPr>
        <p:spPr>
          <a:xfrm>
            <a:off x="1292225" y="4051300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商店</a:t>
            </a:r>
          </a:p>
        </p:txBody>
      </p:sp>
      <p:sp>
        <p:nvSpPr>
          <p:cNvPr id="75789" name="文本框 152"/>
          <p:cNvSpPr/>
          <p:nvPr/>
        </p:nvSpPr>
        <p:spPr>
          <a:xfrm>
            <a:off x="2840038" y="2014538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吃饭</a:t>
            </a:r>
          </a:p>
        </p:txBody>
      </p:sp>
      <p:sp>
        <p:nvSpPr>
          <p:cNvPr id="75790" name="文本框 152"/>
          <p:cNvSpPr/>
          <p:nvPr/>
        </p:nvSpPr>
        <p:spPr>
          <a:xfrm>
            <a:off x="4424363" y="2032000"/>
            <a:ext cx="378142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吃米饭</a:t>
            </a:r>
          </a:p>
        </p:txBody>
      </p:sp>
      <p:sp>
        <p:nvSpPr>
          <p:cNvPr id="75791" name="文本框 152"/>
          <p:cNvSpPr/>
          <p:nvPr/>
        </p:nvSpPr>
        <p:spPr>
          <a:xfrm>
            <a:off x="6292850" y="2052638"/>
            <a:ext cx="37830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你吃什么？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我吃米饭。</a:t>
            </a:r>
          </a:p>
        </p:txBody>
      </p:sp>
      <p:sp>
        <p:nvSpPr>
          <p:cNvPr id="75792" name="文本框 152"/>
          <p:cNvSpPr/>
          <p:nvPr/>
        </p:nvSpPr>
        <p:spPr>
          <a:xfrm>
            <a:off x="2833688" y="2714625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今天下午</a:t>
            </a:r>
          </a:p>
        </p:txBody>
      </p:sp>
      <p:sp>
        <p:nvSpPr>
          <p:cNvPr id="75793" name="文本框 152"/>
          <p:cNvSpPr/>
          <p:nvPr/>
        </p:nvSpPr>
        <p:spPr>
          <a:xfrm>
            <a:off x="4452938" y="2732088"/>
            <a:ext cx="37830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昨天下午</a:t>
            </a:r>
          </a:p>
        </p:txBody>
      </p:sp>
      <p:sp>
        <p:nvSpPr>
          <p:cNvPr id="75794" name="文本框 152"/>
          <p:cNvSpPr/>
          <p:nvPr/>
        </p:nvSpPr>
        <p:spPr>
          <a:xfrm>
            <a:off x="6288088" y="2735263"/>
            <a:ext cx="37814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明天下午</a:t>
            </a:r>
          </a:p>
        </p:txBody>
      </p:sp>
      <p:grpSp>
        <p:nvGrpSpPr>
          <p:cNvPr id="75795" name="组合 28"/>
          <p:cNvGrpSpPr/>
          <p:nvPr/>
        </p:nvGrpSpPr>
        <p:grpSpPr>
          <a:xfrm>
            <a:off x="2827338" y="3319463"/>
            <a:ext cx="4803775" cy="461962"/>
            <a:chOff x="2826609" y="3319027"/>
            <a:chExt cx="4805114" cy="461665"/>
          </a:xfrm>
        </p:grpSpPr>
        <p:sp>
          <p:nvSpPr>
            <p:cNvPr id="75798" name="文本框 152"/>
            <p:cNvSpPr/>
            <p:nvPr/>
          </p:nvSpPr>
          <p:spPr>
            <a:xfrm>
              <a:off x="2886315" y="3319027"/>
              <a:ext cx="4745408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400" b="1" dirty="0">
                  <a:latin typeface="华文楷体" panose="02010600040101010101" pitchFamily="2" charset="-122"/>
                  <a:ea typeface="华文楷体" panose="02010600040101010101" pitchFamily="2" charset="-122"/>
                  <a:sym typeface="Times New Roman" panose="02020603050405020304" pitchFamily="18" charset="0"/>
                </a:rPr>
                <a:t>   上午     中午     早上     晚上 </a:t>
              </a:r>
            </a:p>
          </p:txBody>
        </p:sp>
        <p:cxnSp>
          <p:nvCxnSpPr>
            <p:cNvPr id="23" name="直接箭头连接符 22"/>
            <p:cNvCxnSpPr/>
            <p:nvPr/>
          </p:nvCxnSpPr>
          <p:spPr>
            <a:xfrm>
              <a:off x="2826609" y="3556999"/>
              <a:ext cx="333468" cy="1586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>
              <a:off x="3820661" y="3555412"/>
              <a:ext cx="335055" cy="1587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4805185" y="3553826"/>
              <a:ext cx="333468" cy="1586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>
              <a:off x="5797649" y="3552239"/>
              <a:ext cx="333468" cy="1587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文本框 152"/>
          <p:cNvSpPr/>
          <p:nvPr/>
        </p:nvSpPr>
        <p:spPr>
          <a:xfrm>
            <a:off x="2868613" y="40973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去商店</a:t>
            </a:r>
          </a:p>
        </p:txBody>
      </p:sp>
      <p:sp>
        <p:nvSpPr>
          <p:cNvPr id="31" name="文本框 152"/>
          <p:cNvSpPr/>
          <p:nvPr/>
        </p:nvSpPr>
        <p:spPr>
          <a:xfrm>
            <a:off x="4452938" y="4097338"/>
            <a:ext cx="37830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你去哪儿？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我去商店。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98855" y="3556000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shānɡ diàn</a:t>
            </a:r>
            <a:r>
              <a:rPr lang="en-US" altLang="en-US"/>
              <a:t>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97785" y="3616325"/>
            <a:ext cx="2133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qù shānɡ diàn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622800" y="3642360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qù nǎ ér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288405" y="3657600"/>
            <a:ext cx="2590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qù shānɡ diàn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29" grpId="0"/>
      <p:bldP spid="3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755900" y="4692650"/>
            <a:ext cx="5438775" cy="534988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6803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6804" name="圆角矩形 32"/>
          <p:cNvSpPr/>
          <p:nvPr/>
        </p:nvSpPr>
        <p:spPr>
          <a:xfrm>
            <a:off x="1155700" y="4692650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6805" name="文本框 88"/>
          <p:cNvSpPr/>
          <p:nvPr/>
        </p:nvSpPr>
        <p:spPr>
          <a:xfrm>
            <a:off x="1335088" y="13017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喝</a:t>
            </a:r>
          </a:p>
        </p:txBody>
      </p:sp>
      <p:sp>
        <p:nvSpPr>
          <p:cNvPr id="76806" name="文本框 88"/>
          <p:cNvSpPr/>
          <p:nvPr/>
        </p:nvSpPr>
        <p:spPr>
          <a:xfrm>
            <a:off x="1319213" y="2014538"/>
            <a:ext cx="904875" cy="525462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吃</a:t>
            </a:r>
          </a:p>
        </p:txBody>
      </p:sp>
      <p:sp>
        <p:nvSpPr>
          <p:cNvPr id="76807" name="文本框 107"/>
          <p:cNvSpPr/>
          <p:nvPr/>
        </p:nvSpPr>
        <p:spPr>
          <a:xfrm>
            <a:off x="1335088" y="2689225"/>
            <a:ext cx="903287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下午</a:t>
            </a:r>
          </a:p>
        </p:txBody>
      </p:sp>
      <p:grpSp>
        <p:nvGrpSpPr>
          <p:cNvPr id="76808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809" name="文本框 152"/>
          <p:cNvSpPr/>
          <p:nvPr/>
        </p:nvSpPr>
        <p:spPr>
          <a:xfrm>
            <a:off x="2827338" y="131286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喝茶</a:t>
            </a:r>
          </a:p>
        </p:txBody>
      </p:sp>
      <p:sp>
        <p:nvSpPr>
          <p:cNvPr id="76810" name="文本框 152"/>
          <p:cNvSpPr/>
          <p:nvPr/>
        </p:nvSpPr>
        <p:spPr>
          <a:xfrm>
            <a:off x="4411663" y="1312863"/>
            <a:ext cx="37830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你喝什么？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我喝茶。</a:t>
            </a:r>
          </a:p>
        </p:txBody>
      </p:sp>
      <p:sp>
        <p:nvSpPr>
          <p:cNvPr id="76811" name="文本框 107"/>
          <p:cNvSpPr/>
          <p:nvPr/>
        </p:nvSpPr>
        <p:spPr>
          <a:xfrm>
            <a:off x="1495425" y="470376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买</a:t>
            </a:r>
          </a:p>
        </p:txBody>
      </p:sp>
      <p:sp>
        <p:nvSpPr>
          <p:cNvPr id="76812" name="文本框 107"/>
          <p:cNvSpPr/>
          <p:nvPr/>
        </p:nvSpPr>
        <p:spPr>
          <a:xfrm>
            <a:off x="1292225" y="4051300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商店</a:t>
            </a:r>
          </a:p>
        </p:txBody>
      </p:sp>
      <p:sp>
        <p:nvSpPr>
          <p:cNvPr id="76813" name="文本框 152"/>
          <p:cNvSpPr/>
          <p:nvPr/>
        </p:nvSpPr>
        <p:spPr>
          <a:xfrm>
            <a:off x="2840038" y="2014538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吃饭</a:t>
            </a:r>
          </a:p>
        </p:txBody>
      </p:sp>
      <p:sp>
        <p:nvSpPr>
          <p:cNvPr id="76814" name="文本框 152"/>
          <p:cNvSpPr/>
          <p:nvPr/>
        </p:nvSpPr>
        <p:spPr>
          <a:xfrm>
            <a:off x="4424363" y="2032000"/>
            <a:ext cx="378142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吃米饭</a:t>
            </a:r>
          </a:p>
        </p:txBody>
      </p:sp>
      <p:sp>
        <p:nvSpPr>
          <p:cNvPr id="76815" name="文本框 152"/>
          <p:cNvSpPr/>
          <p:nvPr/>
        </p:nvSpPr>
        <p:spPr>
          <a:xfrm>
            <a:off x="6292850" y="2052638"/>
            <a:ext cx="37830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你吃什么？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我吃米饭。</a:t>
            </a:r>
          </a:p>
        </p:txBody>
      </p:sp>
      <p:sp>
        <p:nvSpPr>
          <p:cNvPr id="76816" name="文本框 152"/>
          <p:cNvSpPr/>
          <p:nvPr/>
        </p:nvSpPr>
        <p:spPr>
          <a:xfrm>
            <a:off x="2833688" y="2714625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今天下午</a:t>
            </a:r>
          </a:p>
        </p:txBody>
      </p:sp>
      <p:sp>
        <p:nvSpPr>
          <p:cNvPr id="76817" name="文本框 152"/>
          <p:cNvSpPr/>
          <p:nvPr/>
        </p:nvSpPr>
        <p:spPr>
          <a:xfrm>
            <a:off x="4452938" y="2732088"/>
            <a:ext cx="37830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昨天下午</a:t>
            </a:r>
          </a:p>
        </p:txBody>
      </p:sp>
      <p:sp>
        <p:nvSpPr>
          <p:cNvPr id="76818" name="文本框 152"/>
          <p:cNvSpPr/>
          <p:nvPr/>
        </p:nvSpPr>
        <p:spPr>
          <a:xfrm>
            <a:off x="6288088" y="2735263"/>
            <a:ext cx="37814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明天下午</a:t>
            </a:r>
          </a:p>
        </p:txBody>
      </p:sp>
      <p:grpSp>
        <p:nvGrpSpPr>
          <p:cNvPr id="76819" name="组合 28"/>
          <p:cNvGrpSpPr/>
          <p:nvPr/>
        </p:nvGrpSpPr>
        <p:grpSpPr>
          <a:xfrm>
            <a:off x="2827338" y="3319463"/>
            <a:ext cx="4803775" cy="461962"/>
            <a:chOff x="2826609" y="3319027"/>
            <a:chExt cx="4805114" cy="461665"/>
          </a:xfrm>
        </p:grpSpPr>
        <p:sp>
          <p:nvSpPr>
            <p:cNvPr id="76824" name="文本框 152"/>
            <p:cNvSpPr/>
            <p:nvPr/>
          </p:nvSpPr>
          <p:spPr>
            <a:xfrm>
              <a:off x="2886315" y="3319027"/>
              <a:ext cx="4745408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400" b="1" dirty="0">
                  <a:latin typeface="华文楷体" panose="02010600040101010101" pitchFamily="2" charset="-122"/>
                  <a:ea typeface="华文楷体" panose="02010600040101010101" pitchFamily="2" charset="-122"/>
                  <a:sym typeface="Times New Roman" panose="02020603050405020304" pitchFamily="18" charset="0"/>
                </a:rPr>
                <a:t>   上午     中午     早上     晚上 </a:t>
              </a:r>
            </a:p>
          </p:txBody>
        </p:sp>
        <p:cxnSp>
          <p:nvCxnSpPr>
            <p:cNvPr id="23" name="直接箭头连接符 22"/>
            <p:cNvCxnSpPr/>
            <p:nvPr/>
          </p:nvCxnSpPr>
          <p:spPr>
            <a:xfrm>
              <a:off x="2826609" y="3556999"/>
              <a:ext cx="333468" cy="1586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>
              <a:off x="3820661" y="3555412"/>
              <a:ext cx="335055" cy="1587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4805185" y="3553826"/>
              <a:ext cx="333468" cy="1586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>
              <a:off x="5797649" y="3552239"/>
              <a:ext cx="333468" cy="1587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820" name="文本框 152"/>
          <p:cNvSpPr/>
          <p:nvPr/>
        </p:nvSpPr>
        <p:spPr>
          <a:xfrm>
            <a:off x="2868613" y="409733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去商店</a:t>
            </a:r>
          </a:p>
        </p:txBody>
      </p:sp>
      <p:sp>
        <p:nvSpPr>
          <p:cNvPr id="76821" name="文本框 152"/>
          <p:cNvSpPr/>
          <p:nvPr/>
        </p:nvSpPr>
        <p:spPr>
          <a:xfrm>
            <a:off x="4452938" y="4097338"/>
            <a:ext cx="37830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你去哪儿？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我去商店。</a:t>
            </a:r>
          </a:p>
        </p:txBody>
      </p:sp>
      <p:sp>
        <p:nvSpPr>
          <p:cNvPr id="33" name="文本框 152"/>
          <p:cNvSpPr/>
          <p:nvPr/>
        </p:nvSpPr>
        <p:spPr>
          <a:xfrm>
            <a:off x="2862263" y="47609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买杯子</a:t>
            </a:r>
          </a:p>
        </p:txBody>
      </p:sp>
      <p:sp>
        <p:nvSpPr>
          <p:cNvPr id="34" name="文本框 152"/>
          <p:cNvSpPr/>
          <p:nvPr/>
        </p:nvSpPr>
        <p:spPr>
          <a:xfrm>
            <a:off x="4446588" y="4760913"/>
            <a:ext cx="37830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你买什么？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我买杯子。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07975" y="4761230"/>
            <a:ext cx="76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mǎi</a:t>
            </a:r>
            <a:r>
              <a:rPr lang="en-US" altLang="en-US"/>
              <a:t>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73655" y="5342255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mǎi bēi zǐ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250055" y="5361305"/>
            <a:ext cx="228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mǎi shén me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451600" y="5326380"/>
            <a:ext cx="2133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mǎi bēi zǐ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3" grpId="0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25"/>
          <p:cNvSpPr/>
          <p:nvPr/>
        </p:nvSpPr>
        <p:spPr>
          <a:xfrm>
            <a:off x="2668588" y="2317750"/>
            <a:ext cx="7400925" cy="1093788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7827" name="圆角矩形 32"/>
          <p:cNvSpPr/>
          <p:nvPr/>
        </p:nvSpPr>
        <p:spPr>
          <a:xfrm>
            <a:off x="1068388" y="2300288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7828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77829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830" name="文本框 107"/>
          <p:cNvSpPr/>
          <p:nvPr/>
        </p:nvSpPr>
        <p:spPr>
          <a:xfrm>
            <a:off x="1427163" y="231298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这</a:t>
            </a:r>
          </a:p>
        </p:txBody>
      </p:sp>
      <p:sp>
        <p:nvSpPr>
          <p:cNvPr id="77831" name="文本框 107"/>
          <p:cNvSpPr/>
          <p:nvPr/>
        </p:nvSpPr>
        <p:spPr>
          <a:xfrm>
            <a:off x="1438275" y="4819650"/>
            <a:ext cx="542925" cy="527050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那</a:t>
            </a:r>
          </a:p>
        </p:txBody>
      </p:sp>
      <p:sp>
        <p:nvSpPr>
          <p:cNvPr id="20" name="文本框 152"/>
          <p:cNvSpPr/>
          <p:nvPr/>
        </p:nvSpPr>
        <p:spPr>
          <a:xfrm>
            <a:off x="2887663" y="2370138"/>
            <a:ext cx="378301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这是什么？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这是杯子。</a:t>
            </a:r>
          </a:p>
        </p:txBody>
      </p:sp>
      <p:sp>
        <p:nvSpPr>
          <p:cNvPr id="21" name="文本框 152"/>
          <p:cNvSpPr/>
          <p:nvPr/>
        </p:nvSpPr>
        <p:spPr>
          <a:xfrm>
            <a:off x="2833688" y="2908300"/>
            <a:ext cx="14160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这个杯子</a:t>
            </a:r>
          </a:p>
        </p:txBody>
      </p:sp>
      <p:sp>
        <p:nvSpPr>
          <p:cNvPr id="22" name="文本框 152"/>
          <p:cNvSpPr/>
          <p:nvPr/>
        </p:nvSpPr>
        <p:spPr>
          <a:xfrm>
            <a:off x="4822825" y="2925763"/>
            <a:ext cx="37814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这个人</a:t>
            </a:r>
          </a:p>
        </p:txBody>
      </p:sp>
      <p:sp>
        <p:nvSpPr>
          <p:cNvPr id="23" name="文本框 152"/>
          <p:cNvSpPr/>
          <p:nvPr/>
        </p:nvSpPr>
        <p:spPr>
          <a:xfrm>
            <a:off x="6288088" y="2928938"/>
            <a:ext cx="37814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这个学生</a:t>
            </a:r>
          </a:p>
        </p:txBody>
      </p:sp>
      <p:sp>
        <p:nvSpPr>
          <p:cNvPr id="24" name="文本框 152"/>
          <p:cNvSpPr/>
          <p:nvPr/>
        </p:nvSpPr>
        <p:spPr>
          <a:xfrm>
            <a:off x="8269288" y="2916238"/>
            <a:ext cx="37814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这个老师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005" y="1116330"/>
            <a:ext cx="6657975" cy="46037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这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量词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名词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       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这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+ measure word + noun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68855" y="748030"/>
            <a:ext cx="11347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        zhè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328670" y="748030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liànɡ cí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319905" y="748030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mínɡ cí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78735" y="1924685"/>
            <a:ext cx="2438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zhè shì shén me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822825" y="1924685"/>
            <a:ext cx="228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zhè shì bēi zǐ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89225" y="3595370"/>
            <a:ext cx="2133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zhè ɡe bēi zǐ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531360" y="3595370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zhè ɡe rén</a:t>
            </a:r>
            <a:r>
              <a:rPr lang="en-US" altLang="en-US"/>
              <a:t> 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013450" y="3579495"/>
            <a:ext cx="2590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zhè ɡe xué shēnɡ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269605" y="3540760"/>
            <a:ext cx="228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zhè ɡe lǎo shī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0" grpId="0"/>
      <p:bldP spid="21" grpId="0"/>
      <p:bldP spid="22" grpId="0"/>
      <p:bldP spid="23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25"/>
          <p:cNvSpPr/>
          <p:nvPr/>
        </p:nvSpPr>
        <p:spPr>
          <a:xfrm>
            <a:off x="2668588" y="4851400"/>
            <a:ext cx="7400925" cy="109220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8851" name="圆角矩形 32"/>
          <p:cNvSpPr/>
          <p:nvPr/>
        </p:nvSpPr>
        <p:spPr>
          <a:xfrm>
            <a:off x="1068388" y="4832350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8852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78853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854" name="文本框 107"/>
          <p:cNvSpPr/>
          <p:nvPr/>
        </p:nvSpPr>
        <p:spPr>
          <a:xfrm>
            <a:off x="1427163" y="231298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这</a:t>
            </a:r>
          </a:p>
        </p:txBody>
      </p:sp>
      <p:sp>
        <p:nvSpPr>
          <p:cNvPr id="78855" name="文本框 107"/>
          <p:cNvSpPr/>
          <p:nvPr/>
        </p:nvSpPr>
        <p:spPr>
          <a:xfrm>
            <a:off x="1438275" y="4819650"/>
            <a:ext cx="542925" cy="527050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那</a:t>
            </a:r>
          </a:p>
        </p:txBody>
      </p:sp>
      <p:sp>
        <p:nvSpPr>
          <p:cNvPr id="78856" name="文本框 152"/>
          <p:cNvSpPr/>
          <p:nvPr/>
        </p:nvSpPr>
        <p:spPr>
          <a:xfrm>
            <a:off x="2887663" y="2370138"/>
            <a:ext cx="378301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这是什么？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这是杯子。</a:t>
            </a:r>
          </a:p>
        </p:txBody>
      </p:sp>
      <p:sp>
        <p:nvSpPr>
          <p:cNvPr id="78857" name="文本框 152"/>
          <p:cNvSpPr/>
          <p:nvPr/>
        </p:nvSpPr>
        <p:spPr>
          <a:xfrm>
            <a:off x="2833688" y="2908300"/>
            <a:ext cx="14160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这个杯子</a:t>
            </a:r>
          </a:p>
        </p:txBody>
      </p:sp>
      <p:sp>
        <p:nvSpPr>
          <p:cNvPr id="78858" name="文本框 152"/>
          <p:cNvSpPr/>
          <p:nvPr/>
        </p:nvSpPr>
        <p:spPr>
          <a:xfrm>
            <a:off x="4822825" y="2925763"/>
            <a:ext cx="37814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这个人</a:t>
            </a:r>
          </a:p>
        </p:txBody>
      </p:sp>
      <p:sp>
        <p:nvSpPr>
          <p:cNvPr id="78859" name="文本框 152"/>
          <p:cNvSpPr/>
          <p:nvPr/>
        </p:nvSpPr>
        <p:spPr>
          <a:xfrm>
            <a:off x="6288088" y="2928938"/>
            <a:ext cx="37814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这个学生</a:t>
            </a:r>
          </a:p>
        </p:txBody>
      </p:sp>
      <p:sp>
        <p:nvSpPr>
          <p:cNvPr id="78860" name="文本框 152"/>
          <p:cNvSpPr/>
          <p:nvPr/>
        </p:nvSpPr>
        <p:spPr>
          <a:xfrm>
            <a:off x="8269288" y="2916238"/>
            <a:ext cx="37814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这个老师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6860" y="1576705"/>
            <a:ext cx="7174230" cy="46037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这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量词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名词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               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这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+ measure word + noun</a:t>
            </a:r>
          </a:p>
        </p:txBody>
      </p:sp>
      <p:sp>
        <p:nvSpPr>
          <p:cNvPr id="16" name="文本框 152"/>
          <p:cNvSpPr/>
          <p:nvPr/>
        </p:nvSpPr>
        <p:spPr>
          <a:xfrm>
            <a:off x="2887663" y="4905375"/>
            <a:ext cx="45148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那是什么？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那是汉语书。</a:t>
            </a:r>
          </a:p>
        </p:txBody>
      </p:sp>
      <p:sp>
        <p:nvSpPr>
          <p:cNvPr id="17" name="文本框 152"/>
          <p:cNvSpPr/>
          <p:nvPr/>
        </p:nvSpPr>
        <p:spPr>
          <a:xfrm>
            <a:off x="2833688" y="5443538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那个杯子</a:t>
            </a:r>
          </a:p>
        </p:txBody>
      </p:sp>
      <p:sp>
        <p:nvSpPr>
          <p:cNvPr id="26" name="文本框 152"/>
          <p:cNvSpPr/>
          <p:nvPr/>
        </p:nvSpPr>
        <p:spPr>
          <a:xfrm>
            <a:off x="4822825" y="5461000"/>
            <a:ext cx="378142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那个人</a:t>
            </a:r>
          </a:p>
        </p:txBody>
      </p:sp>
      <p:sp>
        <p:nvSpPr>
          <p:cNvPr id="27" name="文本框 152"/>
          <p:cNvSpPr/>
          <p:nvPr/>
        </p:nvSpPr>
        <p:spPr>
          <a:xfrm>
            <a:off x="6288088" y="5464175"/>
            <a:ext cx="378142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那个学生</a:t>
            </a:r>
          </a:p>
        </p:txBody>
      </p:sp>
      <p:sp>
        <p:nvSpPr>
          <p:cNvPr id="28" name="文本框 152"/>
          <p:cNvSpPr/>
          <p:nvPr/>
        </p:nvSpPr>
        <p:spPr>
          <a:xfrm>
            <a:off x="8269288" y="5453063"/>
            <a:ext cx="37814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那个老师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6860" y="3745230"/>
            <a:ext cx="7171690" cy="46037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那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量词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名词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            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那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+ measure word + noun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795270" y="3348355"/>
            <a:ext cx="7219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nà</a:t>
            </a:r>
            <a:r>
              <a:rPr lang="en-US" altLang="en-US"/>
              <a:t>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261995" y="3317875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liànɡ cí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236085" y="3348355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mínɡ cí</a:t>
            </a:r>
            <a:r>
              <a:rPr lang="en-US" altLang="en-US"/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68705" y="4264660"/>
            <a:ext cx="28956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    nà</a:t>
            </a:r>
            <a:r>
              <a:rPr lang="en-US" altLang="en-US"/>
              <a:t>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794000" y="4404995"/>
            <a:ext cx="228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nà shì shén me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973955" y="4407535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nà shì hàn yǔ shū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668905" y="6069965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nà ɡe bēi zǐ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650105" y="6067425"/>
            <a:ext cx="1524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nà ɡè rén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288405" y="6016625"/>
            <a:ext cx="2590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nà ɡe xué shēnɡ</a:t>
            </a:r>
            <a:r>
              <a:rPr lang="en-US" altLang="en-US"/>
              <a:t> 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505190" y="6022975"/>
            <a:ext cx="228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nà ɡe lǎo shī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6" grpId="0"/>
      <p:bldP spid="17" grpId="0"/>
      <p:bldP spid="26" grpId="0"/>
      <p:bldP spid="27" grpId="0"/>
      <p:bldP spid="2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圆角矩形 32"/>
          <p:cNvSpPr/>
          <p:nvPr/>
        </p:nvSpPr>
        <p:spPr>
          <a:xfrm>
            <a:off x="1084263" y="3025775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9875" name="圆角矩形 32"/>
          <p:cNvSpPr/>
          <p:nvPr/>
        </p:nvSpPr>
        <p:spPr>
          <a:xfrm>
            <a:off x="1084263" y="1981200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9876" name="圆角矩形 32"/>
          <p:cNvSpPr/>
          <p:nvPr/>
        </p:nvSpPr>
        <p:spPr>
          <a:xfrm>
            <a:off x="1092200" y="1384300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9877" name="圆角矩形 32"/>
          <p:cNvSpPr/>
          <p:nvPr/>
        </p:nvSpPr>
        <p:spPr>
          <a:xfrm>
            <a:off x="1092200" y="766763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9878" name="圆角矩形 32"/>
          <p:cNvSpPr/>
          <p:nvPr/>
        </p:nvSpPr>
        <p:spPr>
          <a:xfrm>
            <a:off x="1084263" y="4375150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9879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9880" name="圆角矩形 32"/>
          <p:cNvSpPr/>
          <p:nvPr/>
        </p:nvSpPr>
        <p:spPr>
          <a:xfrm>
            <a:off x="1092200" y="3654425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9881" name="文本框 88"/>
          <p:cNvSpPr/>
          <p:nvPr/>
        </p:nvSpPr>
        <p:spPr>
          <a:xfrm>
            <a:off x="1335088" y="7556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喝</a:t>
            </a:r>
          </a:p>
        </p:txBody>
      </p:sp>
      <p:sp>
        <p:nvSpPr>
          <p:cNvPr id="79882" name="文本框 88"/>
          <p:cNvSpPr/>
          <p:nvPr/>
        </p:nvSpPr>
        <p:spPr>
          <a:xfrm>
            <a:off x="1319213" y="138112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吃</a:t>
            </a:r>
          </a:p>
        </p:txBody>
      </p:sp>
      <p:sp>
        <p:nvSpPr>
          <p:cNvPr id="79883" name="文本框 107"/>
          <p:cNvSpPr/>
          <p:nvPr/>
        </p:nvSpPr>
        <p:spPr>
          <a:xfrm>
            <a:off x="1335088" y="2020888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下午</a:t>
            </a:r>
          </a:p>
        </p:txBody>
      </p:sp>
      <p:grpSp>
        <p:nvGrpSpPr>
          <p:cNvPr id="79884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885" name="文本框 152"/>
          <p:cNvSpPr/>
          <p:nvPr/>
        </p:nvSpPr>
        <p:spPr>
          <a:xfrm>
            <a:off x="2827338" y="76676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喝茶</a:t>
            </a:r>
          </a:p>
        </p:txBody>
      </p:sp>
      <p:sp>
        <p:nvSpPr>
          <p:cNvPr id="79886" name="文本框 152"/>
          <p:cNvSpPr/>
          <p:nvPr/>
        </p:nvSpPr>
        <p:spPr>
          <a:xfrm>
            <a:off x="4411663" y="766763"/>
            <a:ext cx="37830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你喝什么？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我喝茶。</a:t>
            </a:r>
          </a:p>
        </p:txBody>
      </p:sp>
      <p:sp>
        <p:nvSpPr>
          <p:cNvPr id="79887" name="文本框 107"/>
          <p:cNvSpPr/>
          <p:nvPr/>
        </p:nvSpPr>
        <p:spPr>
          <a:xfrm>
            <a:off x="1495425" y="366553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买</a:t>
            </a:r>
          </a:p>
        </p:txBody>
      </p:sp>
      <p:sp>
        <p:nvSpPr>
          <p:cNvPr id="79888" name="文本框 107"/>
          <p:cNvSpPr/>
          <p:nvPr/>
        </p:nvSpPr>
        <p:spPr>
          <a:xfrm>
            <a:off x="1292225" y="3030538"/>
            <a:ext cx="903288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商店</a:t>
            </a:r>
          </a:p>
        </p:txBody>
      </p:sp>
      <p:sp>
        <p:nvSpPr>
          <p:cNvPr id="79889" name="文本框 152"/>
          <p:cNvSpPr/>
          <p:nvPr/>
        </p:nvSpPr>
        <p:spPr>
          <a:xfrm>
            <a:off x="2840038" y="1381125"/>
            <a:ext cx="80010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吃饭</a:t>
            </a:r>
          </a:p>
        </p:txBody>
      </p:sp>
      <p:sp>
        <p:nvSpPr>
          <p:cNvPr id="79890" name="文本框 152"/>
          <p:cNvSpPr/>
          <p:nvPr/>
        </p:nvSpPr>
        <p:spPr>
          <a:xfrm>
            <a:off x="4424363" y="1363663"/>
            <a:ext cx="37814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吃米饭</a:t>
            </a:r>
          </a:p>
        </p:txBody>
      </p:sp>
      <p:sp>
        <p:nvSpPr>
          <p:cNvPr id="79891" name="文本框 152"/>
          <p:cNvSpPr/>
          <p:nvPr/>
        </p:nvSpPr>
        <p:spPr>
          <a:xfrm>
            <a:off x="6292850" y="1384300"/>
            <a:ext cx="378301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你吃什么？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我吃米饭。</a:t>
            </a:r>
          </a:p>
        </p:txBody>
      </p:sp>
      <p:sp>
        <p:nvSpPr>
          <p:cNvPr id="79892" name="文本框 152"/>
          <p:cNvSpPr/>
          <p:nvPr/>
        </p:nvSpPr>
        <p:spPr>
          <a:xfrm>
            <a:off x="2833688" y="2046288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今天下午</a:t>
            </a:r>
          </a:p>
        </p:txBody>
      </p:sp>
      <p:sp>
        <p:nvSpPr>
          <p:cNvPr id="79893" name="文本框 152"/>
          <p:cNvSpPr/>
          <p:nvPr/>
        </p:nvSpPr>
        <p:spPr>
          <a:xfrm>
            <a:off x="4452938" y="2046288"/>
            <a:ext cx="37830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昨天下午</a:t>
            </a:r>
          </a:p>
        </p:txBody>
      </p:sp>
      <p:sp>
        <p:nvSpPr>
          <p:cNvPr id="79894" name="文本框 152"/>
          <p:cNvSpPr/>
          <p:nvPr/>
        </p:nvSpPr>
        <p:spPr>
          <a:xfrm>
            <a:off x="6288088" y="2049463"/>
            <a:ext cx="37814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明天下午</a:t>
            </a:r>
          </a:p>
        </p:txBody>
      </p:sp>
      <p:grpSp>
        <p:nvGrpSpPr>
          <p:cNvPr id="79895" name="组合 28"/>
          <p:cNvGrpSpPr/>
          <p:nvPr/>
        </p:nvGrpSpPr>
        <p:grpSpPr>
          <a:xfrm>
            <a:off x="2827338" y="2457450"/>
            <a:ext cx="4803775" cy="461963"/>
            <a:chOff x="2826609" y="3319027"/>
            <a:chExt cx="4805114" cy="461665"/>
          </a:xfrm>
        </p:grpSpPr>
        <p:sp>
          <p:nvSpPr>
            <p:cNvPr id="79913" name="文本框 152"/>
            <p:cNvSpPr/>
            <p:nvPr/>
          </p:nvSpPr>
          <p:spPr>
            <a:xfrm>
              <a:off x="2886315" y="3319027"/>
              <a:ext cx="4745408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400" b="1" dirty="0">
                  <a:latin typeface="华文楷体" panose="02010600040101010101" pitchFamily="2" charset="-122"/>
                  <a:ea typeface="华文楷体" panose="02010600040101010101" pitchFamily="2" charset="-122"/>
                  <a:sym typeface="Times New Roman" panose="02020603050405020304" pitchFamily="18" charset="0"/>
                </a:rPr>
                <a:t>   上午     中午     早上     晚上 </a:t>
              </a:r>
            </a:p>
          </p:txBody>
        </p:sp>
        <p:cxnSp>
          <p:nvCxnSpPr>
            <p:cNvPr id="23" name="直接箭头连接符 22"/>
            <p:cNvCxnSpPr/>
            <p:nvPr/>
          </p:nvCxnSpPr>
          <p:spPr>
            <a:xfrm>
              <a:off x="2826609" y="3556998"/>
              <a:ext cx="333468" cy="1587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>
              <a:off x="3820661" y="3555412"/>
              <a:ext cx="335055" cy="1586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4805185" y="3553825"/>
              <a:ext cx="333468" cy="1587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>
              <a:off x="5797649" y="3552239"/>
              <a:ext cx="333468" cy="1586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896" name="文本框 152"/>
          <p:cNvSpPr/>
          <p:nvPr/>
        </p:nvSpPr>
        <p:spPr>
          <a:xfrm>
            <a:off x="2868613" y="30591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去商店</a:t>
            </a:r>
          </a:p>
        </p:txBody>
      </p:sp>
      <p:sp>
        <p:nvSpPr>
          <p:cNvPr id="79897" name="文本框 152"/>
          <p:cNvSpPr/>
          <p:nvPr/>
        </p:nvSpPr>
        <p:spPr>
          <a:xfrm>
            <a:off x="4452938" y="3059113"/>
            <a:ext cx="37830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你去哪儿？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我去商店。</a:t>
            </a:r>
          </a:p>
        </p:txBody>
      </p:sp>
      <p:sp>
        <p:nvSpPr>
          <p:cNvPr id="79898" name="文本框 152"/>
          <p:cNvSpPr/>
          <p:nvPr/>
        </p:nvSpPr>
        <p:spPr>
          <a:xfrm>
            <a:off x="2862263" y="3722688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买杯子</a:t>
            </a:r>
          </a:p>
        </p:txBody>
      </p:sp>
      <p:sp>
        <p:nvSpPr>
          <p:cNvPr id="79899" name="文本框 152"/>
          <p:cNvSpPr/>
          <p:nvPr/>
        </p:nvSpPr>
        <p:spPr>
          <a:xfrm>
            <a:off x="4446588" y="3722688"/>
            <a:ext cx="37830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你买什么？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我买杯子。</a:t>
            </a:r>
          </a:p>
        </p:txBody>
      </p:sp>
      <p:sp>
        <p:nvSpPr>
          <p:cNvPr id="79900" name="文本框 107"/>
          <p:cNvSpPr/>
          <p:nvPr/>
        </p:nvSpPr>
        <p:spPr>
          <a:xfrm>
            <a:off x="1462088" y="437038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这</a:t>
            </a:r>
          </a:p>
        </p:txBody>
      </p:sp>
      <p:sp>
        <p:nvSpPr>
          <p:cNvPr id="79901" name="文本框 152"/>
          <p:cNvSpPr/>
          <p:nvPr/>
        </p:nvSpPr>
        <p:spPr>
          <a:xfrm>
            <a:off x="2887663" y="4408488"/>
            <a:ext cx="37830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这是什么？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这是杯子。</a:t>
            </a:r>
          </a:p>
        </p:txBody>
      </p:sp>
      <p:sp>
        <p:nvSpPr>
          <p:cNvPr id="79902" name="文本框 152"/>
          <p:cNvSpPr/>
          <p:nvPr/>
        </p:nvSpPr>
        <p:spPr>
          <a:xfrm>
            <a:off x="2868613" y="4824413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这个杯子</a:t>
            </a:r>
          </a:p>
        </p:txBody>
      </p:sp>
      <p:sp>
        <p:nvSpPr>
          <p:cNvPr id="79903" name="文本框 152"/>
          <p:cNvSpPr/>
          <p:nvPr/>
        </p:nvSpPr>
        <p:spPr>
          <a:xfrm>
            <a:off x="4822825" y="4841875"/>
            <a:ext cx="378142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这个人</a:t>
            </a:r>
          </a:p>
        </p:txBody>
      </p:sp>
      <p:sp>
        <p:nvSpPr>
          <p:cNvPr id="79904" name="文本框 152"/>
          <p:cNvSpPr/>
          <p:nvPr/>
        </p:nvSpPr>
        <p:spPr>
          <a:xfrm>
            <a:off x="6288088" y="4845050"/>
            <a:ext cx="378142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这个学生</a:t>
            </a:r>
          </a:p>
        </p:txBody>
      </p:sp>
      <p:sp>
        <p:nvSpPr>
          <p:cNvPr id="79905" name="文本框 152"/>
          <p:cNvSpPr/>
          <p:nvPr/>
        </p:nvSpPr>
        <p:spPr>
          <a:xfrm>
            <a:off x="8269288" y="4833938"/>
            <a:ext cx="37814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这个老师</a:t>
            </a:r>
          </a:p>
        </p:txBody>
      </p:sp>
      <p:sp>
        <p:nvSpPr>
          <p:cNvPr id="79906" name="圆角矩形 32"/>
          <p:cNvSpPr/>
          <p:nvPr/>
        </p:nvSpPr>
        <p:spPr>
          <a:xfrm>
            <a:off x="1052513" y="5395913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9907" name="文本框 107"/>
          <p:cNvSpPr/>
          <p:nvPr/>
        </p:nvSpPr>
        <p:spPr>
          <a:xfrm>
            <a:off x="1438275" y="5383213"/>
            <a:ext cx="542925" cy="527050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那</a:t>
            </a:r>
          </a:p>
        </p:txBody>
      </p:sp>
      <p:sp>
        <p:nvSpPr>
          <p:cNvPr id="79908" name="文本框 152"/>
          <p:cNvSpPr/>
          <p:nvPr/>
        </p:nvSpPr>
        <p:spPr>
          <a:xfrm>
            <a:off x="2887663" y="5467350"/>
            <a:ext cx="45148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那是什么？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那是汉语书。</a:t>
            </a:r>
          </a:p>
        </p:txBody>
      </p:sp>
      <p:sp>
        <p:nvSpPr>
          <p:cNvPr id="79909" name="文本框 152"/>
          <p:cNvSpPr/>
          <p:nvPr/>
        </p:nvSpPr>
        <p:spPr>
          <a:xfrm>
            <a:off x="2833688" y="5918200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那个杯子</a:t>
            </a:r>
          </a:p>
        </p:txBody>
      </p:sp>
      <p:sp>
        <p:nvSpPr>
          <p:cNvPr id="79910" name="文本框 152"/>
          <p:cNvSpPr/>
          <p:nvPr/>
        </p:nvSpPr>
        <p:spPr>
          <a:xfrm>
            <a:off x="4822825" y="5935663"/>
            <a:ext cx="37814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那个人</a:t>
            </a:r>
          </a:p>
        </p:txBody>
      </p:sp>
      <p:sp>
        <p:nvSpPr>
          <p:cNvPr id="79911" name="文本框 152"/>
          <p:cNvSpPr/>
          <p:nvPr/>
        </p:nvSpPr>
        <p:spPr>
          <a:xfrm>
            <a:off x="6288088" y="5938838"/>
            <a:ext cx="37814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那个学生</a:t>
            </a:r>
          </a:p>
        </p:txBody>
      </p:sp>
      <p:sp>
        <p:nvSpPr>
          <p:cNvPr id="79912" name="文本框 152"/>
          <p:cNvSpPr/>
          <p:nvPr/>
        </p:nvSpPr>
        <p:spPr>
          <a:xfrm>
            <a:off x="8269288" y="5927725"/>
            <a:ext cx="378142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那个老师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898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" name="直接连接符 43"/>
          <p:cNvCxnSpPr/>
          <p:nvPr/>
        </p:nvCxnSpPr>
        <p:spPr bwMode="auto">
          <a:xfrm>
            <a:off x="307975" y="652463"/>
            <a:ext cx="2724150" cy="1588"/>
          </a:xfrm>
          <a:prstGeom prst="line">
            <a:avLst/>
          </a:prstGeom>
          <a:ln w="69850" cmpd="thickThin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0225" y="914400"/>
            <a:ext cx="83137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1.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能愿动词“想”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The Modal Verb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“想”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7755" y="1576705"/>
            <a:ext cx="8361045" cy="46037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主语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（不）想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动词。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  Subject + 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（不）想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+ verb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328613" y="6350"/>
            <a:ext cx="5419725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语言点</a:t>
            </a: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Language Points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rgbClr val="D09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630488" y="2763838"/>
            <a:ext cx="7224713" cy="2647950"/>
          </a:xfrm>
          <a:prstGeom prst="round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03638" y="3046413"/>
            <a:ext cx="9585325" cy="738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）我想学汉语。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75063" y="3756025"/>
            <a:ext cx="8618537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）明天我想去学校看书。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02050" y="4371975"/>
            <a:ext cx="394335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）我想买一个杯子。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630805" y="652780"/>
            <a:ext cx="914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xiǎnɡ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435475" y="2876550"/>
            <a:ext cx="3048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xiǎnɡ xué hàn yǔ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12310" y="4114800"/>
            <a:ext cx="5943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mínɡ tiān wǒ xiǎnɡ qù xué xiào kàn shū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12310" y="4813300"/>
            <a:ext cx="3962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xiǎnɡ mǎi yí ɡè bēi zǐ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922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" name="直接连接符 43"/>
          <p:cNvCxnSpPr/>
          <p:nvPr/>
        </p:nvCxnSpPr>
        <p:spPr bwMode="auto">
          <a:xfrm>
            <a:off x="307975" y="652463"/>
            <a:ext cx="2724150" cy="1588"/>
          </a:xfrm>
          <a:prstGeom prst="line">
            <a:avLst/>
          </a:prstGeom>
          <a:ln w="69850" cmpd="thickThin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0225" y="812800"/>
            <a:ext cx="83137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2.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疑问代词“多少”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The Interrogative Pronoun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“多少”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328613" y="6350"/>
            <a:ext cx="5419725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语言点</a:t>
            </a: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Language Points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rgbClr val="D09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454275" y="2219325"/>
            <a:ext cx="7224713" cy="2647950"/>
          </a:xfrm>
          <a:prstGeom prst="round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46438" y="2554288"/>
            <a:ext cx="9585325" cy="738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）你们学校有多少（个）学生？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17863" y="3263900"/>
            <a:ext cx="8618537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）你有多少（个）汉语老师？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44850" y="3879850"/>
            <a:ext cx="394335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）这个杯子多少钱？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588260" y="1221740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duō shǎo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48735" y="2424430"/>
            <a:ext cx="655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mén xué xiào yǒu duō shǎo ɡè xué shēnɡ</a:t>
            </a:r>
            <a:r>
              <a:rPr lang="en-US" altLang="en-US"/>
              <a:t>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171315" y="3627120"/>
            <a:ext cx="518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yǒu duō shǎo ɡè hàn yǔ lǎo shī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098925" y="4360545"/>
            <a:ext cx="4267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zhè ɡe bēi zǐ duō shǎo qián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946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2947" name="组合 8"/>
          <p:cNvGrpSpPr/>
          <p:nvPr/>
        </p:nvGrpSpPr>
        <p:grpSpPr>
          <a:xfrm>
            <a:off x="307975" y="6350"/>
            <a:ext cx="5440363" cy="646113"/>
            <a:chOff x="308629" y="6819"/>
            <a:chExt cx="5439649" cy="646549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5419014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语言点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Language Points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368"/>
              <a:ext cx="543964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3.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量词“个”“口”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The Measure Words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“个”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and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“口”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1073150" y="1968500"/>
            <a:ext cx="3503613" cy="3448050"/>
          </a:xfrm>
          <a:prstGeom prst="round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0013" y="2525713"/>
            <a:ext cx="3189287" cy="738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）三个学生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58900" y="3375025"/>
            <a:ext cx="290195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）五个学生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68425" y="4097338"/>
            <a:ext cx="248793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）一个杯子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5926138" y="1968500"/>
            <a:ext cx="5380038" cy="3448050"/>
          </a:xfrm>
          <a:prstGeom prst="round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29375" y="2525713"/>
            <a:ext cx="4384675" cy="738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）李老师家有六口人。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18263" y="3375025"/>
            <a:ext cx="43957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）你家有几口人？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27788" y="4097338"/>
            <a:ext cx="3584575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）我家有三口人。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02310" y="1438275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liànɡ cí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756410" y="1405255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   ɡè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992120" y="1433195"/>
            <a:ext cx="609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kǒu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000885" y="2405380"/>
            <a:ext cx="2590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sān ɡè xué shēnɡ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097405" y="3060700"/>
            <a:ext cx="2438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wǔ ɡè xué shēnɡ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249805" y="3771265"/>
            <a:ext cx="2133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yí ɡè bēi zǐ 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013575" y="2347595"/>
            <a:ext cx="4724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lǐ lǎo shī jiā yǒu liù kǒu rén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244715" y="3060700"/>
            <a:ext cx="3352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jiā yóu jǐ kǒu rén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092315" y="3810000"/>
            <a:ext cx="3505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jiā yǒu sān kǒu rén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5" grpId="0"/>
      <p:bldP spid="17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970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3971" name="组合 8"/>
          <p:cNvGrpSpPr/>
          <p:nvPr/>
        </p:nvGrpSpPr>
        <p:grpSpPr>
          <a:xfrm>
            <a:off x="307975" y="6350"/>
            <a:ext cx="5440363" cy="646113"/>
            <a:chOff x="308629" y="6819"/>
            <a:chExt cx="5439649" cy="646549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5419014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语言点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Language Points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368"/>
              <a:ext cx="543964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4.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钱数的表达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Expression of the Amount of Money</a:t>
            </a:r>
            <a:endParaRPr kumimoji="0" lang="zh-CN" altLang="en-US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pic>
        <p:nvPicPr>
          <p:cNvPr id="83973" name="Picture 5" descr="E:\HSK1\新建文件夹\1课\1-08笔-微图ps1714897（25）.jp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854200" y="1784350"/>
            <a:ext cx="2160588" cy="1441450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83974" name="Picture 7" descr="E:\HSK1\新建文件夹\1课\1-09猫-微图ps2299392（25）.jpg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151438" y="1784350"/>
            <a:ext cx="2160587" cy="1439863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83975" name="Picture 8" descr="E:\HSK1\新建文件夹\1课\1-10岛-前图38591017（20）替换.jpg"/>
          <p:cNvPicPr preferRelativeResize="0"/>
          <p:nvPr/>
        </p:nvPicPr>
        <p:blipFill>
          <a:blip r:embed="rId5">
            <a:lum bright="10001"/>
          </a:blip>
          <a:stretch>
            <a:fillRect/>
          </a:stretch>
        </p:blipFill>
        <p:spPr>
          <a:xfrm>
            <a:off x="8489950" y="1785938"/>
            <a:ext cx="2160588" cy="1439862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83976" name="Picture 9" descr="E:\HSK1\新建文件夹\1课\1-11花-前图bigstock-yellow-flower-14475059（利用）替换.jpg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7137400" y="4457700"/>
            <a:ext cx="2160588" cy="1439863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83977" name="TextBox 28"/>
          <p:cNvSpPr txBox="1"/>
          <p:nvPr/>
        </p:nvSpPr>
        <p:spPr>
          <a:xfrm>
            <a:off x="1057275" y="3230563"/>
            <a:ext cx="3714750" cy="768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zh-CN" altLang="en-US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一元（块）</a:t>
            </a:r>
            <a:endParaRPr lang="en-US" altLang="zh-CN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  <a:p>
            <a:pPr algn="ctr" eaLnBrk="0" hangingPunct="0">
              <a:buNone/>
            </a:pPr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y</a:t>
            </a:r>
            <a:r>
              <a:rPr lang="en-US" altLang="en-US" sz="20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ī</a:t>
            </a:r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 </a:t>
            </a:r>
            <a:r>
              <a:rPr lang="en-US" altLang="zh-CN" sz="2000" b="1" i="1" dirty="0">
                <a:latin typeface="SimSun-ExtB" panose="02010609060101010101" pitchFamily="49" charset="-122"/>
                <a:ea typeface="SimSun-ExtB" panose="02010609060101010101" pitchFamily="49" charset="-122"/>
              </a:rPr>
              <a:t>yuan/kuai</a:t>
            </a:r>
            <a:endParaRPr lang="zh-CN" altLang="en-US" sz="2000" i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83978" name="TextBox 29"/>
          <p:cNvSpPr txBox="1"/>
          <p:nvPr/>
        </p:nvSpPr>
        <p:spPr>
          <a:xfrm>
            <a:off x="4913313" y="3254375"/>
            <a:ext cx="2789237" cy="768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zh-CN" altLang="en-US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五元（块）</a:t>
            </a:r>
            <a:endParaRPr lang="en-US" altLang="zh-CN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  <a:p>
            <a:pPr algn="ctr" eaLnBrk="0" hangingPunct="0">
              <a:buNone/>
            </a:pPr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w</a:t>
            </a:r>
            <a:r>
              <a:rPr lang="" altLang="en-US" sz="20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ǔ</a:t>
            </a:r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 </a:t>
            </a:r>
            <a:r>
              <a:rPr lang="en-US" altLang="zh-CN" sz="2000" b="1" i="1" dirty="0">
                <a:latin typeface="SimSun-ExtB" panose="02010609060101010101" pitchFamily="49" charset="-122"/>
                <a:ea typeface="SimSun-ExtB" panose="02010609060101010101" pitchFamily="49" charset="-122"/>
              </a:rPr>
              <a:t>yuan/kuai</a:t>
            </a:r>
            <a:endParaRPr lang="zh-CN" altLang="en-US" sz="2000" i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83979" name="TextBox 30"/>
          <p:cNvSpPr txBox="1"/>
          <p:nvPr/>
        </p:nvSpPr>
        <p:spPr>
          <a:xfrm>
            <a:off x="7950200" y="3224213"/>
            <a:ext cx="3468688" cy="768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zh-CN" altLang="en-US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十元（块）</a:t>
            </a:r>
            <a:endParaRPr lang="en-US" altLang="zh-CN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  <a:p>
            <a:pPr algn="ctr" eaLnBrk="0" hangingPunct="0">
              <a:buNone/>
            </a:pPr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sh</a:t>
            </a:r>
            <a:r>
              <a:rPr lang="en-US" altLang="en-US" sz="20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í</a:t>
            </a:r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 </a:t>
            </a:r>
            <a:r>
              <a:rPr lang="en-US" altLang="zh-CN" sz="2000" b="1" i="1" dirty="0">
                <a:latin typeface="SimSun-ExtB" panose="02010609060101010101" pitchFamily="49" charset="-122"/>
                <a:ea typeface="SimSun-ExtB" panose="02010609060101010101" pitchFamily="49" charset="-122"/>
              </a:rPr>
              <a:t>yuan/kuai</a:t>
            </a:r>
            <a:endParaRPr lang="zh-CN" altLang="en-US" sz="2000" i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83980" name="TextBox 31"/>
          <p:cNvSpPr txBox="1"/>
          <p:nvPr/>
        </p:nvSpPr>
        <p:spPr>
          <a:xfrm>
            <a:off x="5399088" y="5915025"/>
            <a:ext cx="5607050" cy="768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zh-CN" altLang="en-US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一百元（块）</a:t>
            </a:r>
            <a:endParaRPr lang="en-US" altLang="zh-CN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  <a:p>
            <a:pPr algn="ctr" eaLnBrk="0" hangingPunct="0">
              <a:buNone/>
            </a:pPr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y</a:t>
            </a:r>
            <a:r>
              <a:rPr lang="en-US" altLang="en-US" sz="20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ī</a:t>
            </a:r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 b</a:t>
            </a:r>
            <a:r>
              <a:rPr lang="" altLang="en-US" sz="20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ǎ</a:t>
            </a:r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i </a:t>
            </a:r>
            <a:r>
              <a:rPr lang="en-US" altLang="zh-CN" sz="2000" b="1" i="1" dirty="0">
                <a:latin typeface="SimSun-ExtB" panose="02010609060101010101" pitchFamily="49" charset="-122"/>
                <a:ea typeface="SimSun-ExtB" panose="02010609060101010101" pitchFamily="49" charset="-122"/>
              </a:rPr>
              <a:t>yuan/kuai</a:t>
            </a:r>
            <a:endParaRPr lang="zh-CN" altLang="en-US" sz="2000" i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83981" name="TextBox 31"/>
          <p:cNvSpPr txBox="1"/>
          <p:nvPr/>
        </p:nvSpPr>
        <p:spPr>
          <a:xfrm>
            <a:off x="2444750" y="5911850"/>
            <a:ext cx="4043363" cy="11372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zh-CN" altLang="en-US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五十元（块）</a:t>
            </a:r>
            <a:endParaRPr lang="en-US" altLang="zh-CN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  <a:p>
            <a:pPr algn="ctr" eaLnBrk="0" hangingPunct="0">
              <a:buNone/>
            </a:pPr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w</a:t>
            </a:r>
            <a:r>
              <a:rPr lang="" altLang="en-US" sz="20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ǔ</a:t>
            </a:r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 sh</a:t>
            </a:r>
            <a:r>
              <a:rPr lang="en-US" altLang="en-US" sz="20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í</a:t>
            </a:r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 </a:t>
            </a:r>
            <a:r>
              <a:rPr lang="en-US" altLang="zh-CN" sz="2000" b="1" i="1" dirty="0">
                <a:latin typeface="SimSun-ExtB" panose="02010609060101010101" pitchFamily="49" charset="-122"/>
                <a:ea typeface="SimSun-ExtB" panose="02010609060101010101" pitchFamily="49" charset="-122"/>
              </a:rPr>
              <a:t>yuan/kuai</a:t>
            </a:r>
            <a:endParaRPr lang="zh-CN" altLang="en-US" sz="2000" i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  <a:p>
            <a:pPr algn="ctr" eaLnBrk="0" hangingPunct="0">
              <a:buNone/>
            </a:pPr>
            <a:endParaRPr lang="zh-CN" altLang="en-US" sz="2400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grpSp>
        <p:nvGrpSpPr>
          <p:cNvPr id="83982" name="组合 17"/>
          <p:cNvGrpSpPr/>
          <p:nvPr/>
        </p:nvGrpSpPr>
        <p:grpSpPr>
          <a:xfrm>
            <a:off x="3182938" y="4475163"/>
            <a:ext cx="2197100" cy="1439862"/>
            <a:chOff x="3182856" y="4475163"/>
            <a:chExt cx="2197182" cy="1440000"/>
          </a:xfrm>
        </p:grpSpPr>
        <p:pic>
          <p:nvPicPr>
            <p:cNvPr id="83983" name="Picture 9" descr="E:\HSK1\新建文件夹\1课\1-11花-前图bigstock-yellow-flower-14475059（利用）替换.jpg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3221038" y="4695024"/>
              <a:ext cx="2159000" cy="990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矩形 16"/>
            <p:cNvSpPr/>
            <p:nvPr/>
          </p:nvSpPr>
          <p:spPr>
            <a:xfrm>
              <a:off x="3182856" y="4475163"/>
              <a:ext cx="2160668" cy="1440000"/>
            </a:xfrm>
            <a:prstGeom prst="rect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92150" y="1308735"/>
            <a:ext cx="3048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qián shù de biǎo dá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994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4995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1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996" name="Rectangle 2"/>
          <p:cNvSpPr/>
          <p:nvPr/>
        </p:nvSpPr>
        <p:spPr>
          <a:xfrm>
            <a:off x="1057275" y="1636713"/>
            <a:ext cx="9347200" cy="4668837"/>
          </a:xfrm>
          <a:prstGeom prst="rect">
            <a:avLst/>
          </a:prstGeom>
          <a:solidFill>
            <a:srgbClr val="0000FF">
              <a:alpha val="14902"/>
            </a:srgbClr>
          </a:solidFill>
          <a:ln w="12700" cap="flat" cmpd="sng">
            <a:solidFill>
              <a:srgbClr val="0000FF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77050" y="2259013"/>
            <a:ext cx="2705100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1979613" y="1660525"/>
            <a:ext cx="7323138" cy="4573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xiǎnɡ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hē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shénme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?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    想    喝  什么？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xiǎnɡ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hē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chá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.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   想     喝 茶。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xiǎnɡ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chī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shénme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?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    想     吃  什么？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xiǎnɡ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chī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mǐfàn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.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    想    吃  米饭。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84999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在饭馆儿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restaurant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018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6019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1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020" name="Rectangle 2"/>
          <p:cNvSpPr/>
          <p:nvPr/>
        </p:nvSpPr>
        <p:spPr>
          <a:xfrm>
            <a:off x="1057275" y="1636713"/>
            <a:ext cx="9347200" cy="4668837"/>
          </a:xfrm>
          <a:prstGeom prst="rect">
            <a:avLst/>
          </a:prstGeom>
          <a:solidFill>
            <a:srgbClr val="0000FF">
              <a:alpha val="14902"/>
            </a:srgbClr>
          </a:solidFill>
          <a:ln w="12700" cap="flat" cmpd="sng">
            <a:solidFill>
              <a:srgbClr val="0000FF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1979613" y="1449388"/>
            <a:ext cx="7323138" cy="4573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你想喝什么？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我想喝茶。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你想吃什么？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我想吃米饭。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86022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在饭馆儿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restaurant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77050" y="2259013"/>
            <a:ext cx="2705100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042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7043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2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044" name="Rectangle 2"/>
          <p:cNvSpPr/>
          <p:nvPr/>
        </p:nvSpPr>
        <p:spPr>
          <a:xfrm>
            <a:off x="755650" y="1620838"/>
            <a:ext cx="10358438" cy="4654550"/>
          </a:xfrm>
          <a:prstGeom prst="rect">
            <a:avLst/>
          </a:prstGeom>
          <a:solidFill>
            <a:srgbClr val="C00000">
              <a:alpha val="14902"/>
            </a:srgbClr>
          </a:solidFill>
          <a:ln w="12700" cap="flat" cmpd="sng">
            <a:solidFill>
              <a:srgbClr val="288149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eaLnBrk="0" hangingPunct="0"/>
            <a:endParaRPr lang="zh-CN" altLang="en-US" dirty="0">
              <a:solidFill>
                <a:srgbClr val="99FF99"/>
              </a:solidFill>
              <a:latin typeface="Arial" panose="020B0604020202020204" pitchFamily="34" charset="0"/>
            </a:endParaRPr>
          </a:p>
        </p:txBody>
      </p:sp>
      <p:pic>
        <p:nvPicPr>
          <p:cNvPr id="3074" name="Picture 2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94700" y="2160588"/>
            <a:ext cx="1979613" cy="2520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7046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在客厅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living room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736725" y="1660525"/>
            <a:ext cx="7323138" cy="46593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Xiàwǔ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nǐ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xiǎnɡ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qù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zuò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shénme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?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下午   你   想   去  做   什么？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   Xiàwǔ wǒ xiǎnɡ qù shānɡdiàn.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下午    我   想    去    商店。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   Nǐ xiǎnɡ mǎi shénme?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    想    买   什么？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Wǒ xiǎnɡ mǎi yí ɡe bēizi. </a:t>
            </a:r>
            <a:r>
              <a:rPr kumimoji="0" lang="zh-CN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en-US" altLang="zh-CN" sz="2400" b="0" i="0" u="none" strike="noStrike" kern="1200" cap="none" spc="0" normalizeH="0" baseline="0" noProof="0" dirty="0" err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GB Pinyinok-D" pitchFamily="2" charset="-122"/>
              <a:ea typeface="GB Pinyinok-D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   想     买  一  个 杯子。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066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8067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2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068" name="Rectangle 2"/>
          <p:cNvSpPr/>
          <p:nvPr/>
        </p:nvSpPr>
        <p:spPr>
          <a:xfrm>
            <a:off x="755650" y="1620838"/>
            <a:ext cx="10358438" cy="4654550"/>
          </a:xfrm>
          <a:prstGeom prst="rect">
            <a:avLst/>
          </a:prstGeom>
          <a:solidFill>
            <a:srgbClr val="C00000">
              <a:alpha val="14902"/>
            </a:srgbClr>
          </a:solidFill>
          <a:ln w="12700" cap="flat" cmpd="sng">
            <a:solidFill>
              <a:srgbClr val="288149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eaLnBrk="0" hangingPunct="0"/>
            <a:endParaRPr lang="zh-CN" altLang="en-US" dirty="0">
              <a:solidFill>
                <a:srgbClr val="99FF99"/>
              </a:solidFill>
              <a:latin typeface="Arial" panose="020B0604020202020204" pitchFamily="34" charset="0"/>
            </a:endParaRPr>
          </a:p>
        </p:txBody>
      </p:sp>
      <p:sp>
        <p:nvSpPr>
          <p:cNvPr id="88069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在客厅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living room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751013" y="1449388"/>
            <a:ext cx="7323138" cy="4573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下午你想去做什么？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下午我想去商店。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你想买什么？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我想买一个杯子。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12" name="Picture 2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94700" y="2160588"/>
            <a:ext cx="1979613" cy="2520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090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9091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3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57275" y="1636713"/>
            <a:ext cx="10039350" cy="4652963"/>
          </a:xfrm>
          <a:prstGeom prst="rect">
            <a:avLst/>
          </a:prstGeom>
          <a:solidFill>
            <a:schemeClr val="accent4">
              <a:alpha val="14902"/>
            </a:schemeClr>
          </a:solidFill>
          <a:ln w="12700">
            <a:solidFill>
              <a:schemeClr val="accent4"/>
            </a:solidFill>
            <a:prstDash val="dash"/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961313" y="2190750"/>
            <a:ext cx="2711450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766888" y="1727200"/>
            <a:ext cx="7323138" cy="4573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   Nǐhǎo! Zhèɡe bēizi duōshao qián?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你好！这个   杯子    多少    钱？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zh-CN" altLang="zh-CN" sz="1800" b="0" i="0" u="none" strike="noStrike" kern="1200" cap="all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è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rshíbā kuài.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28     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块。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Nàɡe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bēizi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duōshao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qián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?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那个  杯子   多少     钱？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Nàɡe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bēizi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shíbā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kuài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qián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.</a:t>
            </a:r>
            <a:r>
              <a:rPr kumimoji="0" lang="zh-CN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en-US" altLang="zh-CN" sz="2400" b="0" i="0" u="none" strike="noStrike" kern="1200" cap="none" spc="0" normalizeH="0" baseline="0" noProof="0" dirty="0" err="1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GB Pinyinok-D" pitchFamily="2" charset="-122"/>
              <a:ea typeface="GB Pinyinok-D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那个  杯子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18 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块     钱。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89095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在商店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a store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114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0115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3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57275" y="1636713"/>
            <a:ext cx="10039350" cy="4652963"/>
          </a:xfrm>
          <a:prstGeom prst="rect">
            <a:avLst/>
          </a:prstGeom>
          <a:solidFill>
            <a:schemeClr val="accent4">
              <a:alpha val="14902"/>
            </a:schemeClr>
          </a:solidFill>
          <a:ln w="12700">
            <a:solidFill>
              <a:schemeClr val="accent4"/>
            </a:solidFill>
            <a:prstDash val="dash"/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2012950" y="1431925"/>
            <a:ext cx="7323138" cy="4573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你好！这个杯子多少钱？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28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块。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那个杯子多少钱？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那个杯子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18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块钱。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90118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在商店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a store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961313" y="2190750"/>
            <a:ext cx="2711450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628686" y="2241285"/>
            <a:ext cx="11021458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1141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1142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Box 3"/>
          <p:cNvSpPr txBox="1"/>
          <p:nvPr/>
        </p:nvSpPr>
        <p:spPr>
          <a:xfrm>
            <a:off x="1479550" y="1930400"/>
            <a:ext cx="10963275" cy="4524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  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1.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你想吃什么？                        </a:t>
            </a:r>
            <a:r>
              <a:rPr lang="en-US" altLang="zh-CN" sz="24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Nǐ xiǎnɡ chī shénme?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2.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你想喝什么？                        </a:t>
            </a:r>
            <a:r>
              <a:rPr lang="en-US" altLang="zh-CN" sz="24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Nǐ xiǎnɡ hē shénme?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3.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明天下午你想做什么？</a:t>
            </a:r>
            <a:r>
              <a:rPr lang="en-US" altLang="zh-CN" sz="2800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Mínɡtiān xiàwǔ nǐ xiǎnɡ zuò shénme?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4.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你去哪个商店买杯子？</a:t>
            </a:r>
            <a:r>
              <a:rPr lang="en-US" altLang="zh-CN" sz="2800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Nǐ qù nǎɡe shānɡdiàn mǎi bēizi?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5.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一个杯子多少钱？</a:t>
            </a:r>
            <a:r>
              <a:rPr lang="en-US" altLang="zh-CN" sz="2800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        </a:t>
            </a:r>
            <a:r>
              <a:rPr lang="en-US" altLang="zh-CN" sz="24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Yí ɡe bēizi duōshao qián? </a:t>
            </a:r>
            <a:endParaRPr lang="zh-CN" altLang="en-US" sz="2400" dirty="0">
              <a:solidFill>
                <a:srgbClr val="000000"/>
              </a:solidFill>
              <a:latin typeface="GB Pinyinok-D"/>
              <a:ea typeface="GB Pinyinok-D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1071563"/>
            <a:ext cx="841851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根据实际情况回答问题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Answer the questions according to the actual situations.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5" y="2241285"/>
            <a:ext cx="10056202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2165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2166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5141913" y="2816225"/>
            <a:ext cx="9096375" cy="37861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Mínɡtiān       wǒ xiǎnɡ qù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明天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   想    去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mǎi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买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12" name="Picture 4" descr="C:\Documents and Settings\Administrator.CAOFAN\桌面\hsk一级\2课\2-04三-前图46358923（20）.jpg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66888" y="2759075"/>
            <a:ext cx="2665413" cy="18002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4" y="2241285"/>
            <a:ext cx="10073787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3189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3190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4" descr="C:\Documents and Settings\Administrator.CAOFAN\桌面\hsk一级\2课\2-04三-前图46358923（20）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73238" y="2759075"/>
            <a:ext cx="2698750" cy="18002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5248275" y="2992438"/>
            <a:ext cx="9097963" cy="25860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Jīntiān wǒ xiǎnɡ chī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今天     我    想    吃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4" y="2241285"/>
            <a:ext cx="10073787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4213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4214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5338763" y="2992438"/>
            <a:ext cx="9097963" cy="37861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Xiàwǔ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xiǎn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</a:rPr>
              <a:t>ɡ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qù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GB Pinyinok-D" pitchFamily="2" charset="-122"/>
              <a:ea typeface="GB Pinyinok-D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下午  我   想    去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kàn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12" name="Picture 4" descr="C:\Documents and Settings\Administrator.CAOFAN\桌面\hsk一级\2课\2-04三-前图46358923（20）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90700" y="2759075"/>
            <a:ext cx="2701925" cy="18002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4" y="2241285"/>
            <a:ext cx="10073787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712913" y="2759075"/>
            <a:ext cx="2663825" cy="180022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5238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5239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5240" name="Picture 4" descr="C:\Documents and Settings\Administrator.CAOFAN\桌面\hsk一级\2课\2-04三-前图46358923（20）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125" y="2776538"/>
            <a:ext cx="1619250" cy="1728787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4903788" y="3370263"/>
            <a:ext cx="9097963" cy="25844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Nǐhǎo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qǐn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</a:rPr>
              <a:t>ɡ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wèn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zhè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</a:rPr>
              <a:t>ɡ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bēizi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GB Pinyinok-D" pitchFamily="2" charset="-122"/>
              <a:ea typeface="GB Pinyinok-D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你好，   请问    这个  杯子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258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6259" name="组合 8"/>
          <p:cNvGrpSpPr/>
          <p:nvPr/>
        </p:nvGrpSpPr>
        <p:grpSpPr>
          <a:xfrm>
            <a:off x="307975" y="6350"/>
            <a:ext cx="3798888" cy="646113"/>
            <a:chOff x="308629" y="6819"/>
            <a:chExt cx="3797467" cy="646767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9" y="6819"/>
              <a:ext cx="3776837" cy="64676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运用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Application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586"/>
              <a:ext cx="379746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507062" y="1608707"/>
            <a:ext cx="9770538" cy="443198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             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Jīntiān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xiàwǔ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nǐ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xiǎn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</a:rPr>
              <a:t>ɡ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zuò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shénme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?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例如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Wingdings" panose="05000000000000000000" pitchFamily="2" charset="2"/>
              </a:rPr>
              <a:t>：（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Wingdings" panose="05000000000000000000" pitchFamily="2" charset="2"/>
              </a:rPr>
              <a:t>1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Wingdings" panose="05000000000000000000" pitchFamily="2" charset="2"/>
              </a:rPr>
              <a:t>）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A: 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今天     下午 你    想     做  什么？                         </a:t>
            </a:r>
            <a:endParaRPr kumimoji="0" lang="en-US" altLang="zh-CN" sz="28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         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B: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……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             </a:t>
            </a:r>
            <a:endParaRPr kumimoji="0" lang="en-US" altLang="zh-CN" sz="28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             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Mín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</a:rPr>
              <a:t>ɡ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tiān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nǐ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xiǎn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</a:rPr>
              <a:t>ɡ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zuò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shénme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?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          A: 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明天     你    想     做   什么？                                  </a:t>
            </a:r>
            <a:endParaRPr kumimoji="0" lang="en-US" altLang="zh-CN" sz="28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          B:  ……</a:t>
            </a:r>
            <a:endParaRPr kumimoji="0" lang="en-US" altLang="zh-CN" sz="2800" kern="1200" cap="none" spc="0" normalizeH="0" baseline="0" noProof="0" dirty="0">
              <a:latin typeface="Arial" panose="020B0604020202020204" pitchFamily="34" charset="0"/>
              <a:ea typeface="GB Pinyinok-D"/>
              <a:cs typeface="GB Pinyinok-D"/>
              <a:sym typeface="宋体" panose="02010600030101010101" pitchFamily="2" charset="-122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endParaRPr kumimoji="0" lang="en-US" altLang="zh-CN" sz="28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7275" y="787400"/>
            <a:ext cx="93011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1.</a:t>
            </a: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双人活动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Pair Work</a:t>
            </a: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282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7283" name="组合 8"/>
          <p:cNvGrpSpPr/>
          <p:nvPr/>
        </p:nvGrpSpPr>
        <p:grpSpPr>
          <a:xfrm>
            <a:off x="307975" y="6350"/>
            <a:ext cx="3798888" cy="646113"/>
            <a:chOff x="308629" y="6819"/>
            <a:chExt cx="3797467" cy="646767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9" y="6819"/>
              <a:ext cx="3776837" cy="64676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运用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Application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586"/>
              <a:ext cx="379746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507062" y="1608707"/>
            <a:ext cx="9770538" cy="443198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              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Nǐmen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bān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yǒu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duōshao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</a:rPr>
              <a:t>ɡ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e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xuéshen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</a:rPr>
              <a:t>ɡ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?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例如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Wingdings" panose="05000000000000000000" pitchFamily="2" charset="2"/>
              </a:rPr>
              <a:t>：（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Wingdings" panose="05000000000000000000" pitchFamily="2" charset="2"/>
              </a:rPr>
              <a:t>2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Wingdings" panose="05000000000000000000" pitchFamily="2" charset="2"/>
              </a:rPr>
              <a:t>）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A: 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你们   班   有     多少   个   学生？                         </a:t>
            </a:r>
            <a:endParaRPr kumimoji="0" lang="en-US" altLang="zh-CN" sz="28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         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B: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……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             </a:t>
            </a:r>
            <a:endParaRPr kumimoji="0" lang="en-US" altLang="zh-CN" sz="28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              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Nǐmen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xuéxiào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yǒu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duōshao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 pitchFamily="2" charset="-122"/>
                <a:cs typeface="+mn-cs"/>
              </a:rPr>
              <a:t>ɡ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e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lǎoshī</a:t>
            </a:r>
            <a:r>
              <a:rPr kumimoji="0" lang="en-US" altLang="zh-CN" sz="2400" kern="1200" cap="none" spc="0" normalizeH="0" baseline="0" noProof="0" dirty="0">
                <a:solidFill>
                  <a:schemeClr val="dk1"/>
                </a:solidFill>
                <a:latin typeface="GB Pinyinok-D" pitchFamily="2" charset="-122"/>
                <a:ea typeface="GB Pinyinok-D"/>
                <a:cs typeface="+mn-cs"/>
                <a:sym typeface="宋体" panose="02010600030101010101" pitchFamily="2" charset="-122"/>
              </a:rPr>
              <a:t>?                      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          A: 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你们     学校    有    多少    个  老师？                                  </a:t>
            </a:r>
            <a:endParaRPr kumimoji="0" lang="en-US" altLang="zh-CN" sz="28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          B:  ……</a:t>
            </a:r>
            <a:endParaRPr kumimoji="0" lang="en-US" altLang="zh-CN" sz="2800" kern="1200" cap="none" spc="0" normalizeH="0" baseline="0" noProof="0" dirty="0">
              <a:latin typeface="Arial" panose="020B0604020202020204" pitchFamily="34" charset="0"/>
              <a:ea typeface="GB Pinyinok-D"/>
              <a:cs typeface="GB Pinyinok-D"/>
              <a:sym typeface="宋体" panose="02010600030101010101" pitchFamily="2" charset="-122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endParaRPr kumimoji="0" lang="en-US" altLang="zh-CN" sz="28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7275" y="787400"/>
            <a:ext cx="93011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1.</a:t>
            </a: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双人活动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Pair Work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386398" y="2060575"/>
          <a:ext cx="11218743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4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33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9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54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529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57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/>
                        <a:t>姓名</a:t>
                      </a:r>
                      <a:r>
                        <a:rPr lang="en-US" altLang="zh-CN" sz="2000" b="0" dirty="0"/>
                        <a:t>Name</a:t>
                      </a:r>
                      <a:r>
                        <a:rPr lang="en-US" altLang="zh-CN" sz="2000" b="1" dirty="0"/>
                        <a:t> 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星期一</a:t>
                      </a:r>
                      <a:endParaRPr lang="en-US" altLang="zh-CN" sz="2400" dirty="0"/>
                    </a:p>
                    <a:p>
                      <a:pPr algn="ctr"/>
                      <a:r>
                        <a:rPr lang="en-US" altLang="zh-CN" sz="2000" b="0" dirty="0">
                          <a:latin typeface="+mn-lt"/>
                          <a:ea typeface="华文楷体" panose="02010600040101010101" pitchFamily="2" charset="-122"/>
                        </a:rPr>
                        <a:t>Monday </a:t>
                      </a:r>
                      <a:endParaRPr lang="zh-CN" altLang="en-US" sz="2000" b="0" dirty="0">
                        <a:latin typeface="+mn-lt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星期二</a:t>
                      </a:r>
                      <a:r>
                        <a:rPr lang="en-US" altLang="zh-CN" sz="2000" b="0" kern="1200" dirty="0">
                          <a:solidFill>
                            <a:schemeClr val="lt1"/>
                          </a:solidFill>
                          <a:latin typeface="+mn-lt"/>
                          <a:ea typeface="华文楷体" panose="02010600040101010101" pitchFamily="2" charset="-122"/>
                          <a:cs typeface="+mn-cs"/>
                        </a:rPr>
                        <a:t>Tuesday </a:t>
                      </a:r>
                      <a:endParaRPr lang="zh-CN" altLang="en-US" sz="2000" b="0" kern="1200" dirty="0">
                        <a:solidFill>
                          <a:schemeClr val="lt1"/>
                        </a:solidFill>
                        <a:latin typeface="+mn-lt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400" dirty="0"/>
                        <a:t>星期三</a:t>
                      </a:r>
                      <a:r>
                        <a:rPr lang="en-US" altLang="zh-CN" sz="2000" b="0" kern="1200" dirty="0">
                          <a:solidFill>
                            <a:schemeClr val="lt1"/>
                          </a:solidFill>
                          <a:latin typeface="+mn-lt"/>
                          <a:ea typeface="华文楷体" panose="02010600040101010101" pitchFamily="2" charset="-122"/>
                          <a:cs typeface="+mn-cs"/>
                        </a:rPr>
                        <a:t>Wednesday</a:t>
                      </a:r>
                      <a:endParaRPr lang="zh-CN" altLang="en-US" sz="2000" b="0" kern="1200" dirty="0">
                        <a:solidFill>
                          <a:schemeClr val="lt1"/>
                        </a:solidFill>
                        <a:latin typeface="+mn-lt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/>
                        <a:t>星期四</a:t>
                      </a:r>
                      <a:r>
                        <a:rPr lang="en-US" altLang="zh-CN" sz="2000" b="0" kern="1200" dirty="0">
                          <a:solidFill>
                            <a:schemeClr val="lt1"/>
                          </a:solidFill>
                          <a:latin typeface="+mn-lt"/>
                          <a:ea typeface="华文楷体" panose="02010600040101010101" pitchFamily="2" charset="-122"/>
                          <a:cs typeface="+mn-cs"/>
                        </a:rPr>
                        <a:t>Thursday</a:t>
                      </a:r>
                      <a:endParaRPr lang="zh-CN" altLang="en-US" sz="2000" b="0" kern="1200" dirty="0">
                        <a:solidFill>
                          <a:schemeClr val="lt1"/>
                        </a:solidFill>
                        <a:latin typeface="+mn-lt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星期五</a:t>
                      </a:r>
                      <a:r>
                        <a:rPr lang="en-US" altLang="zh-CN" sz="2000" b="0" kern="1200" dirty="0">
                          <a:solidFill>
                            <a:schemeClr val="lt1"/>
                          </a:solidFill>
                          <a:latin typeface="+mn-lt"/>
                          <a:ea typeface="华文楷体" panose="02010600040101010101" pitchFamily="2" charset="-122"/>
                          <a:cs typeface="+mn-cs"/>
                        </a:rPr>
                        <a:t>Friday</a:t>
                      </a:r>
                      <a:endParaRPr lang="zh-CN" altLang="en-US" sz="2000" b="0" kern="1200" dirty="0">
                        <a:solidFill>
                          <a:schemeClr val="lt1"/>
                        </a:solidFill>
                        <a:latin typeface="+mn-lt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星期六</a:t>
                      </a:r>
                      <a:r>
                        <a:rPr lang="en-US" altLang="zh-CN" sz="2000" b="0" kern="1200" dirty="0">
                          <a:solidFill>
                            <a:schemeClr val="lt1"/>
                          </a:solidFill>
                          <a:latin typeface="+mn-lt"/>
                          <a:ea typeface="华文楷体" panose="02010600040101010101" pitchFamily="2" charset="-122"/>
                          <a:cs typeface="+mn-cs"/>
                        </a:rPr>
                        <a:t>Saturday</a:t>
                      </a:r>
                      <a:endParaRPr lang="zh-CN" altLang="en-US" sz="2000" b="0" kern="1200" dirty="0">
                        <a:solidFill>
                          <a:schemeClr val="lt1"/>
                        </a:solidFill>
                        <a:latin typeface="+mn-lt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/>
                        <a:t>星期日</a:t>
                      </a:r>
                      <a:r>
                        <a:rPr lang="en-US" altLang="zh-CN" sz="2000" b="0" kern="1200" dirty="0">
                          <a:solidFill>
                            <a:schemeClr val="lt1"/>
                          </a:solidFill>
                          <a:latin typeface="+mn-lt"/>
                          <a:ea typeface="华文楷体" panose="02010600040101010101" pitchFamily="2" charset="-122"/>
                          <a:cs typeface="+mn-cs"/>
                        </a:rPr>
                        <a:t>Sunday</a:t>
                      </a:r>
                      <a:endParaRPr lang="zh-CN" altLang="en-US" sz="2000" b="0" kern="1200" dirty="0">
                        <a:solidFill>
                          <a:schemeClr val="lt1"/>
                        </a:solidFill>
                        <a:latin typeface="+mn-lt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  <a:p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98378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" name="直接连接符 10"/>
          <p:cNvCxnSpPr/>
          <p:nvPr/>
        </p:nvCxnSpPr>
        <p:spPr bwMode="auto">
          <a:xfrm>
            <a:off x="349250" y="652463"/>
            <a:ext cx="3757613" cy="0"/>
          </a:xfrm>
          <a:prstGeom prst="line">
            <a:avLst/>
          </a:prstGeom>
          <a:ln w="69850" cmpd="thickThin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7275" y="1071563"/>
            <a:ext cx="1064101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2.</a:t>
            </a: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小组活动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Group Work</a:t>
            </a:r>
          </a:p>
        </p:txBody>
      </p:sp>
      <p:cxnSp>
        <p:nvCxnSpPr>
          <p:cNvPr id="15" name="直接连接符 14"/>
          <p:cNvCxnSpPr/>
          <p:nvPr/>
        </p:nvCxnSpPr>
        <p:spPr>
          <a:xfrm rot="16200000" flipH="1">
            <a:off x="-935037" y="4304030"/>
            <a:ext cx="2733675" cy="0"/>
          </a:xfrm>
          <a:prstGeom prst="line">
            <a:avLst/>
          </a:prstGeom>
          <a:ln w="38100"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rot="5400000">
            <a:off x="1089025" y="4130675"/>
            <a:ext cx="2732088" cy="1588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328613" y="6350"/>
            <a:ext cx="3778250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运用</a:t>
            </a: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Application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rgbClr val="D09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cxnSp>
        <p:nvCxnSpPr>
          <p:cNvPr id="26" name="直接连接符 25"/>
          <p:cNvCxnSpPr/>
          <p:nvPr/>
        </p:nvCxnSpPr>
        <p:spPr>
          <a:xfrm rot="16200000" flipH="1">
            <a:off x="10237788" y="4197350"/>
            <a:ext cx="2733675" cy="0"/>
          </a:xfrm>
          <a:prstGeom prst="line">
            <a:avLst/>
          </a:prstGeom>
          <a:ln w="38100"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rot="5400000">
            <a:off x="7399338" y="4129088"/>
            <a:ext cx="2732088" cy="1588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rot="5400000">
            <a:off x="6249194" y="4144169"/>
            <a:ext cx="2730500" cy="1588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rot="5400000">
            <a:off x="5124450" y="4140200"/>
            <a:ext cx="2732088" cy="1588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rot="5400000">
            <a:off x="3738563" y="4140200"/>
            <a:ext cx="2732088" cy="1588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rot="5400000">
            <a:off x="2527300" y="4130675"/>
            <a:ext cx="2732088" cy="1588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rot="5400000">
            <a:off x="-349250" y="4302443"/>
            <a:ext cx="2732088" cy="1588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rot="5400000">
            <a:off x="9037638" y="4130675"/>
            <a:ext cx="2732088" cy="1588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735013" y="5473700"/>
            <a:ext cx="10869613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7250" y="2924810"/>
            <a:ext cx="1825625" cy="7683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谢鹏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Xiè Pén</a:t>
            </a: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</a:rPr>
              <a:t>ɡ</a:t>
            </a: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 </a:t>
            </a:r>
            <a:endParaRPr lang="zh-CN" altLang="en-US" sz="2000" dirty="0">
              <a:solidFill>
                <a:srgbClr val="000000"/>
              </a:solidFill>
              <a:latin typeface="GB Pinyinok-D"/>
              <a:ea typeface="GB Pinyinok-D"/>
              <a:sym typeface="宋体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78088" y="2879725"/>
            <a:ext cx="1466850" cy="11382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去学校</a:t>
            </a:r>
            <a:endParaRPr lang="en-US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qù xuéxiào</a:t>
            </a:r>
            <a:endParaRPr lang="zh-CN" altLang="en-US" sz="2000" dirty="0">
              <a:solidFill>
                <a:srgbClr val="000000"/>
              </a:solidFill>
              <a:latin typeface="GB Pinyinok-D"/>
              <a:ea typeface="GB Pinyinok-D"/>
              <a:sym typeface="宋体" panose="02010600030101010101" pitchFamily="2" charset="-122"/>
            </a:endParaRPr>
          </a:p>
          <a:p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67763" y="2868613"/>
            <a:ext cx="1851025" cy="11398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去商店</a:t>
            </a:r>
            <a:endParaRPr lang="en-US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qù shān</a:t>
            </a: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</a:rPr>
              <a:t>ɡ</a:t>
            </a: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宋体" panose="02010600030101010101" pitchFamily="2" charset="-122"/>
              </a:rPr>
              <a:t>diàn </a:t>
            </a:r>
          </a:p>
          <a:p>
            <a:endParaRPr lang="zh-CN" altLang="en-US" sz="2400" dirty="0">
              <a:latin typeface="Arial" panose="020B0604020202020204" pitchFamily="3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31520" y="3635058"/>
            <a:ext cx="10869613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731838" y="4087813"/>
            <a:ext cx="10869613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735013" y="4554538"/>
            <a:ext cx="10869613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731838" y="5011738"/>
            <a:ext cx="10869613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954405" y="1612900"/>
            <a:ext cx="1524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xìnɡ mínɡ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430780" y="1645285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xīnɡ qī yī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781425" y="1635125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xīnɡ qī èr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080000" y="164528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xīnɡ qī sān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405880" y="1645285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xīnɡ qī sì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543165" y="1675765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xīnɡ qī wǔ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768080" y="1675765"/>
            <a:ext cx="1828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xīnɡ qī liù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0285095" y="1675765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xīnɡ qī rì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 Box 11"/>
          <p:cNvSpPr txBox="1"/>
          <p:nvPr/>
        </p:nvSpPr>
        <p:spPr>
          <a:xfrm>
            <a:off x="4035425" y="266700"/>
            <a:ext cx="4316413" cy="10779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 堂 活 动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排排队</a:t>
            </a:r>
          </a:p>
          <a:p>
            <a:pPr eaLnBrk="0" hangingPunct="0"/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692525" y="266700"/>
            <a:ext cx="4938713" cy="584200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9332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333" name="Text Box 9"/>
          <p:cNvSpPr txBox="1"/>
          <p:nvPr/>
        </p:nvSpPr>
        <p:spPr>
          <a:xfrm>
            <a:off x="561975" y="1069975"/>
            <a:ext cx="4819650" cy="1339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Char char="•"/>
            </a:pPr>
            <a:r>
              <a:rPr lang="zh-CN" altLang="en-US" b="1" dirty="0">
                <a:latin typeface="Arial" panose="020B0604020202020204" pitchFamily="34" charset="0"/>
              </a:rPr>
              <a:t>把词语卡片排列在可以搭配的动词后边。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285750" indent="-285750" eaLnBrk="0" hangingPunct="0">
              <a:lnSpc>
                <a:spcPct val="150000"/>
              </a:lnSpc>
              <a:buChar char="•"/>
            </a:pPr>
            <a:r>
              <a:rPr lang="zh-CN" altLang="en-US" b="1" dirty="0">
                <a:latin typeface="Arial" panose="020B0604020202020204" pitchFamily="34" charset="0"/>
              </a:rPr>
              <a:t>判读是否正确。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285750" indent="-285750" eaLnBrk="0" hangingPunct="0">
              <a:lnSpc>
                <a:spcPct val="150000"/>
              </a:lnSpc>
              <a:buChar char="•"/>
            </a:pPr>
            <a:r>
              <a:rPr lang="zh-CN" altLang="en-US" b="1" dirty="0">
                <a:latin typeface="Arial" panose="020B0604020202020204" pitchFamily="34" charset="0"/>
              </a:rPr>
              <a:t>用“我想</a:t>
            </a:r>
            <a:r>
              <a:rPr lang="en-US" altLang="zh-CN" b="1" dirty="0">
                <a:latin typeface="Arial" panose="020B0604020202020204" pitchFamily="34" charset="0"/>
              </a:rPr>
              <a:t>……</a:t>
            </a:r>
            <a:r>
              <a:rPr lang="zh-CN" altLang="en-US" b="1" dirty="0">
                <a:latin typeface="Arial" panose="020B0604020202020204" pitchFamily="34" charset="0"/>
              </a:rPr>
              <a:t>”说一个句子。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685088" y="3321050"/>
            <a:ext cx="901700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老师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39138" y="2846388"/>
            <a:ext cx="903288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汉语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7437438" y="2268538"/>
            <a:ext cx="901700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汉字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6791325" y="1895475"/>
            <a:ext cx="4479925" cy="4294188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9939338" y="4478338"/>
            <a:ext cx="901700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同学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8432800" y="3632200"/>
            <a:ext cx="1620838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中国朋友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9761538" y="3059113"/>
            <a:ext cx="126047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朋友家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9309100" y="5392738"/>
            <a:ext cx="903288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学校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9309100" y="2317750"/>
            <a:ext cx="126047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汉语书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7529513" y="4043363"/>
            <a:ext cx="903288" cy="520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杯子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8858250" y="4478338"/>
            <a:ext cx="903288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商店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6986588" y="3370263"/>
            <a:ext cx="544513" cy="5222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茶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7999413" y="5002213"/>
            <a:ext cx="1263650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中国菜</a:t>
            </a: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6985000" y="4608513"/>
            <a:ext cx="903288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米饭</a:t>
            </a:r>
          </a:p>
        </p:txBody>
      </p:sp>
      <p:sp>
        <p:nvSpPr>
          <p:cNvPr id="24" name="Text Box 3"/>
          <p:cNvSpPr txBox="1"/>
          <p:nvPr/>
        </p:nvSpPr>
        <p:spPr>
          <a:xfrm>
            <a:off x="3511550" y="2841625"/>
            <a:ext cx="2085975" cy="21605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3200" b="1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吃</a:t>
            </a:r>
            <a:r>
              <a:rPr lang="en-US" altLang="zh-CN" sz="3200" b="1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  </a:t>
            </a:r>
            <a:r>
              <a:rPr lang="zh-CN" altLang="en-US" sz="3200" b="1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喝</a:t>
            </a:r>
            <a:endParaRPr lang="en-US" altLang="zh-CN" sz="3200" b="1" dirty="0">
              <a:solidFill>
                <a:srgbClr val="660066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3200" b="1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买</a:t>
            </a:r>
            <a:r>
              <a:rPr lang="en-US" altLang="zh-CN" sz="3200" b="1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  </a:t>
            </a:r>
            <a:r>
              <a:rPr lang="zh-CN" altLang="en-US" sz="3200" b="1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去</a:t>
            </a:r>
            <a:endParaRPr lang="en-US" altLang="zh-CN" sz="3200" b="1" dirty="0">
              <a:solidFill>
                <a:srgbClr val="660066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3200" b="1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说</a:t>
            </a:r>
            <a:r>
              <a:rPr lang="en-US" altLang="zh-CN" sz="3200" b="1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  </a:t>
            </a:r>
            <a:r>
              <a:rPr lang="zh-CN" altLang="en-US" sz="3200" b="1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看</a:t>
            </a:r>
            <a:r>
              <a:rPr lang="en-US" altLang="zh-CN" sz="3200" b="1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  </a:t>
            </a:r>
            <a:r>
              <a:rPr lang="zh-CN" altLang="en-US" sz="3200" b="1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写</a:t>
            </a:r>
          </a:p>
        </p:txBody>
      </p:sp>
      <p:sp>
        <p:nvSpPr>
          <p:cNvPr id="25" name="圆角矩形 24"/>
          <p:cNvSpPr/>
          <p:nvPr/>
        </p:nvSpPr>
        <p:spPr>
          <a:xfrm>
            <a:off x="3175000" y="2647950"/>
            <a:ext cx="2420938" cy="2613025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9350" name="TextBox 25"/>
          <p:cNvSpPr txBox="1"/>
          <p:nvPr/>
        </p:nvSpPr>
        <p:spPr>
          <a:xfrm>
            <a:off x="809625" y="3632200"/>
            <a:ext cx="1825625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我想</a:t>
            </a:r>
            <a:r>
              <a:rPr lang="en-US" altLang="zh-CN" sz="32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……</a:t>
            </a:r>
            <a:endParaRPr lang="zh-CN" altLang="en-US" sz="3200" b="1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8330" y="3263900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xiǎnɡ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511550" y="2691130"/>
            <a:ext cx="609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chī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329430" y="2721610"/>
            <a:ext cx="914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hē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124835" y="3757295"/>
            <a:ext cx="609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mǎi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676775" y="3757295"/>
            <a:ext cx="5670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qù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396615" y="4886960"/>
            <a:ext cx="9594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shuō 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4186555" y="4917440"/>
            <a:ext cx="838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kàn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796155" y="4886960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xiě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7366000" y="192659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hàn zì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9345930" y="1957070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hàn yǔ shū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8242300" y="258826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hàn yǔ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6920230" y="3089910"/>
            <a:ext cx="609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chá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7600315" y="3028315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lǎo shī</a:t>
            </a:r>
            <a:r>
              <a:rPr lang="en-US" altLang="en-US"/>
              <a:t> 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9698355" y="2752090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pénɡ yǒu jiā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8505190" y="3395980"/>
            <a:ext cx="3048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 pénɡ yǒu</a:t>
            </a:r>
            <a:r>
              <a:rPr lang="en-US" altLang="en-US"/>
              <a:t> 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7520305" y="371348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bēi zǐ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6920230" y="4373245"/>
            <a:ext cx="1219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mǐ fàn</a:t>
            </a:r>
            <a:r>
              <a:rPr lang="en-US" altLang="en-US"/>
              <a:t> 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8707755" y="4204970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shānɡ diàn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0053955" y="4203700"/>
            <a:ext cx="1524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tónɡ xué 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7366000" y="5393055"/>
            <a:ext cx="2133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zhōnɡ ɡuó cài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9498330" y="5024755"/>
            <a:ext cx="1524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xué xiào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7267847c30225c175b5420d8a3d74587866c5e69"/>
  <p:tag name="ISPRING_RESOURCE_PATHS_HASH_2" val="353f5a4bc622fa9d3568d181a98bc625db23b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0003937007875,&quot;left&quot;:52.25,&quot;top&quot;:149.625,&quot;width&quot;:852.125039370078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0003937007875,&quot;left&quot;:52.25,&quot;top&quot;:149.625,&quot;width&quot;:852.125039370078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0003937007875,&quot;left&quot;:52.25,&quot;top&quot;:149.625,&quot;width&quot;:852.125039370078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0003937007875,&quot;left&quot;:52.25,&quot;top&quot;:149.625,&quot;width&quot;:852.125039370078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0003937007875,&quot;left&quot;:52.25,&quot;top&quot;:149.625,&quot;width&quot;:852.125039370078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0003937007875,&quot;left&quot;:52.25,&quot;top&quot;:149.625,&quot;width&quot;:852.125039370078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0003937007875,&quot;left&quot;:52.25,&quot;top&quot;:149.625,&quot;width&quot;:852.125039370078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0003937007875,&quot;left&quot;:52.25,&quot;top&quot;:149.625,&quot;width&quot;:852.125039370078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0003937007875,&quot;left&quot;:52.25,&quot;top&quot;:149.625,&quot;width&quot;:852.125039370078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0003937007875,&quot;left&quot;:52.25,&quot;top&quot;:149.625,&quot;width&quot;:852.125039370078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0003937007875,&quot;left&quot;:52.25,&quot;top&quot;:149.625,&quot;width&quot;:852.125039370078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0003937007875,&quot;left&quot;:52.25,&quot;top&quot;:149.625,&quot;width&quot;:852.125039370078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0003937007875,&quot;left&quot;:52.25,&quot;top&quot;:149.625,&quot;width&quot;:852.125039370078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0003937007875,&quot;left&quot;:52.25,&quot;top&quot;:149.625,&quot;width&quot;:852.125039370078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0003937007875,&quot;left&quot;:52.25,&quot;top&quot;:149.625,&quot;width&quot;:852.125039370078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6.50003937007875,&quot;left&quot;:52.25,&quot;top&quot;:149.625,&quot;width&quot;:852.1250393700788}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2099</Words>
  <Application>Microsoft Office PowerPoint</Application>
  <PresentationFormat>宽屏</PresentationFormat>
  <Paragraphs>553</Paragraphs>
  <Slides>35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35</vt:i4>
      </vt:variant>
    </vt:vector>
  </HeadingPairs>
  <TitlesOfParts>
    <vt:vector size="55" baseType="lpstr">
      <vt:lpstr>GB Pinyinok-D</vt:lpstr>
      <vt:lpstr>SimSun-ExtB</vt:lpstr>
      <vt:lpstr>方正舒体</vt:lpstr>
      <vt:lpstr>华文楷体</vt:lpstr>
      <vt:lpstr>华文细黑</vt:lpstr>
      <vt:lpstr>华文新魏</vt:lpstr>
      <vt:lpstr>楷体</vt:lpstr>
      <vt:lpstr>楷体_GB2312</vt:lpstr>
      <vt:lpstr>宋体</vt:lpstr>
      <vt:lpstr>微软雅黑</vt:lpstr>
      <vt:lpstr>Arial</vt:lpstr>
      <vt:lpstr>Bradley Hand ITC</vt:lpstr>
      <vt:lpstr>Calibri</vt:lpstr>
      <vt:lpstr>Calibri Light</vt:lpstr>
      <vt:lpstr>默认设计模板</vt:lpstr>
      <vt:lpstr>自定义设计方案</vt:lpstr>
      <vt:lpstr>1_自定义设计方案</vt:lpstr>
      <vt:lpstr>2_自定义设计方案</vt:lpstr>
      <vt:lpstr>1_默认设计模板</vt:lpstr>
      <vt:lpstr>3_默认设计模板</vt:lpstr>
      <vt:lpstr>第 8 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dell</dc:creator>
  <cp:lastModifiedBy>lisa chen</cp:lastModifiedBy>
  <cp:revision>766</cp:revision>
  <dcterms:created xsi:type="dcterms:W3CDTF">2013-01-25T01:44:00Z</dcterms:created>
  <dcterms:modified xsi:type="dcterms:W3CDTF">2026-06-18T02:10:27Z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45A7E38437E24824A0391C9FA0C2AF35_12</vt:lpwstr>
  </property>
</Properties>
</file>